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285274224104792" /><Relationship Type="http://schemas.openxmlformats.org/officeDocument/2006/relationships/extended-properties" Target="/docProps/app.xml" Id="Rcc3ea657c46b47a3" /><Relationship Type="http://schemas.openxmlformats.org/officeDocument/2006/relationships/officeDocument" Target="/ppt/presentation.xml" Id="Rb4271df270fd442a" /></Relationships>
</file>

<file path=ppt/presentation.xml><?xml version="1.0" encoding="utf-8"?>
<p:presentation xmlns:p="http://schemas.openxmlformats.org/presentationml/2006/main">
  <p:sldMasterIdLst>
    <p:sldMasterId xmlns:r="http://schemas.openxmlformats.org/officeDocument/2006/relationships" id="2147483648" r:id="R5caebbe6905f465f"/>
  </p:sldMasterIdLst>
  <p:notesMasterIdLst>
    <p:notesMasterId xmlns:r="http://schemas.openxmlformats.org/officeDocument/2006/relationships" r:id="Rc0ef895af3274695"/>
  </p:notesMasterIdLst>
  <p:sldIdLst>
    <p:sldId xmlns:r="http://schemas.openxmlformats.org/officeDocument/2006/relationships" id="256" r:id="R203ca057c76b4b8b"/>
    <p:sldId xmlns:r="http://schemas.openxmlformats.org/officeDocument/2006/relationships" id="257" r:id="R724fa9445c2049df"/>
    <p:sldId xmlns:r="http://schemas.openxmlformats.org/officeDocument/2006/relationships" id="258" r:id="R7c7291bb8d154e0a"/>
    <p:sldId xmlns:r="http://schemas.openxmlformats.org/officeDocument/2006/relationships" id="259" r:id="Rddafde4ad8cc43b3"/>
    <p:sldId xmlns:r="http://schemas.openxmlformats.org/officeDocument/2006/relationships" id="260" r:id="R6d00f6455bcc4e24"/>
    <p:sldId xmlns:r="http://schemas.openxmlformats.org/officeDocument/2006/relationships" id="261" r:id="R881508f52dcc4411"/>
    <p:sldId xmlns:r="http://schemas.openxmlformats.org/officeDocument/2006/relationships" id="262" r:id="R6aca7335d9d64c75"/>
    <p:sldId xmlns:r="http://schemas.openxmlformats.org/officeDocument/2006/relationships" id="263" r:id="R77a8cc276ad9419d"/>
    <p:sldId xmlns:r="http://schemas.openxmlformats.org/officeDocument/2006/relationships" id="264" r:id="R40641b7db1694b75"/>
    <p:sldId xmlns:r="http://schemas.openxmlformats.org/officeDocument/2006/relationships" id="265" r:id="Rbb8992a22f81443d"/>
    <p:sldId xmlns:r="http://schemas.openxmlformats.org/officeDocument/2006/relationships" id="266" r:id="Rd127eaed7f244df6"/>
    <p:sldId xmlns:r="http://schemas.openxmlformats.org/officeDocument/2006/relationships" id="267" r:id="R0f51978a4ca94593"/>
    <p:sldId xmlns:r="http://schemas.openxmlformats.org/officeDocument/2006/relationships" id="268" r:id="R2d1faa2b70934809"/>
    <p:sldId xmlns:r="http://schemas.openxmlformats.org/officeDocument/2006/relationships" id="269" r:id="R1058290cc455430a"/>
    <p:sldId xmlns:r="http://schemas.openxmlformats.org/officeDocument/2006/relationships" id="270" r:id="Rf58384d444be4c9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54b84233ab947ef" /><Relationship Type="http://schemas.openxmlformats.org/officeDocument/2006/relationships/slideMaster" Target="/ppt/slideMasters/slideMaster1.xml" Id="R5caebbe6905f465f" /><Relationship Type="http://schemas.openxmlformats.org/officeDocument/2006/relationships/notesMaster" Target="/ppt/notesMasters/notesMaster1.xml" Id="Rc0ef895af3274695" /><Relationship Type="http://schemas.openxmlformats.org/officeDocument/2006/relationships/presProps" Target="/ppt/presProps.xml" Id="R5505bd8353ed44e6" /><Relationship Type="http://schemas.openxmlformats.org/officeDocument/2006/relationships/viewProps" Target="/ppt/viewProps.xml" Id="R0dade25a41214099" /><Relationship Type="http://schemas.openxmlformats.org/officeDocument/2006/relationships/tableStyles" Target="/ppt/tableStyles.xml" Id="Raeeb6b99a7474cd5" /><Relationship Type="http://schemas.openxmlformats.org/officeDocument/2006/relationships/slide" Target="/ppt/slides/slide1.xml" Id="R203ca057c76b4b8b" /><Relationship Type="http://schemas.openxmlformats.org/officeDocument/2006/relationships/slide" Target="/ppt/slides/slide2.xml" Id="R724fa9445c2049df" /><Relationship Type="http://schemas.openxmlformats.org/officeDocument/2006/relationships/slide" Target="/ppt/slides/slide3.xml" Id="R7c7291bb8d154e0a" /><Relationship Type="http://schemas.openxmlformats.org/officeDocument/2006/relationships/slide" Target="/ppt/slides/slide4.xml" Id="Rddafde4ad8cc43b3" /><Relationship Type="http://schemas.openxmlformats.org/officeDocument/2006/relationships/slide" Target="/ppt/slides/slide5.xml" Id="R6d00f6455bcc4e24" /><Relationship Type="http://schemas.openxmlformats.org/officeDocument/2006/relationships/slide" Target="/ppt/slides/slide6.xml" Id="R881508f52dcc4411" /><Relationship Type="http://schemas.openxmlformats.org/officeDocument/2006/relationships/slide" Target="/ppt/slides/slide7.xml" Id="R6aca7335d9d64c75" /><Relationship Type="http://schemas.openxmlformats.org/officeDocument/2006/relationships/slide" Target="/ppt/slides/slide8.xml" Id="R77a8cc276ad9419d" /><Relationship Type="http://schemas.openxmlformats.org/officeDocument/2006/relationships/slide" Target="/ppt/slides/slide9.xml" Id="R40641b7db1694b75" /><Relationship Type="http://schemas.openxmlformats.org/officeDocument/2006/relationships/slide" Target="/ppt/slides/slide10.xml" Id="Rbb8992a22f81443d" /><Relationship Type="http://schemas.openxmlformats.org/officeDocument/2006/relationships/slide" Target="/ppt/slides/slide11.xml" Id="Rd127eaed7f244df6" /><Relationship Type="http://schemas.openxmlformats.org/officeDocument/2006/relationships/slide" Target="/ppt/slides/slide12.xml" Id="R0f51978a4ca94593" /><Relationship Type="http://schemas.openxmlformats.org/officeDocument/2006/relationships/slide" Target="/ppt/slides/slide13.xml" Id="R2d1faa2b70934809" /><Relationship Type="http://schemas.openxmlformats.org/officeDocument/2006/relationships/slide" Target="/ppt/slides/slide14.xml" Id="R1058290cc455430a" /><Relationship Type="http://schemas.openxmlformats.org/officeDocument/2006/relationships/slide" Target="/ppt/slides/slide15.xml" Id="Rf58384d444be4c9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f18aa50627a453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ef882253e634cf8" /><Relationship Type="http://schemas.openxmlformats.org/officeDocument/2006/relationships/notesMaster" Target="/ppt/notesMasters/notesMaster1.xml" Id="R80c063ece8484544" /></Relationships>
</file>

<file path=ppt/notesSlides/_rels/notesSlide2.xml.rels>&#65279;<?xml version="1.0" encoding="utf-8"?><Relationships xmlns="http://schemas.openxmlformats.org/package/2006/relationships"><Relationship Type="http://schemas.openxmlformats.org/officeDocument/2006/relationships/slide" Target="/ppt/slides/slide2.xml" Id="Rf740faab13a7428c" /><Relationship Type="http://schemas.openxmlformats.org/officeDocument/2006/relationships/notesMaster" Target="/ppt/notesMasters/notesMaster1.xml" Id="R3da974e259124a21" /></Relationships>
</file>

<file path=ppt/notesSlides/_rels/notesSlide3.xml.rels>&#65279;<?xml version="1.0" encoding="utf-8"?><Relationships xmlns="http://schemas.openxmlformats.org/package/2006/relationships"><Relationship Type="http://schemas.openxmlformats.org/officeDocument/2006/relationships/slide" Target="/ppt/slides/slide3.xml" Id="R6af57dad399d4aa4" /><Relationship Type="http://schemas.openxmlformats.org/officeDocument/2006/relationships/notesMaster" Target="/ppt/notesMasters/notesMaster1.xml" Id="R215c337beac74f8e" /></Relationships>
</file>

<file path=ppt/notesSlides/_rels/notesSlide4.xml.rels>&#65279;<?xml version="1.0" encoding="utf-8"?><Relationships xmlns="http://schemas.openxmlformats.org/package/2006/relationships"><Relationship Type="http://schemas.openxmlformats.org/officeDocument/2006/relationships/slide" Target="/ppt/slides/slide4.xml" Id="Rae3a33d9724f448f" /><Relationship Type="http://schemas.openxmlformats.org/officeDocument/2006/relationships/notesMaster" Target="/ppt/notesMasters/notesMaster1.xml" Id="R2dbbcd1407ad4497" /></Relationships>
</file>

<file path=ppt/notesSlides/_rels/notesSlide5.xml.rels>&#65279;<?xml version="1.0" encoding="utf-8"?><Relationships xmlns="http://schemas.openxmlformats.org/package/2006/relationships"><Relationship Type="http://schemas.openxmlformats.org/officeDocument/2006/relationships/slide" Target="/ppt/slides/slide5.xml" Id="Rcd5305437f684c5f" /><Relationship Type="http://schemas.openxmlformats.org/officeDocument/2006/relationships/notesMaster" Target="/ppt/notesMasters/notesMaster1.xml" Id="R129b4b7f70944f97" /></Relationships>
</file>

<file path=ppt/notesSlides/_rels/notesSlide6.xml.rels>&#65279;<?xml version="1.0" encoding="utf-8"?><Relationships xmlns="http://schemas.openxmlformats.org/package/2006/relationships"><Relationship Type="http://schemas.openxmlformats.org/officeDocument/2006/relationships/slide" Target="/ppt/slides/slide6.xml" Id="R3d05d7ff341248d2" /><Relationship Type="http://schemas.openxmlformats.org/officeDocument/2006/relationships/notesMaster" Target="/ppt/notesMasters/notesMaster1.xml" Id="Rff0760a966924b3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cb0812f25e2489b" /><Relationship Type="http://schemas.openxmlformats.org/officeDocument/2006/relationships/notesMaster" Target="/ppt/notesMasters/notesMaster1.xml" Id="R95afb68fcc924ab0" /></Relationships>
</file>

<file path=ppt/notesSlides/_rels/notesSlide8.xml.rels>&#65279;<?xml version="1.0" encoding="utf-8"?><Relationships xmlns="http://schemas.openxmlformats.org/package/2006/relationships"><Relationship Type="http://schemas.openxmlformats.org/officeDocument/2006/relationships/slide" Target="/ppt/slides/slide8.xml" Id="R8f4186fe1f524d93" /><Relationship Type="http://schemas.openxmlformats.org/officeDocument/2006/relationships/notesMaster" Target="/ppt/notesMasters/notesMaster1.xml" Id="Rc25bf1f9c8544e72" /></Relationships>
</file>

<file path=ppt/notesSlides/_rels/notesSlide9.xml.rels>&#65279;<?xml version="1.0" encoding="utf-8"?><Relationships xmlns="http://schemas.openxmlformats.org/package/2006/relationships"><Relationship Type="http://schemas.openxmlformats.org/officeDocument/2006/relationships/slide" Target="/ppt/slides/slide9.xml" Id="R81c49a45181b4103" /><Relationship Type="http://schemas.openxmlformats.org/officeDocument/2006/relationships/notesMaster" Target="/ppt/notesMasters/notesMaster1.xml" Id="R7535fd6f6147406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8e3ab8b65564ce3" /><Relationship Type="http://schemas.openxmlformats.org/officeDocument/2006/relationships/notesMaster" Target="/ppt/notesMasters/notesMaster1.xml" Id="R4d346d804c59426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5f5eee8aeeb44f2" /><Relationship Type="http://schemas.openxmlformats.org/officeDocument/2006/relationships/notesMaster" Target="/ppt/notesMasters/notesMaster1.xml" Id="R49fadfbe6b1141a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3108511fdf44186" /><Relationship Type="http://schemas.openxmlformats.org/officeDocument/2006/relationships/notesMaster" Target="/ppt/notesMasters/notesMaster1.xml" Id="R251a9aff9882454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fd5ef82b4ae4aa3" /><Relationship Type="http://schemas.openxmlformats.org/officeDocument/2006/relationships/notesMaster" Target="/ppt/notesMasters/notesMaster1.xml" Id="R54b0243c84854cb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449ab6936a0402f" /><Relationship Type="http://schemas.openxmlformats.org/officeDocument/2006/relationships/notesMaster" Target="/ppt/notesMasters/notesMaster1.xml" Id="R554ebcc1f1494af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a207ef5ff6842ee" /><Relationship Type="http://schemas.openxmlformats.org/officeDocument/2006/relationships/notesMaster" Target="/ppt/notesMasters/notesMaster1.xml" Id="Rd86380565964423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daf20c2b6584a6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dd940ae416b4fd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8bfc8f78fdc418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a20bf803a8143f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a0dfefef20e4bd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1d7b7531e294bf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8230e6d240f41d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db2ecbd17334b2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d0df1dd6c17b463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8365ca9b57da40bd"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0374495239594c55"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CA3AC1C-F05F-4768-8AC4-FC9F7E22E487}"/>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85481642-CF33-4CD4-9795-E98F568B8B5E}"/>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2F28A692-B3CB-40FB-9E8F-8C6E85206D5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7/19/2026</a:t>
            </a:fld>
            <a:endParaRPr/>
          </a:p>
        </p:txBody>
      </p:sp>
      <p:sp>
        <p:nvSpPr>
          <p:cNvPr id="5" name="Footer Placeholder 4">
            <a:extLst xmlns:a="http://schemas.openxmlformats.org/drawingml/2006/main">
              <a:ext uri="{FF2B5EF4-FFF2-40B4-BE49-F238E27FC236}">
                <a16:creationId xmlns:a16="http://schemas.microsoft.com/office/drawing/2014/main" id="{2EC6A036-560E-404F-B67F-9978DBA7F65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D5B2FD8-7917-4D0E-ADAF-B22B87BF152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91842D6-B128-46C0-B262-75773DA570F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2C9664D-9E84-4428-80C8-CDBA79D68A44}"/>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2994C928-95C2-4F9A-9CC6-0AC429D0419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7/19/2026</a:t>
            </a:fld>
            <a:endParaRPr/>
          </a:p>
        </p:txBody>
      </p:sp>
      <p:sp>
        <p:nvSpPr>
          <p:cNvPr id="5" name="Footer Placeholder 4">
            <a:extLst xmlns:a="http://schemas.openxmlformats.org/drawingml/2006/main">
              <a:ext uri="{FF2B5EF4-FFF2-40B4-BE49-F238E27FC236}">
                <a16:creationId xmlns:a16="http://schemas.microsoft.com/office/drawing/2014/main" id="{300B4B8E-7D40-4384-8E9D-3A2FA48B91C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F3E44BF-BC99-4393-A673-4B4AB9CA47D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A64AB2A-9FD3-4C85-A007-927880B50C85}"/>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9403DEA-61AC-46BB-AD85-EF8EEA840C5E}"/>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211EACCF-33CA-4E2D-A559-E34AA34818D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7/19/2026</a:t>
            </a:fld>
            <a:endParaRPr/>
          </a:p>
        </p:txBody>
      </p:sp>
      <p:sp>
        <p:nvSpPr>
          <p:cNvPr id="5" name="Footer Placeholder 4">
            <a:extLst xmlns:a="http://schemas.openxmlformats.org/drawingml/2006/main">
              <a:ext uri="{FF2B5EF4-FFF2-40B4-BE49-F238E27FC236}">
                <a16:creationId xmlns:a16="http://schemas.microsoft.com/office/drawing/2014/main" id="{BBD4B859-55BC-4F9C-A122-E37F4D2359F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CCD7A14-25CE-480A-8DC3-563A470491B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45FEABB-D647-4DA5-B34A-AD9EB208D4E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9FB75C9A-D268-417F-8553-C53FFF748E3C}"/>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75289408-AFC4-402D-A3E9-0B53BF87E297}"/>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4D251497-14D1-4E9D-8773-EA5CB5E6766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7/19/2026</a:t>
            </a:fld>
            <a:endParaRPr/>
          </a:p>
        </p:txBody>
      </p:sp>
      <p:sp>
        <p:nvSpPr>
          <p:cNvPr id="6" name="Footer Placeholder 5">
            <a:extLst xmlns:a="http://schemas.openxmlformats.org/drawingml/2006/main">
              <a:ext uri="{FF2B5EF4-FFF2-40B4-BE49-F238E27FC236}">
                <a16:creationId xmlns:a16="http://schemas.microsoft.com/office/drawing/2014/main" id="{AFF9C9E9-281C-4055-B102-2C2559B7C8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7538406E-203C-4DD9-82F1-3446F3D4FBF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8338789-75E6-4EF7-9733-514078635D9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E0DCF3A7-C6A4-434F-B2DC-568AB40941E1}"/>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A8291109-BDC7-4384-86B3-752FF3EA795C}"/>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1AE0383E-2C35-455B-AC42-4B2B54A2F3F6}"/>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1F08B9AC-B928-45A3-B638-1C55AFEF318B}"/>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3ED404C7-02B5-4AAD-AD85-CD36C0EF480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7/19/2026</a:t>
            </a:fld>
            <a:endParaRPr/>
          </a:p>
        </p:txBody>
      </p:sp>
      <p:sp>
        <p:nvSpPr>
          <p:cNvPr id="8" name="Footer Placeholder 7">
            <a:extLst xmlns:a="http://schemas.openxmlformats.org/drawingml/2006/main">
              <a:ext uri="{FF2B5EF4-FFF2-40B4-BE49-F238E27FC236}">
                <a16:creationId xmlns:a16="http://schemas.microsoft.com/office/drawing/2014/main" id="{62CD5E19-57D0-46E7-9C35-889EC51F5CC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5B5D4783-037F-495D-9EA5-00B3D7CC746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C99400E-2946-44B7-8FC6-AD3C0D51C9B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13114BA9-2E11-4BD4-9573-F0ED36AC964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7/19/2026</a:t>
            </a:fld>
            <a:endParaRPr/>
          </a:p>
        </p:txBody>
      </p:sp>
      <p:sp>
        <p:nvSpPr>
          <p:cNvPr id="4" name="Footer Placeholder 3">
            <a:extLst xmlns:a="http://schemas.openxmlformats.org/drawingml/2006/main">
              <a:ext uri="{FF2B5EF4-FFF2-40B4-BE49-F238E27FC236}">
                <a16:creationId xmlns:a16="http://schemas.microsoft.com/office/drawing/2014/main" id="{32FFFA57-4525-4F3E-89F6-7E6283859C0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96D4E0DB-71FD-42DE-888B-4ED521256A5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B8642B00-4062-4A34-9F94-6A19840C342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7/19/2026</a:t>
            </a:fld>
            <a:endParaRPr/>
          </a:p>
        </p:txBody>
      </p:sp>
      <p:sp>
        <p:nvSpPr>
          <p:cNvPr id="3" name="Footer Placeholder 2">
            <a:extLst xmlns:a="http://schemas.openxmlformats.org/drawingml/2006/main">
              <a:ext uri="{FF2B5EF4-FFF2-40B4-BE49-F238E27FC236}">
                <a16:creationId xmlns:a16="http://schemas.microsoft.com/office/drawing/2014/main" id="{4C5ED984-6134-4441-9B96-A9553ECF466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16195E9B-F63F-4195-995E-BF79717ED76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8BC57C3-9542-4D97-9CA4-D1840C7F98F9}"/>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D49D7495-0C08-4E34-AE8F-CC596F86A6E2}"/>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6EBED7E9-7BA7-49B6-9992-049AF1315FE4}"/>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1C062785-1005-42DF-8C18-DF914575C51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7/19/2026</a:t>
            </a:fld>
            <a:endParaRPr/>
          </a:p>
        </p:txBody>
      </p:sp>
      <p:sp>
        <p:nvSpPr>
          <p:cNvPr id="6" name="Footer Placeholder 5">
            <a:extLst xmlns:a="http://schemas.openxmlformats.org/drawingml/2006/main">
              <a:ext uri="{FF2B5EF4-FFF2-40B4-BE49-F238E27FC236}">
                <a16:creationId xmlns:a16="http://schemas.microsoft.com/office/drawing/2014/main" id="{B7E32BAC-4475-4A47-A28F-3DBEE5493DA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6EB1CDF8-930A-4E86-8670-C949D143443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976CE60-CC43-40E6-BB30-CB17DA670E38}"/>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69629226-7E17-406B-8AFE-0DA00872CD33}"/>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A29BACF5-0028-4BE4-890D-4669E1539942}"/>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5B5AA40D-96DA-49E5-8F27-4BF7C4CBC46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7/19/2026</a:t>
            </a:fld>
            <a:endParaRPr/>
          </a:p>
        </p:txBody>
      </p:sp>
      <p:sp>
        <p:nvSpPr>
          <p:cNvPr id="6" name="Footer Placeholder 5">
            <a:extLst xmlns:a="http://schemas.openxmlformats.org/drawingml/2006/main">
              <a:ext uri="{FF2B5EF4-FFF2-40B4-BE49-F238E27FC236}">
                <a16:creationId xmlns:a16="http://schemas.microsoft.com/office/drawing/2014/main" id="{C85C7BF0-2079-4C62-BE2D-8AF47116588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B0CABF6-3B29-479F-9C02-F7E6BF9E2C2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831065B-3D48-4056-A692-6E6F125B074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91B23307-0B0E-4083-988C-6E206FC39723}"/>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1398A334-103A-4902-A199-B4D7060053F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7/19/2026</a:t>
            </a:fld>
            <a:endParaRPr/>
          </a:p>
        </p:txBody>
      </p:sp>
      <p:sp>
        <p:nvSpPr>
          <p:cNvPr id="5" name="Footer Placeholder 4">
            <a:extLst xmlns:a="http://schemas.openxmlformats.org/drawingml/2006/main">
              <a:ext uri="{FF2B5EF4-FFF2-40B4-BE49-F238E27FC236}">
                <a16:creationId xmlns:a16="http://schemas.microsoft.com/office/drawing/2014/main" id="{7530D195-9A29-450E-AC4F-FA677D2B9E3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03BF138-0997-4EDF-BFD5-C36926CD3CD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AB93686B-0AB3-40DC-9F62-12F69EFB5F7F}"/>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116917EE-F5A2-4D31-AA49-FAC8C5B07D95}"/>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7B1FA23C-3384-415E-8209-EE815C7D757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7/19/2026</a:t>
            </a:fld>
            <a:endParaRPr/>
          </a:p>
        </p:txBody>
      </p:sp>
      <p:sp>
        <p:nvSpPr>
          <p:cNvPr id="5" name="Footer Placeholder 4">
            <a:extLst xmlns:a="http://schemas.openxmlformats.org/drawingml/2006/main">
              <a:ext uri="{FF2B5EF4-FFF2-40B4-BE49-F238E27FC236}">
                <a16:creationId xmlns:a16="http://schemas.microsoft.com/office/drawing/2014/main" id="{8309142A-FC03-4A67-B0FC-7C8AD36D566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B07FCFF4-BF9A-42FA-82CA-CC90CF6304D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862ffe7cf57491a" /><Relationship Type="http://schemas.openxmlformats.org/officeDocument/2006/relationships/slideLayout" Target="/ppt/slideLayouts/slideLayout1.xml" Id="R46e67aaf747e4266" /><Relationship Type="http://schemas.openxmlformats.org/officeDocument/2006/relationships/slideLayout" Target="/ppt/slideLayouts/slideLayout2.xml" Id="Rc28ddcc05ec044c5" /><Relationship Type="http://schemas.openxmlformats.org/officeDocument/2006/relationships/slideLayout" Target="/ppt/slideLayouts/slideLayout3.xml" Id="R9718d65778334b28" /><Relationship Type="http://schemas.openxmlformats.org/officeDocument/2006/relationships/slideLayout" Target="/ppt/slideLayouts/slideLayout4.xml" Id="R774488edef2f40fe" /><Relationship Type="http://schemas.openxmlformats.org/officeDocument/2006/relationships/slideLayout" Target="/ppt/slideLayouts/slideLayout5.xml" Id="Rc2087975695741f7" /><Relationship Type="http://schemas.openxmlformats.org/officeDocument/2006/relationships/slideLayout" Target="/ppt/slideLayouts/slideLayout6.xml" Id="R6adb69c3245541a2" /><Relationship Type="http://schemas.openxmlformats.org/officeDocument/2006/relationships/slideLayout" Target="/ppt/slideLayouts/slideLayout7.xml" Id="R46f841cec6634502" /><Relationship Type="http://schemas.openxmlformats.org/officeDocument/2006/relationships/slideLayout" Target="/ppt/slideLayouts/slideLayout8.xml" Id="R9fb648d49011419c" /><Relationship Type="http://schemas.openxmlformats.org/officeDocument/2006/relationships/slideLayout" Target="/ppt/slideLayouts/slideLayout9.xml" Id="Re021f92a4c9e4652" /><Relationship Type="http://schemas.openxmlformats.org/officeDocument/2006/relationships/slideLayout" Target="/ppt/slideLayouts/slideLayout10.xml" Id="R2a4030a3d9704d5f" /><Relationship Type="http://schemas.openxmlformats.org/officeDocument/2006/relationships/slideLayout" Target="/ppt/slideLayouts/slideLayout11.xml" Id="R80935f972c62494f" /></Relationships>
</file>

<file path=ppt/slideMasters/slideMaster1.xml><?xml version="1.0" encoding="utf-8"?>
<p:sldMaster xmlns:p="http://schemas.openxmlformats.org/presentationml/2006/main">
  <p:cSld>
    <p:bg>
      <p:bgPr>
        <a:gradFill xmlns:a="http://schemas.openxmlformats.org/drawingml/2006/main" rotWithShape="1">
          <a:gsLst>
            <a:gs pos="100000">
              <a:schemeClr val="accent1">
                <a:lumMod val="60000"/>
                <a:lumOff val="40000"/>
              </a:schemeClr>
            </a:gs>
            <a:gs pos="37000">
              <a:schemeClr val="tx2">
                <a:lumMod val="60000"/>
                <a:lumOff val="40000"/>
              </a:schemeClr>
            </a:gs>
            <a:gs pos="21000">
              <a:schemeClr val="tx2">
                <a:lumMod val="40000"/>
                <a:lumOff val="60000"/>
              </a:schemeClr>
            </a:gs>
          </a:gsLst>
          <a:lin ang="16200000" scaled="1"/>
          <a:tileRect/>
        </a:gra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3096D1D0-4980-4D20-97CE-CE1F30988918}"/>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3E6B92EC-1808-462F-A9DA-AD94FE6DDD91}"/>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28AC3B94-7DA4-4210-9311-2B7B66B5734B}"/>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7/19/2026</a:t>
            </a:fld>
            <a:endParaRPr/>
          </a:p>
        </p:txBody>
      </p:sp>
      <p:sp>
        <p:nvSpPr>
          <p:cNvPr id="5" name="Footer Placeholder 4">
            <a:extLst xmlns:a="http://schemas.openxmlformats.org/drawingml/2006/main">
              <a:ext uri="{FF2B5EF4-FFF2-40B4-BE49-F238E27FC236}">
                <a16:creationId xmlns:a16="http://schemas.microsoft.com/office/drawing/2014/main" id="{D23025C1-F6A0-4AC4-8960-892D94D24486}"/>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E8A258D3-C705-44AE-A305-1F7D4F2BCE8B}"/>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e67aaf747e4266"/>
    <p:sldLayoutId xmlns:r="http://schemas.openxmlformats.org/officeDocument/2006/relationships" id="2147483650" r:id="Rc28ddcc05ec044c5"/>
    <p:sldLayoutId xmlns:r="http://schemas.openxmlformats.org/officeDocument/2006/relationships" id="2147483651" r:id="R9718d65778334b28"/>
    <p:sldLayoutId xmlns:r="http://schemas.openxmlformats.org/officeDocument/2006/relationships" id="2147483652" r:id="R774488edef2f40fe"/>
    <p:sldLayoutId xmlns:r="http://schemas.openxmlformats.org/officeDocument/2006/relationships" id="2147483653" r:id="Rc2087975695741f7"/>
    <p:sldLayoutId xmlns:r="http://schemas.openxmlformats.org/officeDocument/2006/relationships" id="2147483654" r:id="R6adb69c3245541a2"/>
    <p:sldLayoutId xmlns:r="http://schemas.openxmlformats.org/officeDocument/2006/relationships" id="2147483655" r:id="R46f841cec6634502"/>
    <p:sldLayoutId xmlns:r="http://schemas.openxmlformats.org/officeDocument/2006/relationships" id="2147483656" r:id="R9fb648d49011419c"/>
    <p:sldLayoutId xmlns:r="http://schemas.openxmlformats.org/officeDocument/2006/relationships" id="2147483657" r:id="Re021f92a4c9e4652"/>
    <p:sldLayoutId xmlns:r="http://schemas.openxmlformats.org/officeDocument/2006/relationships" id="2147483658" r:id="R2a4030a3d9704d5f"/>
    <p:sldLayoutId xmlns:r="http://schemas.openxmlformats.org/officeDocument/2006/relationships" id="2147483659" r:id="R80935f972c62494f"/>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9b55c3dc34964a7c" /><Relationship Type="http://schemas.openxmlformats.org/officeDocument/2006/relationships/image" Target="/ppt/media/image.png" Id="R46e66b725c3f4f7e" /><Relationship Type="http://schemas.openxmlformats.org/officeDocument/2006/relationships/notesSlide" Target="/ppt/notesSlides/notesSlide1.xml" Id="R5115b5f3bac54d34"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edabb446307c4ee9" /><Relationship Type="http://schemas.openxmlformats.org/officeDocument/2006/relationships/notesSlide" Target="/ppt/notesSlides/notesSlide2.xml" Id="R0a164d70528945ec"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822eae6c25c34a01" /><Relationship Type="http://schemas.openxmlformats.org/officeDocument/2006/relationships/notesSlide" Target="/ppt/notesSlides/notesSlide3.xml" Id="R66bc7dc74fdb4774"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5157cef67848477e" /><Relationship Type="http://schemas.openxmlformats.org/officeDocument/2006/relationships/notesSlide" Target="/ppt/notesSlides/notesSlide4.xml" Id="R517bf4953c354476"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c8858791580d4442" /><Relationship Type="http://schemas.openxmlformats.org/officeDocument/2006/relationships/image" Target="/ppt/media/image2.png" Id="R4565cad71d2d4a92" /><Relationship Type="http://schemas.openxmlformats.org/officeDocument/2006/relationships/image" Target="/ppt/media/image3.png" Id="R883e437376104841" /><Relationship Type="http://schemas.openxmlformats.org/officeDocument/2006/relationships/image" Target="/ppt/media/image4.png" Id="Ra1ffa1fcad274d22" /><Relationship Type="http://schemas.openxmlformats.org/officeDocument/2006/relationships/image" Target="/ppt/media/image5.png" Id="R21991ee0c56a4124" /><Relationship Type="http://schemas.openxmlformats.org/officeDocument/2006/relationships/image" Target="/ppt/media/image6.png" Id="Rc2aa5a39f51b44d5" /><Relationship Type="http://schemas.openxmlformats.org/officeDocument/2006/relationships/image" Target="/ppt/media/image7.png" Id="R7275e8a2ca924420" /><Relationship Type="http://schemas.openxmlformats.org/officeDocument/2006/relationships/image" Target="/ppt/media/image8.png" Id="Rd20b00779e7949ec" /><Relationship Type="http://schemas.openxmlformats.org/officeDocument/2006/relationships/image" Target="/ppt/media/image9.png" Id="Rcf9c50af89de4706" /><Relationship Type="http://schemas.openxmlformats.org/officeDocument/2006/relationships/image" Target="/ppt/media/image10.png" Id="R5bcba292c29748b2" /><Relationship Type="http://schemas.openxmlformats.org/officeDocument/2006/relationships/notesSlide" Target="/ppt/notesSlides/notesSlide5.xml" Id="R738087c037ea421a"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566fd408608048a6" /><Relationship Type="http://schemas.openxmlformats.org/officeDocument/2006/relationships/notesSlide" Target="/ppt/notesSlides/notesSlide6.xml" Id="R67b8dd2c75ee4b39"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9e3e50c8d06a4626" /><Relationship Type="http://schemas.openxmlformats.org/officeDocument/2006/relationships/image" Target="/ppt/media/image11.png" Id="R5424bd60a2ee42c3" /><Relationship Type="http://schemas.openxmlformats.org/officeDocument/2006/relationships/image" Target="/ppt/media/image12.png" Id="R1bfb3e4035ea4798" /><Relationship Type="http://schemas.openxmlformats.org/officeDocument/2006/relationships/image" Target="/ppt/media/image13.png" Id="Rec3220153ac64b23" /><Relationship Type="http://schemas.openxmlformats.org/officeDocument/2006/relationships/image" Target="/ppt/media/image14.png" Id="R33414978e23b4a8f" /><Relationship Type="http://schemas.openxmlformats.org/officeDocument/2006/relationships/notesSlide" Target="/ppt/notesSlides/notesSlide7.xml" Id="Red9e3d5ae8ca4b72"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29a6331328c04e06" /><Relationship Type="http://schemas.openxmlformats.org/officeDocument/2006/relationships/notesSlide" Target="/ppt/notesSlides/notesSlide8.xml" Id="R68b522f4bea9447e"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2bdb6dad3b614373" /><Relationship Type="http://schemas.openxmlformats.org/officeDocument/2006/relationships/notesSlide" Target="/ppt/notesSlides/notesSlide9.xml" Id="Re5837d6bb93247e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b44001c5206c4021" /><Relationship Type="http://schemas.openxmlformats.org/officeDocument/2006/relationships/image" Target="/ppt/media/image15.png" Id="R092e257d65f14442" /><Relationship Type="http://schemas.openxmlformats.org/officeDocument/2006/relationships/image" Target="/ppt/media/image16.png" Id="Rf6369dd090174d60" /><Relationship Type="http://schemas.openxmlformats.org/officeDocument/2006/relationships/image" Target="/ppt/media/image17.png" Id="R0a09c6ae2ada4a05" /><Relationship Type="http://schemas.openxmlformats.org/officeDocument/2006/relationships/image" Target="/ppt/media/image18.png" Id="R19b7bb38d0334f00" /><Relationship Type="http://schemas.openxmlformats.org/officeDocument/2006/relationships/image" Target="/ppt/media/image19.png" Id="R1270c2cdd0304889" /><Relationship Type="http://schemas.openxmlformats.org/officeDocument/2006/relationships/image" Target="/ppt/media/image20.png" Id="Ra6444e98bc424954" /><Relationship Type="http://schemas.openxmlformats.org/officeDocument/2006/relationships/image" Target="/ppt/media/image21.png" Id="R85009d4f8e1641e8" /><Relationship Type="http://schemas.openxmlformats.org/officeDocument/2006/relationships/image" Target="/ppt/media/image22.png" Id="R6c1de3b0eafa44c7" /><Relationship Type="http://schemas.openxmlformats.org/officeDocument/2006/relationships/image" Target="/ppt/media/image23.png" Id="R4c57d0e4f2734a31" /><Relationship Type="http://schemas.openxmlformats.org/officeDocument/2006/relationships/notesSlide" Target="/ppt/notesSlides/notesSlide10.xml" Id="Ra3c00bdcfe6c4db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423936de8a0c4737" /><Relationship Type="http://schemas.openxmlformats.org/officeDocument/2006/relationships/image" Target="/ppt/media/image15.png" Id="R3d546819eb634ab7" /><Relationship Type="http://schemas.openxmlformats.org/officeDocument/2006/relationships/image" Target="/ppt/media/image16.png" Id="Re65ba239d0e74e30" /><Relationship Type="http://schemas.openxmlformats.org/officeDocument/2006/relationships/image" Target="/ppt/media/image17.png" Id="Rdb862a716d0e4fc1" /><Relationship Type="http://schemas.openxmlformats.org/officeDocument/2006/relationships/image" Target="/ppt/media/image18.png" Id="R3e36011b649c4855" /><Relationship Type="http://schemas.openxmlformats.org/officeDocument/2006/relationships/image" Target="/ppt/media/image19.png" Id="R42bd51c3eb394036" /><Relationship Type="http://schemas.openxmlformats.org/officeDocument/2006/relationships/image" Target="/ppt/media/image20.png" Id="R3422586c89fe4527" /><Relationship Type="http://schemas.openxmlformats.org/officeDocument/2006/relationships/image" Target="/ppt/media/image21.png" Id="R34972c7c1c914b0d" /><Relationship Type="http://schemas.openxmlformats.org/officeDocument/2006/relationships/image" Target="/ppt/media/image22.png" Id="R6f04eab274f640ce" /><Relationship Type="http://schemas.openxmlformats.org/officeDocument/2006/relationships/image" Target="/ppt/media/image23.png" Id="Re446f423244d4b8d" /><Relationship Type="http://schemas.openxmlformats.org/officeDocument/2006/relationships/notesSlide" Target="/ppt/notesSlides/notesSlide11.xml" Id="Rf48eafa8aa6a414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a4536193b55c4b99" /><Relationship Type="http://schemas.openxmlformats.org/officeDocument/2006/relationships/image" Target="/ppt/media/image24.png" Id="R0986c2f5187d47d1" /><Relationship Type="http://schemas.openxmlformats.org/officeDocument/2006/relationships/image" Target="/ppt/media/image25.png" Id="R9b7c357bc45b4a1e" /><Relationship Type="http://schemas.openxmlformats.org/officeDocument/2006/relationships/notesSlide" Target="/ppt/notesSlides/notesSlide12.xml" Id="R2f960328cbaa494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9556624de7b94c54" /><Relationship Type="http://schemas.openxmlformats.org/officeDocument/2006/relationships/notesSlide" Target="/ppt/notesSlides/notesSlide13.xml" Id="R3522cc9d3ccd449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ea0bb9ee5ae44904" /><Relationship Type="http://schemas.openxmlformats.org/officeDocument/2006/relationships/image" Target="/ppt/media/image15.png" Id="Rc33b02988ad14923" /><Relationship Type="http://schemas.openxmlformats.org/officeDocument/2006/relationships/notesSlide" Target="/ppt/notesSlides/notesSlide14.xml" Id="R8c0c542925c54fc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8cc636a5c73a42b3" /><Relationship Type="http://schemas.openxmlformats.org/officeDocument/2006/relationships/notesSlide" Target="/ppt/notesSlides/notesSlide15.xml" Id="Rf47c01b16c9343c9"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1D473F4E-2382-4227-8AD5-7837F99EF0F7}"/>
              </a:ext>
            </a:extLst>
          </p:cNvPr>
          <p:cNvSpPr>
            <a:spLocks xmlns:a="http://schemas.openxmlformats.org/drawingml/2006/main" noGrp="1"/>
          </p:cNvSpPr>
          <p:nvPr/>
        </p:nvSpPr>
        <p:spPr>
          <a:xfrm xmlns:a="http://schemas.openxmlformats.org/drawingml/2006/main">
            <a:off x="3371849" y="4922166"/>
            <a:ext cx="5448300" cy="517449"/>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ctr">
              <a:lnSpc>
                <a:spcPts val="4320"/>
              </a:lnSpc>
              <a:buNone/>
            </a:pPr>
            <a:r>
              <a:rPr sz="2700">
                <a:solidFill>
                  <a:schemeClr val="tx1">
                    <a:lumMod val="95000"/>
                    <a:lumOff val="5000"/>
                  </a:schemeClr>
                </a:solidFill>
                <a:latin typeface="Heebo"/>
                <a:ea typeface="Heebo"/>
                <a:cs typeface="Heebo"/>
              </a:rPr>
              <a:t>מערכת מידע חכמה לניהול בעלי החיים</a:t>
            </a:r>
            <a:endParaRPr sz="2700" b="0" i="0" u="none">
              <a:solidFill>
                <a:schemeClr val="tx1">
                  <a:lumMod val="95000"/>
                  <a:lumOff val="5000"/>
                </a:schemeClr>
              </a:solidFill>
              <a:latin typeface="Heebo"/>
              <a:ea typeface="Heebo"/>
              <a:cs typeface="Heebo"/>
            </a:endParaRPr>
          </a:p>
        </p:txBody>
      </p:sp>
      <p:pic>
        <p:nvPicPr>
          <p:cNvPr id="8" name="תמונה 9"/>
          <p:cNvPicPr>
            <a:picLocks xmlns:a="http://schemas.openxmlformats.org/drawingml/2006/main" noChangeAspect="1"/>
          </p:cNvPicPr>
          <p:nvPr/>
        </p:nvPicPr>
        <p:blipFill>
          <a:blip xmlns:r="http://schemas.openxmlformats.org/officeDocument/2006/relationships" xmlns:a="http://schemas.openxmlformats.org/drawingml/2006/main" r:embed="R46e66b725c3f4f7e"/>
          <a:stretch xmlns:a="http://schemas.openxmlformats.org/drawingml/2006/main">
            <a:fillRect l="0" t="0" r="0" b="0"/>
          </a:stretch>
        </p:blipFill>
        <p:spPr>
          <a:xfrm xmlns:a="http://schemas.openxmlformats.org/drawingml/2006/main">
            <a:off x="4411657" y="1201631"/>
            <a:ext cx="3368685" cy="3979260"/>
          </a:xfrm>
          <a:prstGeom xmlns:a="http://schemas.openxmlformats.org/drawingml/2006/main" prst="rect">
            <a:avLst/>
          </a:prstGeom>
        </p:spPr>
      </p:pic>
    </p:spTree>
    <p:extLst>
      <p:ext uri="{BB962C8B-B14F-4D97-AF65-F5344CB8AC3E}">
        <p14:creationId xmlns:p14="http://schemas.microsoft.com/office/powerpoint/2010/main" val="167538512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8" name="TextBox 7">
            <a:extLst xmlns:a="http://schemas.openxmlformats.org/drawingml/2006/main">
              <a:ext uri="{FF2B5EF4-FFF2-40B4-BE49-F238E27FC236}">
                <a16:creationId xmlns:a16="http://schemas.microsoft.com/office/drawing/2014/main" id="{C8834FEE-C725-42BE-B2BB-6B7083E42A90}"/>
              </a:ext>
            </a:extLst>
          </p:cNvPr>
          <p:cNvSpPr>
            <a:spLocks xmlns:a="http://schemas.openxmlformats.org/drawingml/2006/main" noGrp="1"/>
          </p:cNvSpPr>
          <p:nvPr/>
        </p:nvSpPr>
        <p:spPr>
          <a:xfrm xmlns:a="http://schemas.openxmlformats.org/drawingml/2006/main">
            <a:off x="6179808" y="2443217"/>
            <a:ext cx="2668302" cy="307777"/>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ctr">
              <a:buNone/>
            </a:pPr>
            <a:r>
              <a:rPr sz="2000" b="1">
                <a:solidFill>
                  <a:schemeClr val="bg1"/>
                </a:solidFill>
                <a:latin typeface="Arial"/>
                <a:ea typeface="Arial"/>
                <a:cs typeface="Arial"/>
              </a:rPr>
              <a:t>הבנת דרישת המשתמשים</a:t>
            </a:r>
            <a:endParaRPr sz="2000" b="1">
              <a:solidFill>
                <a:schemeClr val="bg1"/>
              </a:solidFill>
              <a:latin typeface="Arial"/>
              <a:ea typeface="Arial"/>
              <a:cs typeface="Arial"/>
            </a:endParaRPr>
          </a:p>
        </p:txBody>
      </p:sp>
      <p:sp>
        <p:nvSpPr>
          <p:cNvPr id="7" name="Rectangle 6">
            <a:extLst xmlns:a="http://schemas.openxmlformats.org/drawingml/2006/main">
              <a:ext uri="{FF2B5EF4-FFF2-40B4-BE49-F238E27FC236}">
                <a16:creationId xmlns:a16="http://schemas.microsoft.com/office/drawing/2014/main" id="{0DC0E0C7-8C9E-4B84-B565-0577E7F62027}"/>
              </a:ext>
            </a:extLst>
          </p:cNvPr>
          <p:cNvSpPr>
            <a:spLocks xmlns:a="http://schemas.openxmlformats.org/drawingml/2006/main" noGrp="1"/>
          </p:cNvSpPr>
          <p:nvPr/>
        </p:nvSpPr>
        <p:spPr>
          <a:xfrm xmlns:a="http://schemas.openxmlformats.org/drawingml/2006/main">
            <a:off x="571500" y="4238625"/>
            <a:ext cx="11049000" cy="57150"/>
          </a:xfrm>
          <a:prstGeom xmlns:a="http://schemas.openxmlformats.org/drawingml/2006/main" prst="rect">
            <a:avLst/>
          </a:prstGeom>
          <a:solidFill xmlns:a="http://schemas.openxmlformats.org/drawingml/2006/main">
            <a:srgbClr val="E2E8F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marL="0" algn="ctr" defTabSz="457200">
              <a:buNone/>
            </a:pPr>
            <a:endParaRPr>
              <a:latin typeface="Arial"/>
              <a:ea typeface="Arial"/>
              <a:cs typeface="Arial"/>
            </a:endParaRPr>
          </a:p>
        </p:txBody>
      </p:sp>
      <p:sp>
        <p:nvSpPr>
          <p:cNvPr id="9" name="TextBox 8">
            <a:extLst xmlns:a="http://schemas.openxmlformats.org/drawingml/2006/main">
              <a:ext uri="{FF2B5EF4-FFF2-40B4-BE49-F238E27FC236}">
                <a16:creationId xmlns:a16="http://schemas.microsoft.com/office/drawing/2014/main" id="{D640E10F-7A17-4FAC-9473-FA5EB6AA9D39}"/>
              </a:ext>
            </a:extLst>
          </p:cNvPr>
          <p:cNvSpPr>
            <a:spLocks xmlns:a="http://schemas.openxmlformats.org/drawingml/2006/main" noGrp="1"/>
          </p:cNvSpPr>
          <p:nvPr/>
        </p:nvSpPr>
        <p:spPr>
          <a:xfrm xmlns:a="http://schemas.openxmlformats.org/drawingml/2006/main">
            <a:off x="6241602" y="2856527"/>
            <a:ext cx="2541240" cy="1461939"/>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ctr">
              <a:lnSpc>
                <a:spcPts val="1920"/>
              </a:lnSpc>
              <a:buNone/>
            </a:pPr>
            <a:r>
              <a:rPr sz="1600">
                <a:solidFill>
                  <a:schemeClr val="tx1">
                    <a:lumMod val="95000"/>
                    <a:lumOff val="5000"/>
                  </a:schemeClr>
                </a:solidFill>
                <a:latin typeface="Arial"/>
                <a:ea typeface="Arial"/>
                <a:cs typeface="Arial"/>
              </a:rPr>
              <a:t>נפגשנו עם וטרינר ואחות וטרינרית בבית החולים "חוות דעת" כדי להבין מקרוב את יום העבודה העמוס ושימוש במערכות המידע.</a:t>
            </a:r>
          </a:p>
          <a:p xmlns:a="http://schemas.openxmlformats.org/drawingml/2006/main">
            <a:pPr algn="ctr">
              <a:lnSpc>
                <a:spcPts val="1920"/>
              </a:lnSpc>
              <a:buNone/>
            </a:pPr>
            <a:endParaRPr sz="1600" b="0" i="0" u="none">
              <a:solidFill>
                <a:schemeClr val="tx1">
                  <a:lumMod val="95000"/>
                  <a:lumOff val="5000"/>
                </a:schemeClr>
              </a:solidFill>
              <a:latin typeface="Arial"/>
              <a:ea typeface="Arial"/>
              <a:cs typeface="Arial"/>
            </a:endParaRPr>
          </a:p>
        </p:txBody>
      </p:sp>
      <p:sp>
        <p:nvSpPr>
          <p:cNvPr id="10" name="TextBox 9">
            <a:extLst xmlns:a="http://schemas.openxmlformats.org/drawingml/2006/main">
              <a:ext uri="{FF2B5EF4-FFF2-40B4-BE49-F238E27FC236}">
                <a16:creationId xmlns:a16="http://schemas.microsoft.com/office/drawing/2014/main" id="{336DF76E-80C7-466E-8A94-899C9113D1AA}"/>
              </a:ext>
            </a:extLst>
          </p:cNvPr>
          <p:cNvSpPr>
            <a:spLocks xmlns:a="http://schemas.openxmlformats.org/drawingml/2006/main" noGrp="1"/>
          </p:cNvSpPr>
          <p:nvPr/>
        </p:nvSpPr>
        <p:spPr>
          <a:xfrm xmlns:a="http://schemas.openxmlformats.org/drawingml/2006/main">
            <a:off x="8901428" y="4473232"/>
            <a:ext cx="2668302" cy="307777"/>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ctr">
              <a:buNone/>
            </a:pPr>
            <a:r>
              <a:rPr sz="2000" b="1">
                <a:solidFill>
                  <a:srgbClr val="1E40AF"/>
                </a:solidFill>
                <a:latin typeface="Arial"/>
                <a:ea typeface="Arial"/>
                <a:cs typeface="Arial"/>
              </a:rPr>
              <a:t>זיהוי הבעיה</a:t>
            </a:r>
          </a:p>
        </p:txBody>
      </p:sp>
      <p:sp>
        <p:nvSpPr>
          <p:cNvPr id="11" name="TextBox 10">
            <a:extLst xmlns:a="http://schemas.openxmlformats.org/drawingml/2006/main">
              <a:ext uri="{FF2B5EF4-FFF2-40B4-BE49-F238E27FC236}">
                <a16:creationId xmlns:a16="http://schemas.microsoft.com/office/drawing/2014/main" id="{8C7ECF3C-CD6C-4E0A-900F-F9BA61061D97}"/>
              </a:ext>
            </a:extLst>
          </p:cNvPr>
          <p:cNvSpPr>
            <a:spLocks xmlns:a="http://schemas.openxmlformats.org/drawingml/2006/main" noGrp="1"/>
          </p:cNvSpPr>
          <p:nvPr/>
        </p:nvSpPr>
        <p:spPr>
          <a:xfrm xmlns:a="http://schemas.openxmlformats.org/drawingml/2006/main">
            <a:off x="8964959" y="4872741"/>
            <a:ext cx="2541240" cy="1218282"/>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ctr">
              <a:lnSpc>
                <a:spcPts val="1920"/>
              </a:lnSpc>
              <a:buNone/>
            </a:pPr>
            <a:r>
              <a:rPr sz="1600">
                <a:solidFill>
                  <a:schemeClr val="tx1">
                    <a:lumMod val="95000"/>
                    <a:lumOff val="5000"/>
                  </a:schemeClr>
                </a:solidFill>
                <a:latin typeface="Arial"/>
                <a:ea typeface="Arial"/>
                <a:cs typeface="Arial"/>
              </a:rPr>
              <a:t>שיחות עומק עם וטרינר פרטי חשפו את הכאב: תוכנות מפוצלות, עומס קוגניטיבי, וחוסר בסנכרון דיגיטלי מול הלקוח.</a:t>
            </a:r>
          </a:p>
          <a:p xmlns:a="http://schemas.openxmlformats.org/drawingml/2006/main">
            <a:pPr algn="ctr">
              <a:lnSpc>
                <a:spcPts val="1920"/>
              </a:lnSpc>
              <a:buNone/>
            </a:pPr>
            <a:endParaRPr sz="1600" b="0" i="0" u="none">
              <a:solidFill>
                <a:schemeClr val="tx1">
                  <a:lumMod val="95000"/>
                  <a:lumOff val="5000"/>
                </a:schemeClr>
              </a:solidFill>
              <a:latin typeface="Arial"/>
              <a:ea typeface="Arial"/>
              <a:cs typeface="Arial"/>
            </a:endParaRPr>
          </a:p>
        </p:txBody>
      </p:sp>
      <p:sp>
        <p:nvSpPr>
          <p:cNvPr id="12" name="TextBox 11">
            <a:extLst xmlns:a="http://schemas.openxmlformats.org/drawingml/2006/main">
              <a:ext uri="{FF2B5EF4-FFF2-40B4-BE49-F238E27FC236}">
                <a16:creationId xmlns:a16="http://schemas.microsoft.com/office/drawing/2014/main" id="{B5FB02D1-FC39-45E8-99E3-8D59E9A0D9BC}"/>
              </a:ext>
            </a:extLst>
          </p:cNvPr>
          <p:cNvSpPr>
            <a:spLocks xmlns:a="http://schemas.openxmlformats.org/drawingml/2006/main" noGrp="1"/>
          </p:cNvSpPr>
          <p:nvPr/>
        </p:nvSpPr>
        <p:spPr>
          <a:xfrm xmlns:a="http://schemas.openxmlformats.org/drawingml/2006/main">
            <a:off x="3343888" y="4600575"/>
            <a:ext cx="2668302" cy="307777"/>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ctr">
              <a:buNone/>
            </a:pPr>
            <a:r>
              <a:rPr sz="2000" b="1">
                <a:solidFill>
                  <a:srgbClr val="1E40AF"/>
                </a:solidFill>
                <a:latin typeface="Arial"/>
                <a:ea typeface="Arial"/>
                <a:cs typeface="Arial"/>
              </a:rPr>
              <a:t>אפיון ופיתוח</a:t>
            </a:r>
          </a:p>
        </p:txBody>
      </p:sp>
      <p:sp>
        <p:nvSpPr>
          <p:cNvPr id="13" name="TextBox 12">
            <a:extLst xmlns:a="http://schemas.openxmlformats.org/drawingml/2006/main">
              <a:ext uri="{FF2B5EF4-FFF2-40B4-BE49-F238E27FC236}">
                <a16:creationId xmlns:a16="http://schemas.microsoft.com/office/drawing/2014/main" id="{2F4B4318-1B02-4749-A6EA-245AE0E232EA}"/>
              </a:ext>
            </a:extLst>
          </p:cNvPr>
          <p:cNvSpPr>
            <a:spLocks xmlns:a="http://schemas.openxmlformats.org/drawingml/2006/main" noGrp="1"/>
          </p:cNvSpPr>
          <p:nvPr/>
        </p:nvSpPr>
        <p:spPr>
          <a:xfrm xmlns:a="http://schemas.openxmlformats.org/drawingml/2006/main">
            <a:off x="3407419" y="5048250"/>
            <a:ext cx="2541240" cy="1218282"/>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ctr">
              <a:lnSpc>
                <a:spcPts val="1920"/>
              </a:lnSpc>
              <a:buNone/>
            </a:pPr>
            <a:r>
              <a:rPr sz="1600">
                <a:solidFill>
                  <a:schemeClr val="tx1">
                    <a:lumMod val="95000"/>
                    <a:lumOff val="5000"/>
                  </a:schemeClr>
                </a:solidFill>
                <a:latin typeface="Arial"/>
                <a:ea typeface="Arial"/>
                <a:cs typeface="Arial"/>
              </a:rPr>
              <a:t>תרגמנו את הצרכים לארכיטקטורת תוכנה מודרנית: פורטל כפול (צוות ולקוח) העובד על הנתונים בזמן אמת.</a:t>
            </a:r>
          </a:p>
          <a:p xmlns:a="http://schemas.openxmlformats.org/drawingml/2006/main">
            <a:pPr algn="ctr">
              <a:lnSpc>
                <a:spcPts val="1920"/>
              </a:lnSpc>
              <a:buNone/>
            </a:pPr>
            <a:endParaRPr sz="1600" b="0" i="0" u="none">
              <a:solidFill>
                <a:schemeClr val="tx1">
                  <a:lumMod val="95000"/>
                  <a:lumOff val="5000"/>
                </a:schemeClr>
              </a:solidFill>
              <a:latin typeface="Arial"/>
              <a:ea typeface="Arial"/>
              <a:cs typeface="Arial"/>
            </a:endParaRPr>
          </a:p>
        </p:txBody>
      </p:sp>
      <p:sp>
        <p:nvSpPr>
          <p:cNvPr id="14" name="TextBox 13">
            <a:extLst xmlns:a="http://schemas.openxmlformats.org/drawingml/2006/main">
              <a:ext uri="{FF2B5EF4-FFF2-40B4-BE49-F238E27FC236}">
                <a16:creationId xmlns:a16="http://schemas.microsoft.com/office/drawing/2014/main" id="{8315F65C-7AC5-46D3-AE79-888CDD115F00}"/>
              </a:ext>
            </a:extLst>
          </p:cNvPr>
          <p:cNvSpPr>
            <a:spLocks xmlns:a="http://schemas.openxmlformats.org/drawingml/2006/main" noGrp="1"/>
          </p:cNvSpPr>
          <p:nvPr/>
        </p:nvSpPr>
        <p:spPr>
          <a:xfrm xmlns:a="http://schemas.openxmlformats.org/drawingml/2006/main">
            <a:off x="507968" y="2368153"/>
            <a:ext cx="2668302" cy="307777"/>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ctr">
              <a:buNone/>
            </a:pPr>
            <a:r>
              <a:rPr sz="2000" b="1">
                <a:solidFill>
                  <a:schemeClr val="bg1"/>
                </a:solidFill>
                <a:latin typeface="Arial"/>
                <a:ea typeface="Arial"/>
                <a:cs typeface="Arial"/>
              </a:rPr>
              <a:t>סגירת מעגל ומשוב</a:t>
            </a:r>
          </a:p>
        </p:txBody>
      </p:sp>
      <p:sp>
        <p:nvSpPr>
          <p:cNvPr id="15" name="TextBox 14">
            <a:extLst xmlns:a="http://schemas.openxmlformats.org/drawingml/2006/main">
              <a:ext uri="{FF2B5EF4-FFF2-40B4-BE49-F238E27FC236}">
                <a16:creationId xmlns:a16="http://schemas.microsoft.com/office/drawing/2014/main" id="{6701D683-BC4D-45E4-AEB2-674202F4DE65}"/>
              </a:ext>
            </a:extLst>
          </p:cNvPr>
          <p:cNvSpPr>
            <a:spLocks xmlns:a="http://schemas.openxmlformats.org/drawingml/2006/main" noGrp="1"/>
          </p:cNvSpPr>
          <p:nvPr/>
        </p:nvSpPr>
        <p:spPr>
          <a:xfrm xmlns:a="http://schemas.openxmlformats.org/drawingml/2006/main">
            <a:off x="571500" y="2815828"/>
            <a:ext cx="2541240" cy="974626"/>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ctr">
              <a:lnSpc>
                <a:spcPts val="1920"/>
              </a:lnSpc>
              <a:buNone/>
            </a:pPr>
            <a:r>
              <a:rPr sz="1600">
                <a:solidFill>
                  <a:schemeClr val="tx1">
                    <a:lumMod val="95000"/>
                    <a:lumOff val="5000"/>
                  </a:schemeClr>
                </a:solidFill>
                <a:latin typeface="Arial"/>
                <a:ea typeface="Arial"/>
                <a:cs typeface="Arial"/>
              </a:rPr>
              <a:t>לקראת סיום, הצגנו שוב </a:t>
            </a:r>
            <a:r>
              <a:rPr sz="1600">
                <a:solidFill>
                  <a:schemeClr val="tx1">
                    <a:lumMod val="95000"/>
                    <a:lumOff val="5000"/>
                  </a:schemeClr>
                </a:solidFill>
                <a:latin typeface="Arial"/>
                <a:ea typeface="Arial"/>
                <a:cs typeface="Arial"/>
              </a:rPr>
              <a:t>לוטרינר</a:t>
            </a:r>
            <a:r>
              <a:rPr sz="1600">
                <a:solidFill>
                  <a:schemeClr val="tx1">
                    <a:lumMod val="95000"/>
                    <a:lumOff val="5000"/>
                  </a:schemeClr>
                </a:solidFill>
                <a:latin typeface="Arial"/>
                <a:ea typeface="Arial"/>
                <a:cs typeface="Arial"/>
              </a:rPr>
              <a:t>, ההתרשמות הייתה מדהימה, וקיבלנו דגשים סופיים לחוויית המשתמש.</a:t>
            </a:r>
          </a:p>
        </p:txBody>
      </p:sp>
      <p:sp>
        <p:nvSpPr>
          <p:cNvPr id="16" name="TextBox 15">
            <a:extLst xmlns:a="http://schemas.openxmlformats.org/drawingml/2006/main">
              <a:ext uri="{FF2B5EF4-FFF2-40B4-BE49-F238E27FC236}">
                <a16:creationId xmlns:a16="http://schemas.microsoft.com/office/drawing/2014/main" id="{3AEBEEBC-4A4E-426C-8116-83752EFE2B48}"/>
              </a:ext>
            </a:extLst>
          </p:cNvPr>
          <p:cNvSpPr>
            <a:spLocks xmlns:a="http://schemas.openxmlformats.org/drawingml/2006/main" noGrp="1"/>
          </p:cNvSpPr>
          <p:nvPr/>
        </p:nvSpPr>
        <p:spPr>
          <a:xfrm xmlns:a="http://schemas.openxmlformats.org/drawingml/2006/main">
            <a:off x="19050" y="476250"/>
            <a:ext cx="11601450" cy="600164"/>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ctr">
              <a:buNone/>
            </a:pPr>
            <a:r>
              <a:rPr sz="3900" b="1">
                <a:solidFill>
                  <a:schemeClr val="bg1"/>
                </a:solidFill>
                <a:latin typeface="Arial"/>
                <a:ea typeface="Arial"/>
                <a:cs typeface="Arial"/>
              </a:rPr>
              <a:t>המסע שלנו: מהשטח אל הקוד</a:t>
            </a:r>
          </a:p>
        </p:txBody>
      </p:sp>
      <p:sp>
        <p:nvSpPr>
          <p:cNvPr id="2" name="משולש 1">
            <a:extLst xmlns:a="http://schemas.openxmlformats.org/drawingml/2006/main">
              <a:ext uri="{FF2B5EF4-FFF2-40B4-BE49-F238E27FC236}">
                <a16:creationId xmlns:a16="http://schemas.microsoft.com/office/drawing/2014/main" id="{D26C524B-2DAF-D32B-1AC3-B1F1713ACC24}"/>
              </a:ext>
            </a:extLst>
          </p:cNvPr>
          <p:cNvSpPr>
            <a:spLocks xmlns:a="http://schemas.openxmlformats.org/drawingml/2006/main" noGrp="1"/>
          </p:cNvSpPr>
          <p:nvPr/>
        </p:nvSpPr>
        <p:spPr>
          <a:xfrm xmlns:a="http://schemas.openxmlformats.org/drawingml/2006/main" rot="16200000">
            <a:off x="174934" y="3982933"/>
            <a:ext cx="584776" cy="520112"/>
          </a:xfrm>
          <a:prstGeom xmlns:a="http://schemas.openxmlformats.org/drawingml/2006/main" prst="triangle">
            <a:avLst/>
          </a:prstGeom>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marL="0" algn="ctr" defTabSz="457200">
              <a:buNone/>
            </a:pPr>
            <a:endParaRPr/>
          </a:p>
        </p:txBody>
      </p:sp>
      <p:sp>
        <p:nvSpPr>
          <p:cNvPr id="3" name="Rounded Rectangle 2">
            <a:extLst xmlns:a="http://schemas.openxmlformats.org/drawingml/2006/main">
              <a:ext uri="{FF2B5EF4-FFF2-40B4-BE49-F238E27FC236}">
                <a16:creationId xmlns:a16="http://schemas.microsoft.com/office/drawing/2014/main" id="{E0D5F60E-7EB7-4314-BF08-49358516E8D2}"/>
              </a:ext>
            </a:extLst>
          </p:cNvPr>
          <p:cNvSpPr>
            <a:spLocks xmlns:a="http://schemas.openxmlformats.org/drawingml/2006/main" noGrp="1"/>
          </p:cNvSpPr>
          <p:nvPr/>
        </p:nvSpPr>
        <p:spPr>
          <a:xfrm xmlns:a="http://schemas.openxmlformats.org/drawingml/2006/main">
            <a:off x="10235579" y="4152900"/>
            <a:ext cx="228600" cy="2286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47625">
            <a:solidFill>
              <a:srgbClr val="2563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Arial"/>
              <a:ea typeface="Arial"/>
              <a:cs typeface="Arial"/>
            </a:endParaRPr>
          </a:p>
        </p:txBody>
      </p:sp>
      <p:sp>
        <p:nvSpPr>
          <p:cNvPr id="4" name="Rounded Rectangle 3">
            <a:extLst xmlns:a="http://schemas.openxmlformats.org/drawingml/2006/main">
              <a:ext uri="{FF2B5EF4-FFF2-40B4-BE49-F238E27FC236}">
                <a16:creationId xmlns:a16="http://schemas.microsoft.com/office/drawing/2014/main" id="{02336E3A-163C-4D30-8087-89AF441EF516}"/>
              </a:ext>
            </a:extLst>
          </p:cNvPr>
          <p:cNvSpPr>
            <a:spLocks xmlns:a="http://schemas.openxmlformats.org/drawingml/2006/main" noGrp="1"/>
          </p:cNvSpPr>
          <p:nvPr/>
        </p:nvSpPr>
        <p:spPr>
          <a:xfrm xmlns:a="http://schemas.openxmlformats.org/drawingml/2006/main">
            <a:off x="7399659" y="4152900"/>
            <a:ext cx="228600" cy="2286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47625">
            <a:solidFill>
              <a:srgbClr val="2563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marL="0" algn="ctr" defTabSz="457200">
              <a:buNone/>
            </a:pPr>
            <a:endParaRPr>
              <a:latin typeface="Arial"/>
              <a:ea typeface="Arial"/>
              <a:cs typeface="Arial"/>
            </a:endParaRPr>
          </a:p>
        </p:txBody>
      </p:sp>
      <p:sp>
        <p:nvSpPr>
          <p:cNvPr id="5" name="Rounded Rectangle 4">
            <a:extLst xmlns:a="http://schemas.openxmlformats.org/drawingml/2006/main">
              <a:ext uri="{FF2B5EF4-FFF2-40B4-BE49-F238E27FC236}">
                <a16:creationId xmlns:a16="http://schemas.microsoft.com/office/drawing/2014/main" id="{048A85C8-4A27-4300-8BE5-FFA864A27064}"/>
              </a:ext>
            </a:extLst>
          </p:cNvPr>
          <p:cNvSpPr>
            <a:spLocks xmlns:a="http://schemas.openxmlformats.org/drawingml/2006/main" noGrp="1"/>
          </p:cNvSpPr>
          <p:nvPr/>
        </p:nvSpPr>
        <p:spPr>
          <a:xfrm xmlns:a="http://schemas.openxmlformats.org/drawingml/2006/main">
            <a:off x="4563740" y="4152900"/>
            <a:ext cx="228600" cy="2286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47625">
            <a:solidFill>
              <a:srgbClr val="2563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Arial"/>
              <a:ea typeface="Arial"/>
              <a:cs typeface="Arial"/>
            </a:endParaRPr>
          </a:p>
        </p:txBody>
      </p:sp>
      <p:sp>
        <p:nvSpPr>
          <p:cNvPr id="6" name="Rounded Rectangle 5">
            <a:extLst xmlns:a="http://schemas.openxmlformats.org/drawingml/2006/main">
              <a:ext uri="{FF2B5EF4-FFF2-40B4-BE49-F238E27FC236}">
                <a16:creationId xmlns:a16="http://schemas.microsoft.com/office/drawing/2014/main" id="{ADEE2050-C49F-47A4-8608-1BC1B07DD94F}"/>
              </a:ext>
            </a:extLst>
          </p:cNvPr>
          <p:cNvSpPr>
            <a:spLocks xmlns:a="http://schemas.openxmlformats.org/drawingml/2006/main" noGrp="1"/>
          </p:cNvSpPr>
          <p:nvPr/>
        </p:nvSpPr>
        <p:spPr>
          <a:xfrm xmlns:a="http://schemas.openxmlformats.org/drawingml/2006/main">
            <a:off x="1727820" y="4152900"/>
            <a:ext cx="228600" cy="2286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47625">
            <a:solidFill>
              <a:srgbClr val="2563EB"/>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marL="0" algn="ctr" defTabSz="457200">
              <a:buNone/>
            </a:pPr>
            <a:endParaRPr>
              <a:latin typeface="Arial"/>
              <a:ea typeface="Arial"/>
              <a:cs typeface="Arial"/>
            </a:endParaRPr>
          </a:p>
        </p:txBody>
      </p:sp>
    </p:spTree>
    <p:extLst>
      <p:ext uri="{BB962C8B-B14F-4D97-AF65-F5344CB8AC3E}">
        <p14:creationId xmlns:p14="http://schemas.microsoft.com/office/powerpoint/2010/main" val="39349810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6" name="TextBox 5">
            <a:extLst xmlns:a="http://schemas.openxmlformats.org/drawingml/2006/main">
              <a:ext uri="{FF2B5EF4-FFF2-40B4-BE49-F238E27FC236}">
                <a16:creationId xmlns:a16="http://schemas.microsoft.com/office/drawing/2014/main" id="{818161CF-8D06-4027-B409-8047BEF0BABA}"/>
              </a:ext>
            </a:extLst>
          </p:cNvPr>
          <p:cNvSpPr>
            <a:spLocks xmlns:a="http://schemas.openxmlformats.org/drawingml/2006/main" noGrp="1"/>
          </p:cNvSpPr>
          <p:nvPr/>
        </p:nvSpPr>
        <p:spPr>
          <a:xfrm xmlns:a="http://schemas.openxmlformats.org/drawingml/2006/main">
            <a:off x="3209241" y="1670872"/>
            <a:ext cx="6872654" cy="1514454"/>
          </a:xfrm>
          <a:prstGeom xmlns:a="http://schemas.openxmlformats.org/drawingml/2006/main" prst="rect">
            <a:avLst/>
          </a:prstGeom>
          <a:noFill xmlns:a="http://schemas.openxmlformats.org/drawingml/2006/main"/>
        </p:spPr>
        <p:txBody>
          <a:bodyPr xmlns:a="http://schemas.openxmlformats.org/drawingml/2006/main" wrap="square" lIns="66675" tIns="0" rIns="0" bIns="0" anchor="t">
            <a:spAutoFit/>
          </a:bodyPr>
          <a:lstStyle xmlns:a="http://schemas.openxmlformats.org/drawingml/2006/main"/>
          <a:p xmlns:a="http://schemas.openxmlformats.org/drawingml/2006/main">
            <a:pPr algn="r">
              <a:lnSpc>
                <a:spcPts val="2400"/>
              </a:lnSpc>
              <a:buNone/>
            </a:pPr>
            <a:r>
              <a:rPr b="1">
                <a:solidFill>
                  <a:srgbClr val="334155"/>
                </a:solidFill>
                <a:latin typeface="Arial"/>
                <a:ea typeface="Arial"/>
                <a:cs typeface="Arial"/>
              </a:rPr>
              <a:t>ClinicOnline</a:t>
            </a:r>
            <a:r>
              <a:rPr b="1">
                <a:solidFill>
                  <a:srgbClr val="334155"/>
                </a:solidFill>
                <a:latin typeface="Arial"/>
                <a:ea typeface="Arial"/>
                <a:cs typeface="Arial"/>
              </a:rPr>
              <a:t>:</a:t>
            </a:r>
            <a:endParaRPr>
              <a:solidFill>
                <a:srgbClr val="334155"/>
              </a:solidFill>
              <a:latin typeface="Arial"/>
              <a:ea typeface="Arial"/>
              <a:cs typeface="Arial"/>
            </a:endParaRPr>
          </a:p>
          <a:p xmlns:a="http://schemas.openxmlformats.org/drawingml/2006/main">
            <a:pPr algn="r">
              <a:lnSpc>
                <a:spcPts val="2400"/>
              </a:lnSpc>
              <a:buNone/>
            </a:pPr>
            <a:r>
              <a:rPr>
                <a:solidFill>
                  <a:srgbClr val="334155"/>
                </a:solidFill>
                <a:latin typeface="Arial"/>
                <a:ea typeface="Arial"/>
                <a:cs typeface="Arial"/>
              </a:rPr>
              <a:t>קליניק</a:t>
            </a:r>
            <a:r>
              <a:rPr>
                <a:solidFill>
                  <a:srgbClr val="334155"/>
                </a:solidFill>
                <a:latin typeface="Arial"/>
                <a:ea typeface="Arial"/>
                <a:cs typeface="Arial"/>
              </a:rPr>
              <a:t> אונליין היא המערכת הוותיקה והדומיננטית ביותר היום בשוק הישראלי, המספקת פתרון ענן בסיסי לניהול התיק הרפואי, יומן התורים ושליחת </a:t>
            </a:r>
            <a:r>
              <a:rPr>
                <a:solidFill>
                  <a:srgbClr val="334155"/>
                </a:solidFill>
                <a:latin typeface="Arial"/>
                <a:ea typeface="Arial"/>
                <a:cs typeface="Arial"/>
              </a:rPr>
              <a:t>סמסים</a:t>
            </a:r>
            <a:r>
              <a:rPr>
                <a:solidFill>
                  <a:srgbClr val="334155"/>
                </a:solidFill>
                <a:latin typeface="Arial"/>
                <a:ea typeface="Arial"/>
                <a:cs typeface="Arial"/>
              </a:rPr>
              <a:t>. הבעיה המרכזית שלה היא שממשק המשתמש שלה נחשב למיושן ופסיבי, והיא אינה מספקת חווית לקוח דיגיטלית מתקדמת (כמו אזור אישי שקוף).</a:t>
            </a:r>
          </a:p>
        </p:txBody>
      </p:sp>
      <p:sp>
        <p:nvSpPr>
          <p:cNvPr id="8" name="TextBox 7">
            <a:extLst xmlns:a="http://schemas.openxmlformats.org/drawingml/2006/main">
              <a:ext uri="{FF2B5EF4-FFF2-40B4-BE49-F238E27FC236}">
                <a16:creationId xmlns:a16="http://schemas.microsoft.com/office/drawing/2014/main" id="{420B3CB4-CC75-4920-BA68-77399838DC5B}"/>
              </a:ext>
            </a:extLst>
          </p:cNvPr>
          <p:cNvSpPr>
            <a:spLocks xmlns:a="http://schemas.openxmlformats.org/drawingml/2006/main" noGrp="1"/>
          </p:cNvSpPr>
          <p:nvPr/>
        </p:nvSpPr>
        <p:spPr>
          <a:xfrm xmlns:a="http://schemas.openxmlformats.org/drawingml/2006/main">
            <a:off x="3877457" y="3776040"/>
            <a:ext cx="6204438" cy="1822230"/>
          </a:xfrm>
          <a:prstGeom xmlns:a="http://schemas.openxmlformats.org/drawingml/2006/main" prst="rect">
            <a:avLst/>
          </a:prstGeom>
          <a:noFill xmlns:a="http://schemas.openxmlformats.org/drawingml/2006/main"/>
        </p:spPr>
        <p:txBody>
          <a:bodyPr xmlns:a="http://schemas.openxmlformats.org/drawingml/2006/main" wrap="square" lIns="66675" tIns="0" rIns="0" bIns="0" anchor="t">
            <a:spAutoFit/>
          </a:bodyPr>
          <a:lstStyle xmlns:a="http://schemas.openxmlformats.org/drawingml/2006/main"/>
          <a:p xmlns:a="http://schemas.openxmlformats.org/drawingml/2006/main">
            <a:pPr algn="r">
              <a:lnSpc>
                <a:spcPts val="2400"/>
              </a:lnSpc>
              <a:buNone/>
            </a:pPr>
            <a:r>
              <a:rPr b="1">
                <a:solidFill>
                  <a:srgbClr val="334155"/>
                </a:solidFill>
                <a:latin typeface="Arial"/>
                <a:ea typeface="Arial"/>
                <a:cs typeface="Arial"/>
              </a:rPr>
              <a:t>Provet</a:t>
            </a:r>
            <a:r>
              <a:rPr b="1">
                <a:solidFill>
                  <a:srgbClr val="334155"/>
                </a:solidFill>
                <a:latin typeface="Arial"/>
                <a:ea typeface="Arial"/>
                <a:cs typeface="Arial"/>
              </a:rPr>
              <a:t> Cloud</a:t>
            </a:r>
            <a:r>
              <a:rPr b="1">
                <a:solidFill>
                  <a:srgbClr val="334155"/>
                </a:solidFill>
                <a:latin typeface="Arial"/>
                <a:ea typeface="Arial"/>
                <a:cs typeface="Arial"/>
              </a:rPr>
              <a:t>:</a:t>
            </a:r>
            <a:endParaRPr b="1">
              <a:solidFill>
                <a:srgbClr val="334155"/>
              </a:solidFill>
              <a:latin typeface="Arial"/>
              <a:ea typeface="Arial"/>
              <a:cs typeface="Arial"/>
            </a:endParaRPr>
          </a:p>
          <a:p xmlns:a="http://schemas.openxmlformats.org/drawingml/2006/main">
            <a:pPr algn="r">
              <a:lnSpc>
                <a:spcPts val="2400"/>
              </a:lnSpc>
              <a:buNone/>
            </a:pPr>
            <a:r>
              <a:rPr>
                <a:solidFill>
                  <a:srgbClr val="334155"/>
                </a:solidFill>
                <a:latin typeface="Arial"/>
                <a:ea typeface="Arial"/>
                <a:cs typeface="Arial"/>
              </a:rPr>
              <a:t>פרובט</a:t>
            </a:r>
            <a:r>
              <a:rPr>
                <a:solidFill>
                  <a:srgbClr val="334155"/>
                </a:solidFill>
                <a:latin typeface="Arial"/>
                <a:ea typeface="Arial"/>
                <a:cs typeface="Arial"/>
              </a:rPr>
              <a:t> </a:t>
            </a:r>
            <a:r>
              <a:rPr>
                <a:solidFill>
                  <a:srgbClr val="334155"/>
                </a:solidFill>
                <a:latin typeface="Arial"/>
                <a:ea typeface="Arial"/>
                <a:cs typeface="Arial"/>
              </a:rPr>
              <a:t>קלאוד</a:t>
            </a:r>
            <a:r>
              <a:rPr>
                <a:solidFill>
                  <a:srgbClr val="334155"/>
                </a:solidFill>
                <a:latin typeface="Arial"/>
                <a:ea typeface="Arial"/>
                <a:cs typeface="Arial"/>
              </a:rPr>
              <a:t> היא מערכת </a:t>
            </a:r>
            <a:r>
              <a:rPr>
                <a:solidFill>
                  <a:srgbClr val="334155"/>
                </a:solidFill>
                <a:latin typeface="Arial"/>
                <a:ea typeface="Arial"/>
                <a:cs typeface="Arial"/>
              </a:rPr>
              <a:t> SaaS </a:t>
            </a:r>
            <a:r>
              <a:rPr>
                <a:solidFill>
                  <a:srgbClr val="334155"/>
                </a:solidFill>
                <a:latin typeface="Arial"/>
                <a:ea typeface="Arial"/>
                <a:cs typeface="Arial"/>
              </a:rPr>
              <a:t>בינלאומית מודרנית, חזקה ועמוסה בפיצ'רים שנועדה לנהל בתי חולים וטרינריים גדולים ברחבי העולם. למרות שהיא מספקת פתרון מקיף ופורטל לקוחות, היא נחשבת למערכת כבדה, יקרה לרוב עבור מרפאה ישראלית ממוצעת, ואינה תומכת באופן טבעי בעבודה בעברית מימין לשמאל.</a:t>
            </a:r>
          </a:p>
        </p:txBody>
      </p:sp>
      <p:sp>
        <p:nvSpPr>
          <p:cNvPr id="14" name="TextBox 13">
            <a:extLst xmlns:a="http://schemas.openxmlformats.org/drawingml/2006/main">
              <a:ext uri="{FF2B5EF4-FFF2-40B4-BE49-F238E27FC236}">
                <a16:creationId xmlns:a16="http://schemas.microsoft.com/office/drawing/2014/main" id="{3FF19B37-6390-41E3-8BD9-FF3B964A9F8B}"/>
              </a:ext>
            </a:extLst>
          </p:cNvPr>
          <p:cNvSpPr>
            <a:spLocks xmlns:a="http://schemas.openxmlformats.org/drawingml/2006/main" noGrp="1"/>
          </p:cNvSpPr>
          <p:nvPr/>
        </p:nvSpPr>
        <p:spPr>
          <a:xfrm xmlns:a="http://schemas.openxmlformats.org/drawingml/2006/main">
            <a:off x="19050" y="476250"/>
            <a:ext cx="11601450" cy="600164"/>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ctr">
              <a:buNone/>
            </a:pPr>
            <a:r>
              <a:rPr sz="3900" b="1">
                <a:solidFill>
                  <a:schemeClr val="bg1"/>
                </a:solidFill>
                <a:latin typeface="Arial"/>
                <a:ea typeface="Arial"/>
                <a:cs typeface="Arial"/>
              </a:rPr>
              <a:t>המערכות המתחרות</a:t>
            </a:r>
          </a:p>
        </p:txBody>
      </p:sp>
    </p:spTree>
    <p:extLst>
      <p:ext uri="{BB962C8B-B14F-4D97-AF65-F5344CB8AC3E}">
        <p14:creationId xmlns:p14="http://schemas.microsoft.com/office/powerpoint/2010/main" val="208909264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5" name="TextBox 4">
            <a:extLst xmlns:a="http://schemas.openxmlformats.org/drawingml/2006/main">
              <a:ext uri="{FF2B5EF4-FFF2-40B4-BE49-F238E27FC236}">
                <a16:creationId xmlns:a16="http://schemas.microsoft.com/office/drawing/2014/main" id="{293ED1C7-EE19-42BF-8549-C4EBFA723602}"/>
              </a:ext>
            </a:extLst>
          </p:cNvPr>
          <p:cNvSpPr>
            <a:spLocks xmlns:a="http://schemas.openxmlformats.org/drawingml/2006/main" noGrp="1"/>
          </p:cNvSpPr>
          <p:nvPr/>
        </p:nvSpPr>
        <p:spPr>
          <a:xfrm xmlns:a="http://schemas.openxmlformats.org/drawingml/2006/main">
            <a:off x="6499384" y="2033588"/>
            <a:ext cx="4730591" cy="369332"/>
          </a:xfrm>
          <a:prstGeom xmlns:a="http://schemas.openxmlformats.org/drawingml/2006/main" prst="rect">
            <a:avLst/>
          </a:prstGeom>
          <a:noFill xmlns:a="http://schemas.openxmlformats.org/drawingml/2006/main"/>
        </p:spPr>
        <p:txBody>
          <a:bodyPr xmlns:a="http://schemas.openxmlformats.org/drawingml/2006/main" wrap="square" lIns="400050" tIns="0" rIns="0" bIns="0" anchor="t">
            <a:spAutoFit/>
          </a:bodyPr>
          <a:lstStyle xmlns:a="http://schemas.openxmlformats.org/drawingml/2006/main"/>
          <a:p xmlns:a="http://schemas.openxmlformats.org/drawingml/2006/main">
            <a:pPr algn="r">
              <a:buNone/>
            </a:pPr>
            <a:r>
              <a:rPr sz="2400" b="1">
                <a:solidFill>
                  <a:srgbClr val="1E40AF"/>
                </a:solidFill>
                <a:latin typeface="Arial"/>
                <a:ea typeface="Arial"/>
                <a:cs typeface="Arial"/>
              </a:rPr>
              <a:t>מערכות השוק היום</a:t>
            </a:r>
            <a:endParaRPr sz="1400">
              <a:solidFill>
                <a:srgbClr val="EF4444"/>
              </a:solidFill>
              <a:latin typeface="Arial"/>
              <a:ea typeface="Arial"/>
              <a:cs typeface="Arial"/>
            </a:endParaRPr>
          </a:p>
        </p:txBody>
      </p:sp>
      <p:sp>
        <p:nvSpPr>
          <p:cNvPr id="6" name="TextBox 5">
            <a:extLst xmlns:a="http://schemas.openxmlformats.org/drawingml/2006/main">
              <a:ext uri="{FF2B5EF4-FFF2-40B4-BE49-F238E27FC236}">
                <a16:creationId xmlns:a16="http://schemas.microsoft.com/office/drawing/2014/main" id="{27AB7C51-B722-4A71-BC8B-C98F10488BCB}"/>
              </a:ext>
            </a:extLst>
          </p:cNvPr>
          <p:cNvSpPr>
            <a:spLocks xmlns:a="http://schemas.openxmlformats.org/drawingml/2006/main" noGrp="1"/>
          </p:cNvSpPr>
          <p:nvPr/>
        </p:nvSpPr>
        <p:spPr>
          <a:xfrm xmlns:a="http://schemas.openxmlformats.org/drawingml/2006/main">
            <a:off x="6724650" y="2709862"/>
            <a:ext cx="4505325" cy="890115"/>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lnSpc>
                <a:spcPts val="2400"/>
              </a:lnSpc>
              <a:buNone/>
            </a:pPr>
            <a:r>
              <a:rPr sz="1500" b="1">
                <a:solidFill>
                  <a:srgbClr val="334155"/>
                </a:solidFill>
                <a:latin typeface="Arial"/>
                <a:ea typeface="Arial"/>
                <a:cs typeface="Arial"/>
              </a:rPr>
              <a:t>פיצול מערכות:</a:t>
            </a:r>
            <a:r>
              <a:rPr sz="1500">
                <a:solidFill>
                  <a:srgbClr val="334155"/>
                </a:solidFill>
                <a:latin typeface="Arial"/>
                <a:ea typeface="Arial"/>
                <a:cs typeface="Arial"/>
              </a:rPr>
              <a:t> מרפאות בישראל ובעולם משתמשות לרוב בתוכנות שולחניות מיושנות. יומן התורים נפרד מהתיק הרפואי וממערכת החיובים.</a:t>
            </a:r>
          </a:p>
        </p:txBody>
      </p:sp>
      <p:sp>
        <p:nvSpPr>
          <p:cNvPr id="7" name="TextBox 6">
            <a:extLst xmlns:a="http://schemas.openxmlformats.org/drawingml/2006/main">
              <a:ext uri="{FF2B5EF4-FFF2-40B4-BE49-F238E27FC236}">
                <a16:creationId xmlns:a16="http://schemas.microsoft.com/office/drawing/2014/main" id="{9AA6EE7B-BD34-43B2-B5F6-F0A6CB4CBED9}"/>
              </a:ext>
            </a:extLst>
          </p:cNvPr>
          <p:cNvSpPr>
            <a:spLocks xmlns:a="http://schemas.openxmlformats.org/drawingml/2006/main" noGrp="1"/>
          </p:cNvSpPr>
          <p:nvPr/>
        </p:nvSpPr>
        <p:spPr>
          <a:xfrm xmlns:a="http://schemas.openxmlformats.org/drawingml/2006/main">
            <a:off x="6724650" y="3767137"/>
            <a:ext cx="4505325" cy="890115"/>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lnSpc>
                <a:spcPts val="2400"/>
              </a:lnSpc>
              <a:buNone/>
            </a:pPr>
            <a:r>
              <a:rPr sz="1500" b="1">
                <a:solidFill>
                  <a:srgbClr val="334155"/>
                </a:solidFill>
                <a:latin typeface="Arial"/>
                <a:ea typeface="Arial"/>
                <a:cs typeface="Arial"/>
              </a:rPr>
              <a:t>חווית לקוח חסרה:</a:t>
            </a:r>
            <a:r>
              <a:rPr sz="1500">
                <a:solidFill>
                  <a:srgbClr val="334155"/>
                </a:solidFill>
                <a:latin typeface="Arial"/>
                <a:ea typeface="Arial"/>
                <a:cs typeface="Arial"/>
              </a:rPr>
              <a:t> אין שקיפות ללקוח. כל קביעת תור, צפייה בבדיקת דם או קבלת מסמך דורשת שיחת טלפון או התכתבות ארוכה מול המזכירות.</a:t>
            </a:r>
          </a:p>
        </p:txBody>
      </p:sp>
      <p:sp>
        <p:nvSpPr>
          <p:cNvPr id="8" name="TextBox 7">
            <a:extLst xmlns:a="http://schemas.openxmlformats.org/drawingml/2006/main">
              <a:ext uri="{FF2B5EF4-FFF2-40B4-BE49-F238E27FC236}">
                <a16:creationId xmlns:a16="http://schemas.microsoft.com/office/drawing/2014/main" id="{B6FCE871-EC9A-4F66-A3A6-CEBB06FA81A7}"/>
              </a:ext>
            </a:extLst>
          </p:cNvPr>
          <p:cNvSpPr>
            <a:spLocks xmlns:a="http://schemas.openxmlformats.org/drawingml/2006/main" noGrp="1"/>
          </p:cNvSpPr>
          <p:nvPr/>
        </p:nvSpPr>
        <p:spPr>
          <a:xfrm xmlns:a="http://schemas.openxmlformats.org/drawingml/2006/main">
            <a:off x="6724650" y="4824412"/>
            <a:ext cx="4505325" cy="582339"/>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lnSpc>
                <a:spcPts val="2400"/>
              </a:lnSpc>
              <a:buNone/>
            </a:pPr>
            <a:r>
              <a:rPr sz="1500" b="1">
                <a:solidFill>
                  <a:srgbClr val="334155"/>
                </a:solidFill>
                <a:latin typeface="Arial"/>
                <a:ea typeface="Arial"/>
                <a:cs typeface="Arial"/>
              </a:rPr>
              <a:t>אין אינטגרציית </a:t>
            </a:r>
            <a:r>
              <a:rPr sz="1500" b="1">
                <a:solidFill>
                  <a:srgbClr val="334155"/>
                </a:solidFill>
                <a:latin typeface="Arial"/>
                <a:ea typeface="Arial"/>
                <a:cs typeface="Arial"/>
              </a:rPr>
              <a:t>AI</a:t>
            </a:r>
            <a:r>
              <a:rPr sz="1500" b="1">
                <a:solidFill>
                  <a:srgbClr val="334155"/>
                </a:solidFill>
                <a:latin typeface="Arial"/>
                <a:ea typeface="Arial"/>
                <a:cs typeface="Arial"/>
              </a:rPr>
              <a:t>: </a:t>
            </a:r>
            <a:r>
              <a:rPr sz="1500">
                <a:solidFill>
                  <a:srgbClr val="334155"/>
                </a:solidFill>
                <a:latin typeface="Arial"/>
                <a:ea typeface="Arial"/>
                <a:cs typeface="Arial"/>
              </a:rPr>
              <a:t>העומס נופל כולו על הווטרינר. אין מערכות חכמות המסייעות </a:t>
            </a:r>
            <a:r>
              <a:rPr sz="1500">
                <a:solidFill>
                  <a:srgbClr val="334155"/>
                </a:solidFill>
                <a:latin typeface="Arial"/>
                <a:ea typeface="Arial"/>
                <a:cs typeface="Arial"/>
              </a:rPr>
              <a:t>בתעדוף</a:t>
            </a:r>
            <a:r>
              <a:rPr sz="1500">
                <a:solidFill>
                  <a:srgbClr val="334155"/>
                </a:solidFill>
                <a:latin typeface="Arial"/>
                <a:ea typeface="Arial"/>
                <a:cs typeface="Arial"/>
              </a:rPr>
              <a:t> או בניתוח נתונים אוטומטי.</a:t>
            </a:r>
          </a:p>
        </p:txBody>
      </p:sp>
      <p:sp>
        <p:nvSpPr>
          <p:cNvPr id="9" name="TextBox 8">
            <a:extLst xmlns:a="http://schemas.openxmlformats.org/drawingml/2006/main">
              <a:ext uri="{FF2B5EF4-FFF2-40B4-BE49-F238E27FC236}">
                <a16:creationId xmlns:a16="http://schemas.microsoft.com/office/drawing/2014/main" id="{12729661-A549-483B-BF09-FADB19CBD995}"/>
              </a:ext>
            </a:extLst>
          </p:cNvPr>
          <p:cNvSpPr>
            <a:spLocks xmlns:a="http://schemas.openxmlformats.org/drawingml/2006/main" noGrp="1"/>
          </p:cNvSpPr>
          <p:nvPr/>
        </p:nvSpPr>
        <p:spPr>
          <a:xfrm xmlns:a="http://schemas.openxmlformats.org/drawingml/2006/main">
            <a:off x="736759" y="2037962"/>
            <a:ext cx="4730591" cy="369332"/>
          </a:xfrm>
          <a:prstGeom xmlns:a="http://schemas.openxmlformats.org/drawingml/2006/main" prst="rect">
            <a:avLst/>
          </a:prstGeom>
          <a:noFill xmlns:a="http://schemas.openxmlformats.org/drawingml/2006/main"/>
        </p:spPr>
        <p:txBody>
          <a:bodyPr xmlns:a="http://schemas.openxmlformats.org/drawingml/2006/main" wrap="square" lIns="361950" tIns="0" rIns="0" bIns="0" anchor="t">
            <a:spAutoFit/>
          </a:bodyPr>
          <a:lstStyle xmlns:a="http://schemas.openxmlformats.org/drawingml/2006/main"/>
          <a:p xmlns:a="http://schemas.openxmlformats.org/drawingml/2006/main">
            <a:pPr algn="r">
              <a:buNone/>
            </a:pPr>
            <a:r>
              <a:rPr sz="2400" b="1">
                <a:solidFill>
                  <a:srgbClr val="1E40AF"/>
                </a:solidFill>
                <a:latin typeface="Arial"/>
                <a:ea typeface="Arial"/>
                <a:cs typeface="Arial"/>
              </a:rPr>
              <a:t>היתרון התחרותי של </a:t>
            </a:r>
            <a:r>
              <a:rPr sz="2400" b="1">
                <a:solidFill>
                  <a:srgbClr val="1E40AF"/>
                </a:solidFill>
                <a:latin typeface="Arial"/>
                <a:ea typeface="Arial"/>
                <a:cs typeface="Arial"/>
              </a:rPr>
              <a:t>Myvet</a:t>
            </a:r>
            <a:endParaRPr sz="1400">
              <a:solidFill>
                <a:srgbClr val="10B981"/>
              </a:solidFill>
              <a:latin typeface="Arial"/>
              <a:ea typeface="Arial"/>
              <a:cs typeface="Arial"/>
            </a:endParaRPr>
          </a:p>
        </p:txBody>
      </p:sp>
      <p:sp>
        <p:nvSpPr>
          <p:cNvPr id="10" name="TextBox 9">
            <a:extLst xmlns:a="http://schemas.openxmlformats.org/drawingml/2006/main">
              <a:ext uri="{FF2B5EF4-FFF2-40B4-BE49-F238E27FC236}">
                <a16:creationId xmlns:a16="http://schemas.microsoft.com/office/drawing/2014/main" id="{CEE28B55-2D11-42B3-9242-6EDB52D913D7}"/>
              </a:ext>
            </a:extLst>
          </p:cNvPr>
          <p:cNvSpPr>
            <a:spLocks xmlns:a="http://schemas.openxmlformats.org/drawingml/2006/main" noGrp="1"/>
          </p:cNvSpPr>
          <p:nvPr/>
        </p:nvSpPr>
        <p:spPr>
          <a:xfrm xmlns:a="http://schemas.openxmlformats.org/drawingml/2006/main">
            <a:off x="962025" y="2709862"/>
            <a:ext cx="4505325" cy="92333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lnSpc>
                <a:spcPts val="2400"/>
              </a:lnSpc>
              <a:buNone/>
            </a:pPr>
            <a:r>
              <a:rPr sz="1500" b="1">
                <a:solidFill>
                  <a:srgbClr val="334155"/>
                </a:solidFill>
                <a:latin typeface="Arial"/>
                <a:ea typeface="Arial"/>
                <a:cs typeface="Arial"/>
              </a:rPr>
              <a:t>ממשק משתמש מודרני</a:t>
            </a:r>
            <a:r>
              <a:rPr sz="1500" b="1">
                <a:solidFill>
                  <a:srgbClr val="334155"/>
                </a:solidFill>
                <a:latin typeface="Arial"/>
                <a:ea typeface="Arial"/>
                <a:cs typeface="Arial"/>
              </a:rPr>
              <a:t>:</a:t>
            </a:r>
            <a:r>
              <a:rPr sz="1500">
                <a:solidFill>
                  <a:srgbClr val="334155"/>
                </a:solidFill>
                <a:latin typeface="Arial"/>
                <a:ea typeface="Arial"/>
                <a:cs typeface="Arial"/>
              </a:rPr>
              <a:t> ממשק משתמש העונה על צרכי הצוות הרפואי ומאפשר תפעול אינטואיטיבי וחווית משתמש קלה ונוחה לשימוש.</a:t>
            </a:r>
          </a:p>
        </p:txBody>
      </p:sp>
      <p:sp>
        <p:nvSpPr>
          <p:cNvPr id="11" name="TextBox 10">
            <a:extLst xmlns:a="http://schemas.openxmlformats.org/drawingml/2006/main">
              <a:ext uri="{FF2B5EF4-FFF2-40B4-BE49-F238E27FC236}">
                <a16:creationId xmlns:a16="http://schemas.microsoft.com/office/drawing/2014/main" id="{68D856E5-9DC2-434F-A434-F8B17AB1F795}"/>
              </a:ext>
            </a:extLst>
          </p:cNvPr>
          <p:cNvSpPr>
            <a:spLocks xmlns:a="http://schemas.openxmlformats.org/drawingml/2006/main" noGrp="1"/>
          </p:cNvSpPr>
          <p:nvPr/>
        </p:nvSpPr>
        <p:spPr>
          <a:xfrm xmlns:a="http://schemas.openxmlformats.org/drawingml/2006/main">
            <a:off x="962025" y="3767137"/>
            <a:ext cx="4505325" cy="890115"/>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lnSpc>
                <a:spcPts val="2400"/>
              </a:lnSpc>
              <a:buNone/>
            </a:pPr>
            <a:r>
              <a:rPr sz="1500" b="1">
                <a:solidFill>
                  <a:srgbClr val="334155"/>
                </a:solidFill>
                <a:latin typeface="Arial"/>
                <a:ea typeface="Arial"/>
                <a:cs typeface="Arial"/>
              </a:rPr>
              <a:t>חוויית </a:t>
            </a:r>
            <a:r>
              <a:rPr sz="1500" b="1">
                <a:solidFill>
                  <a:srgbClr val="334155"/>
                </a:solidFill>
                <a:latin typeface="Arial"/>
                <a:ea typeface="Arial"/>
                <a:cs typeface="Arial"/>
              </a:rPr>
              <a:t>Mobile-First</a:t>
            </a:r>
            <a:r>
              <a:rPr sz="1500" b="1">
                <a:solidFill>
                  <a:srgbClr val="334155"/>
                </a:solidFill>
                <a:latin typeface="Arial"/>
                <a:ea typeface="Arial"/>
                <a:cs typeface="Arial"/>
              </a:rPr>
              <a:t>:</a:t>
            </a:r>
            <a:r>
              <a:rPr sz="1500">
                <a:solidFill>
                  <a:srgbClr val="334155"/>
                </a:solidFill>
                <a:latin typeface="Arial"/>
                <a:ea typeface="Arial"/>
                <a:cs typeface="Arial"/>
              </a:rPr>
              <a:t> </a:t>
            </a:r>
            <a:r>
              <a:rPr sz="1500">
                <a:solidFill>
                  <a:srgbClr val="334155"/>
                </a:solidFill>
                <a:latin typeface="Arial"/>
                <a:ea typeface="Arial"/>
                <a:cs typeface="Arial"/>
              </a:rPr>
              <a:t>פ</a:t>
            </a:r>
            <a:r>
              <a:rPr sz="1500">
                <a:solidFill>
                  <a:srgbClr val="334155"/>
                </a:solidFill>
                <a:latin typeface="Arial"/>
                <a:ea typeface="Arial"/>
                <a:cs typeface="Arial"/>
              </a:rPr>
              <a:t>ורטל לקוחות מתקדם המאפשר שירות עצמי (</a:t>
            </a:r>
            <a:r>
              <a:rPr sz="1500">
                <a:solidFill>
                  <a:srgbClr val="334155"/>
                </a:solidFill>
                <a:latin typeface="Arial"/>
                <a:ea typeface="Arial"/>
                <a:cs typeface="Arial"/>
              </a:rPr>
              <a:t>Self-Service</a:t>
            </a:r>
            <a:r>
              <a:rPr sz="1500">
                <a:solidFill>
                  <a:srgbClr val="334155"/>
                </a:solidFill>
                <a:latin typeface="Arial"/>
                <a:ea typeface="Arial"/>
                <a:cs typeface="Arial"/>
              </a:rPr>
              <a:t>) וקביעת תורים באלגוריתם אטומי המונע כפילויות.</a:t>
            </a:r>
          </a:p>
        </p:txBody>
      </p:sp>
      <p:sp>
        <p:nvSpPr>
          <p:cNvPr id="12" name="TextBox 11">
            <a:extLst xmlns:a="http://schemas.openxmlformats.org/drawingml/2006/main">
              <a:ext uri="{FF2B5EF4-FFF2-40B4-BE49-F238E27FC236}">
                <a16:creationId xmlns:a16="http://schemas.microsoft.com/office/drawing/2014/main" id="{7B9D81A1-2E2B-4A87-9E5C-560116461805}"/>
              </a:ext>
            </a:extLst>
          </p:cNvPr>
          <p:cNvSpPr>
            <a:spLocks xmlns:a="http://schemas.openxmlformats.org/drawingml/2006/main" noGrp="1"/>
          </p:cNvSpPr>
          <p:nvPr/>
        </p:nvSpPr>
        <p:spPr>
          <a:xfrm xmlns:a="http://schemas.openxmlformats.org/drawingml/2006/main">
            <a:off x="962025" y="4824412"/>
            <a:ext cx="4505325" cy="1197892"/>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lnSpc>
                <a:spcPts val="2400"/>
              </a:lnSpc>
              <a:buNone/>
            </a:pPr>
            <a:r>
              <a:rPr sz="1500" b="1">
                <a:solidFill>
                  <a:srgbClr val="334155"/>
                </a:solidFill>
                <a:latin typeface="Arial"/>
                <a:ea typeface="Arial"/>
                <a:cs typeface="Arial"/>
              </a:rPr>
              <a:t>מובנה ואחראי </a:t>
            </a:r>
            <a:r>
              <a:rPr sz="1500" b="1">
                <a:solidFill>
                  <a:srgbClr val="334155"/>
                </a:solidFill>
                <a:latin typeface="Arial"/>
                <a:ea typeface="Arial"/>
                <a:cs typeface="Arial"/>
              </a:rPr>
              <a:t>AI</a:t>
            </a:r>
            <a:r>
              <a:rPr sz="1500" b="1">
                <a:solidFill>
                  <a:srgbClr val="334155"/>
                </a:solidFill>
                <a:latin typeface="Arial"/>
                <a:ea typeface="Arial"/>
                <a:cs typeface="Arial"/>
              </a:rPr>
              <a:t>:</a:t>
            </a:r>
            <a:r>
              <a:rPr sz="1500">
                <a:solidFill>
                  <a:srgbClr val="334155"/>
                </a:solidFill>
                <a:latin typeface="Arial"/>
                <a:ea typeface="Arial"/>
                <a:cs typeface="Arial"/>
              </a:rPr>
              <a:t>VetBot </a:t>
            </a:r>
            <a:r>
              <a:rPr sz="1500">
                <a:solidFill>
                  <a:srgbClr val="334155"/>
                </a:solidFill>
                <a:latin typeface="Arial"/>
                <a:ea typeface="Arial"/>
                <a:cs typeface="Arial"/>
              </a:rPr>
              <a:t>חוסך זמן לצוות על ידי ניווט טקסטואלי במערכת והכנת טיוטות, אך תמיד דורש</a:t>
            </a:r>
            <a:endParaRPr sz="1500">
              <a:solidFill>
                <a:srgbClr val="334155"/>
              </a:solidFill>
              <a:latin typeface="Arial"/>
              <a:ea typeface="Arial"/>
              <a:cs typeface="Arial"/>
            </a:endParaRPr>
          </a:p>
          <a:p xmlns:a="http://schemas.openxmlformats.org/drawingml/2006/main">
            <a:pPr algn="r">
              <a:lnSpc>
                <a:spcPts val="2400"/>
              </a:lnSpc>
              <a:buNone/>
            </a:pPr>
            <a:r>
              <a:rPr sz="1500">
                <a:solidFill>
                  <a:srgbClr val="334155"/>
                </a:solidFill>
                <a:latin typeface="Arial"/>
                <a:ea typeface="Arial"/>
                <a:cs typeface="Arial"/>
              </a:rPr>
              <a:t> </a:t>
            </a:r>
            <a:r>
              <a:rPr sz="1500">
                <a:solidFill>
                  <a:srgbClr val="334155"/>
                </a:solidFill>
                <a:latin typeface="Arial"/>
                <a:ea typeface="Arial"/>
                <a:cs typeface="Arial"/>
              </a:rPr>
              <a:t>Human-in-the-Loop</a:t>
            </a:r>
            <a:r>
              <a:rPr sz="1500">
                <a:solidFill>
                  <a:srgbClr val="334155"/>
                </a:solidFill>
                <a:latin typeface="Arial"/>
                <a:ea typeface="Arial"/>
                <a:cs typeface="Arial"/>
              </a:rPr>
              <a:t>.</a:t>
            </a:r>
            <a:endParaRPr sz="1500">
              <a:solidFill>
                <a:srgbClr val="334155"/>
              </a:solidFill>
              <a:latin typeface="Arial"/>
              <a:ea typeface="Arial"/>
              <a:cs typeface="Arial"/>
            </a:endParaRPr>
          </a:p>
          <a:p xmlns:a="http://schemas.openxmlformats.org/drawingml/2006/main">
            <a:pPr algn="r">
              <a:lnSpc>
                <a:spcPts val="2400"/>
              </a:lnSpc>
              <a:buNone/>
            </a:pPr>
            <a:endParaRPr sz="1500" b="0" i="0" u="none">
              <a:solidFill>
                <a:srgbClr val="334155"/>
              </a:solidFill>
              <a:latin typeface="Arial"/>
              <a:ea typeface="Arial"/>
              <a:cs typeface="Arial"/>
            </a:endParaRPr>
          </a:p>
        </p:txBody>
      </p:sp>
      <p:sp>
        <p:nvSpPr>
          <p:cNvPr id="15" name="TextBox 14">
            <a:extLst xmlns:a="http://schemas.openxmlformats.org/drawingml/2006/main">
              <a:ext uri="{FF2B5EF4-FFF2-40B4-BE49-F238E27FC236}">
                <a16:creationId xmlns:a16="http://schemas.microsoft.com/office/drawing/2014/main" id="{25972A35-DBFA-475A-90CE-FC7F00844611}"/>
              </a:ext>
            </a:extLst>
          </p:cNvPr>
          <p:cNvSpPr>
            <a:spLocks xmlns:a="http://schemas.openxmlformats.org/drawingml/2006/main" noGrp="1"/>
          </p:cNvSpPr>
          <p:nvPr/>
        </p:nvSpPr>
        <p:spPr>
          <a:xfrm xmlns:a="http://schemas.openxmlformats.org/drawingml/2006/main">
            <a:off x="19050" y="476250"/>
            <a:ext cx="11601450" cy="600164"/>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ctr">
              <a:buNone/>
            </a:pPr>
            <a:r>
              <a:rPr sz="3900" b="1">
                <a:solidFill>
                  <a:schemeClr val="bg1"/>
                </a:solidFill>
                <a:latin typeface="Arial"/>
                <a:ea typeface="Arial"/>
                <a:cs typeface="Arial"/>
              </a:rPr>
              <a:t>מצב השוק והפער הטכנולוגי</a:t>
            </a:r>
          </a:p>
        </p:txBody>
      </p:sp>
    </p:spTree>
    <p:extLst>
      <p:ext uri="{BB962C8B-B14F-4D97-AF65-F5344CB8AC3E}">
        <p14:creationId xmlns:p14="http://schemas.microsoft.com/office/powerpoint/2010/main" val="208364392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28" name="Picture 2"/>
          <p:cNvPicPr>
            <a:picLocks xmlns:a="http://schemas.openxmlformats.org/drawingml/2006/main" noChangeAspect="1"/>
          </p:cNvPicPr>
          <p:nvPr/>
        </p:nvPicPr>
        <p:blipFill>
          <a:blip xmlns:r="http://schemas.openxmlformats.org/officeDocument/2006/relationships" xmlns:a="http://schemas.openxmlformats.org/drawingml/2006/main" r:embed="R4565cad71d2d4a92">
            <a:duotone>
              <a:prstClr val="black"/>
              <a:schemeClr val="tx2">
                <a:tint val="45000"/>
                <a:satMod val="400000"/>
              </a:schemeClr>
            </a:duotone>
          </a:blip>
          <a:stretch xmlns:a="http://schemas.openxmlformats.org/drawingml/2006/main">
            <a:fillRect l="0" t="0" r="0" b="0"/>
          </a:stretch>
        </p:blipFill>
        <p:spPr>
          <a:xfrm xmlns:a="http://schemas.openxmlformats.org/drawingml/2006/main">
            <a:off x="8127950" y="2190750"/>
            <a:ext cx="3492549" cy="3676650"/>
          </a:xfrm>
          <a:prstGeom xmlns:a="http://schemas.openxmlformats.org/drawingml/2006/main" prst="rect">
            <a:avLst/>
          </a:prstGeom>
        </p:spPr>
      </p:pic>
      <p:pic>
        <p:nvPicPr>
          <p:cNvPr id="29" name="Picture 3"/>
          <p:cNvPicPr>
            <a:picLocks xmlns:a="http://schemas.openxmlformats.org/drawingml/2006/main" noChangeAspect="1"/>
          </p:cNvPicPr>
          <p:nvPr/>
        </p:nvPicPr>
        <p:blipFill>
          <a:blip xmlns:r="http://schemas.openxmlformats.org/officeDocument/2006/relationships" xmlns:a="http://schemas.openxmlformats.org/drawingml/2006/main" r:embed="R883e437376104841">
            <a:duotone>
              <a:prstClr val="black"/>
              <a:schemeClr val="tx2">
                <a:tint val="45000"/>
                <a:satMod val="400000"/>
              </a:schemeClr>
            </a:duotone>
          </a:blip>
          <a:stretch xmlns:a="http://schemas.openxmlformats.org/drawingml/2006/main">
            <a:fillRect l="0" t="0" r="0" b="0"/>
          </a:stretch>
        </p:blipFill>
        <p:spPr>
          <a:xfrm xmlns:a="http://schemas.openxmlformats.org/drawingml/2006/main">
            <a:off x="4349650" y="2190750"/>
            <a:ext cx="3492549" cy="3676650"/>
          </a:xfrm>
          <a:prstGeom xmlns:a="http://schemas.openxmlformats.org/drawingml/2006/main" prst="rect">
            <a:avLst/>
          </a:prstGeom>
        </p:spPr>
      </p:pic>
      <p:pic>
        <p:nvPicPr>
          <p:cNvPr id="30" name="Picture 4"/>
          <p:cNvPicPr>
            <a:picLocks xmlns:a="http://schemas.openxmlformats.org/drawingml/2006/main" noChangeAspect="1"/>
          </p:cNvPicPr>
          <p:nvPr/>
        </p:nvPicPr>
        <p:blipFill>
          <a:blip xmlns:r="http://schemas.openxmlformats.org/officeDocument/2006/relationships" xmlns:a="http://schemas.openxmlformats.org/drawingml/2006/main" r:embed="Ra1ffa1fcad274d22">
            <a:duotone>
              <a:prstClr val="black"/>
              <a:schemeClr val="tx2">
                <a:tint val="45000"/>
                <a:satMod val="400000"/>
              </a:schemeClr>
            </a:duotone>
          </a:blip>
          <a:stretch xmlns:a="http://schemas.openxmlformats.org/drawingml/2006/main">
            <a:fillRect l="0" t="0" r="0" b="0"/>
          </a:stretch>
        </p:blipFill>
        <p:spPr>
          <a:xfrm xmlns:a="http://schemas.openxmlformats.org/drawingml/2006/main">
            <a:off x="497608" y="2189018"/>
            <a:ext cx="3492549" cy="3676650"/>
          </a:xfrm>
          <a:prstGeom xmlns:a="http://schemas.openxmlformats.org/drawingml/2006/main" prst="rect">
            <a:avLst/>
          </a:prstGeom>
        </p:spPr>
      </p:pic>
      <p:pic>
        <p:nvPicPr>
          <p:cNvPr id="31" name="Picture 5"/>
          <p:cNvPicPr>
            <a:picLocks xmlns:a="http://schemas.openxmlformats.org/drawingml/2006/main" noChangeAspect="1"/>
          </p:cNvPicPr>
          <p:nvPr/>
        </p:nvPicPr>
        <p:blipFill>
          <a:blip xmlns:r="http://schemas.openxmlformats.org/officeDocument/2006/relationships" xmlns:a="http://schemas.openxmlformats.org/drawingml/2006/main" r:embed="R21991ee0c56a4124"/>
          <a:stretch xmlns:a="http://schemas.openxmlformats.org/drawingml/2006/main">
            <a:fillRect l="0" t="0" r="0" b="0"/>
          </a:stretch>
        </p:blipFill>
        <p:spPr>
          <a:xfrm xmlns:a="http://schemas.openxmlformats.org/drawingml/2006/main">
            <a:off x="9445674" y="2533650"/>
            <a:ext cx="857250" cy="857250"/>
          </a:xfrm>
          <a:prstGeom xmlns:a="http://schemas.openxmlformats.org/drawingml/2006/main" prst="rect">
            <a:avLst/>
          </a:prstGeom>
        </p:spPr>
      </p:pic>
      <p:sp>
        <p:nvSpPr>
          <p:cNvPr id="7" name="TextBox 6">
            <a:extLst xmlns:a="http://schemas.openxmlformats.org/drawingml/2006/main">
              <a:ext uri="{FF2B5EF4-FFF2-40B4-BE49-F238E27FC236}">
                <a16:creationId xmlns:a16="http://schemas.microsoft.com/office/drawing/2014/main" id="{B02B0215-1AB3-4054-9D2B-849659DDA2EA}"/>
              </a:ext>
            </a:extLst>
          </p:cNvPr>
          <p:cNvSpPr>
            <a:spLocks xmlns:a="http://schemas.openxmlformats.org/drawingml/2006/main" noGrp="1"/>
          </p:cNvSpPr>
          <p:nvPr/>
        </p:nvSpPr>
        <p:spPr>
          <a:xfrm xmlns:a="http://schemas.openxmlformats.org/drawingml/2006/main">
            <a:off x="8290560" y="3629025"/>
            <a:ext cx="3082289" cy="323165"/>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2100">
                <a:solidFill>
                  <a:srgbClr val="2563EB"/>
                </a:solidFill>
                <a:latin typeface="Heebo ExtraBold"/>
                <a:ea typeface="Heebo ExtraBold"/>
                <a:cs typeface="Heebo ExtraBold"/>
              </a:rPr>
              <a:t>מערכת מודרנית קלה לשימוש</a:t>
            </a:r>
          </a:p>
        </p:txBody>
      </p:sp>
      <p:sp>
        <p:nvSpPr>
          <p:cNvPr id="8" name="TextBox 7">
            <a:extLst xmlns:a="http://schemas.openxmlformats.org/drawingml/2006/main">
              <a:ext uri="{FF2B5EF4-FFF2-40B4-BE49-F238E27FC236}">
                <a16:creationId xmlns:a16="http://schemas.microsoft.com/office/drawing/2014/main" id="{024B632D-DA3E-4335-B912-E4353073B4A4}"/>
              </a:ext>
            </a:extLst>
          </p:cNvPr>
          <p:cNvSpPr>
            <a:spLocks xmlns:a="http://schemas.openxmlformats.org/drawingml/2006/main" noGrp="1"/>
          </p:cNvSpPr>
          <p:nvPr/>
        </p:nvSpPr>
        <p:spPr>
          <a:xfrm xmlns:a="http://schemas.openxmlformats.org/drawingml/2006/main">
            <a:off x="8375600" y="4162425"/>
            <a:ext cx="2997249" cy="92333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lnSpc>
                <a:spcPts val="2400"/>
              </a:lnSpc>
              <a:buNone/>
            </a:pPr>
            <a:r>
              <a:rPr sz="1500">
                <a:solidFill>
                  <a:srgbClr val="334155"/>
                </a:solidFill>
                <a:latin typeface="Heebo"/>
                <a:ea typeface="Heebo"/>
                <a:cs typeface="Heebo"/>
              </a:rPr>
              <a:t>מערכת עם </a:t>
            </a:r>
            <a:r>
              <a:rPr sz="1500">
                <a:solidFill>
                  <a:srgbClr val="334155"/>
                </a:solidFill>
                <a:latin typeface="Heebo"/>
                <a:ea typeface="Heebo"/>
                <a:cs typeface="Heebo"/>
              </a:rPr>
              <a:t>UI</a:t>
            </a:r>
            <a:r>
              <a:rPr sz="1500">
                <a:solidFill>
                  <a:srgbClr val="334155"/>
                </a:solidFill>
                <a:latin typeface="Heebo"/>
                <a:ea typeface="Heebo"/>
                <a:cs typeface="Heebo"/>
              </a:rPr>
              <a:t>\</a:t>
            </a:r>
            <a:r>
              <a:rPr sz="1500">
                <a:solidFill>
                  <a:srgbClr val="334155"/>
                </a:solidFill>
                <a:latin typeface="Heebo"/>
                <a:ea typeface="Heebo"/>
                <a:cs typeface="Heebo"/>
              </a:rPr>
              <a:t>UX</a:t>
            </a:r>
            <a:r>
              <a:rPr sz="1500">
                <a:solidFill>
                  <a:srgbClr val="334155"/>
                </a:solidFill>
                <a:latin typeface="Heebo"/>
                <a:ea typeface="Heebo"/>
                <a:cs typeface="Heebo"/>
              </a:rPr>
              <a:t> מודרני המתאימה לצרכי המשתמשים (גם הצוות וגם הלקוחות).</a:t>
            </a:r>
          </a:p>
        </p:txBody>
      </p:sp>
      <p:pic>
        <p:nvPicPr>
          <p:cNvPr id="34" name="Picture 8"/>
          <p:cNvPicPr>
            <a:picLocks xmlns:a="http://schemas.openxmlformats.org/drawingml/2006/main" noChangeAspect="1"/>
          </p:cNvPicPr>
          <p:nvPr/>
        </p:nvPicPr>
        <p:blipFill>
          <a:blip xmlns:r="http://schemas.openxmlformats.org/officeDocument/2006/relationships" xmlns:a="http://schemas.openxmlformats.org/drawingml/2006/main" r:embed="Rc2aa5a39f51b44d5"/>
          <a:stretch xmlns:a="http://schemas.openxmlformats.org/drawingml/2006/main">
            <a:fillRect l="0" t="0" r="0" b="0"/>
          </a:stretch>
        </p:blipFill>
        <p:spPr>
          <a:xfrm xmlns:a="http://schemas.openxmlformats.org/drawingml/2006/main">
            <a:off x="5667375" y="2533650"/>
            <a:ext cx="857250" cy="857250"/>
          </a:xfrm>
          <a:prstGeom xmlns:a="http://schemas.openxmlformats.org/drawingml/2006/main" prst="rect">
            <a:avLst/>
          </a:prstGeom>
        </p:spPr>
      </p:pic>
      <p:sp>
        <p:nvSpPr>
          <p:cNvPr id="10" name="TextBox 9">
            <a:extLst xmlns:a="http://schemas.openxmlformats.org/drawingml/2006/main">
              <a:ext uri="{FF2B5EF4-FFF2-40B4-BE49-F238E27FC236}">
                <a16:creationId xmlns:a16="http://schemas.microsoft.com/office/drawing/2014/main" id="{0A3B9220-D018-4D4F-8BA5-E1CFE349470E}"/>
              </a:ext>
            </a:extLst>
          </p:cNvPr>
          <p:cNvSpPr>
            <a:spLocks xmlns:a="http://schemas.openxmlformats.org/drawingml/2006/main" noGrp="1"/>
          </p:cNvSpPr>
          <p:nvPr/>
        </p:nvSpPr>
        <p:spPr>
          <a:xfrm xmlns:a="http://schemas.openxmlformats.org/drawingml/2006/main">
            <a:off x="5229860" y="3605212"/>
            <a:ext cx="1736883" cy="323165"/>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2100">
                <a:solidFill>
                  <a:srgbClr val="2563EB"/>
                </a:solidFill>
                <a:latin typeface="Heebo ExtraBold"/>
                <a:ea typeface="Heebo ExtraBold"/>
                <a:cs typeface="Heebo ExtraBold"/>
              </a:rPr>
              <a:t>הפרדת הרשאות</a:t>
            </a:r>
          </a:p>
        </p:txBody>
      </p:sp>
      <p:sp>
        <p:nvSpPr>
          <p:cNvPr id="11" name="TextBox 10">
            <a:extLst xmlns:a="http://schemas.openxmlformats.org/drawingml/2006/main">
              <a:ext uri="{FF2B5EF4-FFF2-40B4-BE49-F238E27FC236}">
                <a16:creationId xmlns:a16="http://schemas.microsoft.com/office/drawing/2014/main" id="{A310CC60-307C-4B50-9EB4-F4B7757E81A7}"/>
              </a:ext>
            </a:extLst>
          </p:cNvPr>
          <p:cNvSpPr>
            <a:spLocks xmlns:a="http://schemas.openxmlformats.org/drawingml/2006/main" noGrp="1"/>
          </p:cNvSpPr>
          <p:nvPr/>
        </p:nvSpPr>
        <p:spPr>
          <a:xfrm xmlns:a="http://schemas.openxmlformats.org/drawingml/2006/main">
            <a:off x="4597300" y="4162425"/>
            <a:ext cx="2997249" cy="1197892"/>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lnSpc>
                <a:spcPts val="2400"/>
              </a:lnSpc>
              <a:buNone/>
            </a:pPr>
            <a:r>
              <a:rPr sz="1500">
                <a:solidFill>
                  <a:srgbClr val="334155"/>
                </a:solidFill>
                <a:latin typeface="Heebo"/>
                <a:ea typeface="Heebo"/>
                <a:cs typeface="Heebo"/>
              </a:rPr>
              <a:t>כל משתמש, מצוות המרפאה ועד בעל החיה, נחשף ומורשה לבצע רק פעולות התואמות את תפקידו, עם אכיפה מלאה בשרת.</a:t>
            </a:r>
          </a:p>
        </p:txBody>
      </p:sp>
      <p:pic>
        <p:nvPicPr>
          <p:cNvPr id="37" name="Picture 11"/>
          <p:cNvPicPr>
            <a:picLocks xmlns:a="http://schemas.openxmlformats.org/drawingml/2006/main" noChangeAspect="1"/>
          </p:cNvPicPr>
          <p:nvPr/>
        </p:nvPicPr>
        <p:blipFill>
          <a:blip xmlns:r="http://schemas.openxmlformats.org/officeDocument/2006/relationships" xmlns:a="http://schemas.openxmlformats.org/drawingml/2006/main" r:embed="R7275e8a2ca924420"/>
          <a:stretch xmlns:a="http://schemas.openxmlformats.org/drawingml/2006/main">
            <a:fillRect l="0" t="0" r="0" b="0"/>
          </a:stretch>
        </p:blipFill>
        <p:spPr>
          <a:xfrm xmlns:a="http://schemas.openxmlformats.org/drawingml/2006/main">
            <a:off x="1889075" y="2533650"/>
            <a:ext cx="857250" cy="857250"/>
          </a:xfrm>
          <a:prstGeom xmlns:a="http://schemas.openxmlformats.org/drawingml/2006/main" prst="rect">
            <a:avLst/>
          </a:prstGeom>
        </p:spPr>
      </p:pic>
      <p:sp>
        <p:nvSpPr>
          <p:cNvPr id="13" name="TextBox 12">
            <a:extLst xmlns:a="http://schemas.openxmlformats.org/drawingml/2006/main">
              <a:ext uri="{FF2B5EF4-FFF2-40B4-BE49-F238E27FC236}">
                <a16:creationId xmlns:a16="http://schemas.microsoft.com/office/drawing/2014/main" id="{9F255B4E-B1CE-441B-9B8D-C84015D2C45E}"/>
              </a:ext>
            </a:extLst>
          </p:cNvPr>
          <p:cNvSpPr>
            <a:spLocks xmlns:a="http://schemas.openxmlformats.org/drawingml/2006/main" noGrp="1"/>
          </p:cNvSpPr>
          <p:nvPr/>
        </p:nvSpPr>
        <p:spPr>
          <a:xfrm xmlns:a="http://schemas.openxmlformats.org/drawingml/2006/main">
            <a:off x="1292572" y="3629025"/>
            <a:ext cx="2050256" cy="323165"/>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2100">
                <a:solidFill>
                  <a:srgbClr val="2563EB"/>
                </a:solidFill>
                <a:latin typeface="Heebo ExtraBold"/>
                <a:ea typeface="Heebo ExtraBold"/>
                <a:cs typeface="Heebo ExtraBold"/>
              </a:rPr>
              <a:t>אחראי ומבוקר </a:t>
            </a:r>
            <a:r>
              <a:rPr sz="2100">
                <a:solidFill>
                  <a:srgbClr val="2563EB"/>
                </a:solidFill>
                <a:latin typeface="Heebo ExtraBold"/>
                <a:ea typeface="Heebo ExtraBold"/>
                <a:cs typeface="Heebo ExtraBold"/>
              </a:rPr>
              <a:t>AI</a:t>
            </a:r>
            <a:endParaRPr sz="2100">
              <a:solidFill>
                <a:srgbClr val="2563EB"/>
              </a:solidFill>
              <a:latin typeface="Heebo ExtraBold"/>
              <a:ea typeface="Heebo ExtraBold"/>
              <a:cs typeface="Heebo ExtraBold"/>
            </a:endParaRPr>
          </a:p>
        </p:txBody>
      </p:sp>
      <p:sp>
        <p:nvSpPr>
          <p:cNvPr id="14" name="TextBox 13">
            <a:extLst xmlns:a="http://schemas.openxmlformats.org/drawingml/2006/main">
              <a:ext uri="{FF2B5EF4-FFF2-40B4-BE49-F238E27FC236}">
                <a16:creationId xmlns:a16="http://schemas.microsoft.com/office/drawing/2014/main" id="{8FE56974-A93E-4FBF-982F-A09B21E52488}"/>
              </a:ext>
            </a:extLst>
          </p:cNvPr>
          <p:cNvSpPr>
            <a:spLocks xmlns:a="http://schemas.openxmlformats.org/drawingml/2006/main" noGrp="1"/>
          </p:cNvSpPr>
          <p:nvPr/>
        </p:nvSpPr>
        <p:spPr>
          <a:xfrm xmlns:a="http://schemas.openxmlformats.org/drawingml/2006/main">
            <a:off x="819001" y="4162425"/>
            <a:ext cx="2997249" cy="890115"/>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lnSpc>
                <a:spcPts val="2400"/>
              </a:lnSpc>
              <a:buNone/>
            </a:pPr>
            <a:r>
              <a:rPr sz="1500">
                <a:solidFill>
                  <a:srgbClr val="334155"/>
                </a:solidFill>
                <a:latin typeface="Heebo"/>
                <a:ea typeface="Heebo"/>
                <a:cs typeface="Heebo"/>
              </a:rPr>
              <a:t>שילוב מערכת </a:t>
            </a:r>
            <a:r>
              <a:rPr sz="1500">
                <a:solidFill>
                  <a:srgbClr val="334155"/>
                </a:solidFill>
                <a:latin typeface="Heebo"/>
                <a:ea typeface="Heebo"/>
                <a:cs typeface="Heebo"/>
              </a:rPr>
              <a:t>VetBot</a:t>
            </a:r>
            <a:r>
              <a:rPr sz="1500">
                <a:solidFill>
                  <a:srgbClr val="334155"/>
                </a:solidFill>
                <a:latin typeface="Heebo"/>
                <a:ea typeface="Heebo"/>
                <a:cs typeface="Heebo"/>
              </a:rPr>
              <a:t> כעוזר חכם התומך בצוות ומונע עומס קוגניטיבי, תוך דרישת אישור אנושי לכל פעולה.</a:t>
            </a:r>
          </a:p>
        </p:txBody>
      </p:sp>
      <p:pic>
        <p:nvPicPr>
          <p:cNvPr id="40" name="Picture 14"/>
          <p:cNvPicPr>
            <a:picLocks xmlns:a="http://schemas.openxmlformats.org/drawingml/2006/main" noChangeAspect="1"/>
          </p:cNvPicPr>
          <p:nvPr/>
        </p:nvPicPr>
        <p:blipFill>
          <a:blip xmlns:r="http://schemas.openxmlformats.org/officeDocument/2006/relationships" xmlns:a="http://schemas.openxmlformats.org/drawingml/2006/main" r:embed="Rd20b00779e7949ec"/>
          <a:stretch xmlns:a="http://schemas.openxmlformats.org/drawingml/2006/main">
            <a:fillRect l="0" t="0" r="0" b="0"/>
          </a:stretch>
        </p:blipFill>
        <p:spPr>
          <a:xfrm xmlns:a="http://schemas.openxmlformats.org/drawingml/2006/main">
            <a:off x="9631412" y="2747962"/>
            <a:ext cx="485775" cy="428625"/>
          </a:xfrm>
          <a:prstGeom xmlns:a="http://schemas.openxmlformats.org/drawingml/2006/main" prst="rect">
            <a:avLst/>
          </a:prstGeom>
        </p:spPr>
      </p:pic>
      <p:pic>
        <p:nvPicPr>
          <p:cNvPr id="41" name="Picture 15"/>
          <p:cNvPicPr>
            <a:picLocks xmlns:a="http://schemas.openxmlformats.org/drawingml/2006/main" noChangeAspect="1"/>
          </p:cNvPicPr>
          <p:nvPr/>
        </p:nvPicPr>
        <p:blipFill>
          <a:blip xmlns:r="http://schemas.openxmlformats.org/officeDocument/2006/relationships" xmlns:a="http://schemas.openxmlformats.org/drawingml/2006/main" r:embed="Rcf9c50af89de4706"/>
          <a:stretch xmlns:a="http://schemas.openxmlformats.org/drawingml/2006/main">
            <a:fillRect l="0" t="0" r="0" b="0"/>
          </a:stretch>
        </p:blipFill>
        <p:spPr>
          <a:xfrm xmlns:a="http://schemas.openxmlformats.org/drawingml/2006/main">
            <a:off x="5829300" y="2747962"/>
            <a:ext cx="533400" cy="428625"/>
          </a:xfrm>
          <a:prstGeom xmlns:a="http://schemas.openxmlformats.org/drawingml/2006/main" prst="rect">
            <a:avLst/>
          </a:prstGeom>
        </p:spPr>
      </p:pic>
      <p:pic>
        <p:nvPicPr>
          <p:cNvPr id="42" name="Picture 16"/>
          <p:cNvPicPr>
            <a:picLocks xmlns:a="http://schemas.openxmlformats.org/drawingml/2006/main" noChangeAspect="1"/>
          </p:cNvPicPr>
          <p:nvPr/>
        </p:nvPicPr>
        <p:blipFill>
          <a:blip xmlns:r="http://schemas.openxmlformats.org/officeDocument/2006/relationships" xmlns:a="http://schemas.openxmlformats.org/drawingml/2006/main" r:embed="R5bcba292c29748b2"/>
          <a:stretch xmlns:a="http://schemas.openxmlformats.org/drawingml/2006/main">
            <a:fillRect l="0" t="0" r="0" b="0"/>
          </a:stretch>
        </p:blipFill>
        <p:spPr>
          <a:xfrm xmlns:a="http://schemas.openxmlformats.org/drawingml/2006/main">
            <a:off x="2051000" y="2747962"/>
            <a:ext cx="533400" cy="428625"/>
          </a:xfrm>
          <a:prstGeom xmlns:a="http://schemas.openxmlformats.org/drawingml/2006/main" prst="rect">
            <a:avLst/>
          </a:prstGeom>
        </p:spPr>
      </p:pic>
      <p:sp>
        <p:nvSpPr>
          <p:cNvPr id="18" name="TextBox 17">
            <a:extLst xmlns:a="http://schemas.openxmlformats.org/drawingml/2006/main">
              <a:ext uri="{FF2B5EF4-FFF2-40B4-BE49-F238E27FC236}">
                <a16:creationId xmlns:a16="http://schemas.microsoft.com/office/drawing/2014/main" id="{F0C68F64-93C9-45A3-B718-9BD8326D13B2}"/>
              </a:ext>
            </a:extLst>
          </p:cNvPr>
          <p:cNvSpPr>
            <a:spLocks xmlns:a="http://schemas.openxmlformats.org/drawingml/2006/main" noGrp="1"/>
          </p:cNvSpPr>
          <p:nvPr/>
        </p:nvSpPr>
        <p:spPr>
          <a:xfrm xmlns:a="http://schemas.openxmlformats.org/drawingml/2006/main">
            <a:off x="19050" y="476250"/>
            <a:ext cx="11601450" cy="600164"/>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ctr">
              <a:buNone/>
            </a:pPr>
            <a:r>
              <a:rPr sz="3900" b="1">
                <a:solidFill>
                  <a:schemeClr val="bg1"/>
                </a:solidFill>
                <a:latin typeface="Heebo"/>
                <a:ea typeface="Heebo"/>
                <a:cs typeface="Heebo"/>
              </a:rPr>
              <a:t>מטרת המערכת</a:t>
            </a:r>
          </a:p>
        </p:txBody>
      </p:sp>
    </p:spTree>
    <p:extLst>
      <p:ext uri="{BB962C8B-B14F-4D97-AF65-F5344CB8AC3E}">
        <p14:creationId xmlns:p14="http://schemas.microsoft.com/office/powerpoint/2010/main" val="72663564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4" name="TextBox 3">
            <a:extLst xmlns:a="http://schemas.openxmlformats.org/drawingml/2006/main">
              <a:ext uri="{FF2B5EF4-FFF2-40B4-BE49-F238E27FC236}">
                <a16:creationId xmlns:a16="http://schemas.microsoft.com/office/drawing/2014/main" id="{08991B08-B7AF-4655-A599-509C007F3560}"/>
              </a:ext>
            </a:extLst>
          </p:cNvPr>
          <p:cNvSpPr>
            <a:spLocks xmlns:a="http://schemas.openxmlformats.org/drawingml/2006/main" noGrp="1"/>
          </p:cNvSpPr>
          <p:nvPr/>
        </p:nvSpPr>
        <p:spPr>
          <a:xfrm xmlns:a="http://schemas.openxmlformats.org/drawingml/2006/main">
            <a:off x="5624946" y="1980580"/>
            <a:ext cx="5286375" cy="283347"/>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lnSpc>
                <a:spcPts val="2400"/>
              </a:lnSpc>
              <a:buNone/>
            </a:pPr>
            <a:r>
              <a:rPr>
                <a:solidFill>
                  <a:schemeClr val="bg1"/>
                </a:solidFill>
                <a:latin typeface="Arial"/>
                <a:ea typeface="Arial"/>
                <a:cs typeface="Arial"/>
              </a:rPr>
              <a:t>המערכת משרתת מספר פונקציות מרכזיות במרפאה:</a:t>
            </a:r>
          </a:p>
        </p:txBody>
      </p:sp>
      <p:sp>
        <p:nvSpPr>
          <p:cNvPr id="5" name="TextBox 4">
            <a:extLst xmlns:a="http://schemas.openxmlformats.org/drawingml/2006/main">
              <a:ext uri="{FF2B5EF4-FFF2-40B4-BE49-F238E27FC236}">
                <a16:creationId xmlns:a16="http://schemas.microsoft.com/office/drawing/2014/main" id="{E4119115-56D9-4E0F-8BEB-7AAA98100E3C}"/>
              </a:ext>
            </a:extLst>
          </p:cNvPr>
          <p:cNvSpPr>
            <a:spLocks xmlns:a="http://schemas.openxmlformats.org/drawingml/2006/main" noGrp="1"/>
          </p:cNvSpPr>
          <p:nvPr/>
        </p:nvSpPr>
        <p:spPr>
          <a:xfrm xmlns:a="http://schemas.openxmlformats.org/drawingml/2006/main">
            <a:off x="11082771" y="2615845"/>
            <a:ext cx="66675" cy="230832"/>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1500" b="0" i="0" u="none">
                <a:solidFill>
                  <a:srgbClr val="334155"/>
                </a:solidFill>
                <a:latin typeface="Arial"/>
                <a:ea typeface="Arial"/>
                <a:cs typeface="Arial"/>
              </a:rPr>
              <a:t>•</a:t>
            </a:r>
          </a:p>
        </p:txBody>
      </p:sp>
      <p:sp>
        <p:nvSpPr>
          <p:cNvPr id="6" name="TextBox 5">
            <a:extLst xmlns:a="http://schemas.openxmlformats.org/drawingml/2006/main">
              <a:ext uri="{FF2B5EF4-FFF2-40B4-BE49-F238E27FC236}">
                <a16:creationId xmlns:a16="http://schemas.microsoft.com/office/drawing/2014/main" id="{5B26C9EF-528F-4938-8AB1-2A433B647E03}"/>
              </a:ext>
            </a:extLst>
          </p:cNvPr>
          <p:cNvSpPr>
            <a:spLocks xmlns:a="http://schemas.openxmlformats.org/drawingml/2006/main" noGrp="1"/>
          </p:cNvSpPr>
          <p:nvPr/>
        </p:nvSpPr>
        <p:spPr>
          <a:xfrm xmlns:a="http://schemas.openxmlformats.org/drawingml/2006/main">
            <a:off x="4038667" y="2555507"/>
            <a:ext cx="6872654" cy="283411"/>
          </a:xfrm>
          <a:prstGeom xmlns:a="http://schemas.openxmlformats.org/drawingml/2006/main" prst="rect">
            <a:avLst/>
          </a:prstGeom>
          <a:noFill xmlns:a="http://schemas.openxmlformats.org/drawingml/2006/main"/>
        </p:spPr>
        <p:txBody>
          <a:bodyPr xmlns:a="http://schemas.openxmlformats.org/drawingml/2006/main" wrap="square" lIns="66675" tIns="0" rIns="0" bIns="0" anchor="t">
            <a:spAutoFit/>
          </a:bodyPr>
          <a:lstStyle xmlns:a="http://schemas.openxmlformats.org/drawingml/2006/main"/>
          <a:p xmlns:a="http://schemas.openxmlformats.org/drawingml/2006/main">
            <a:pPr algn="r">
              <a:lnSpc>
                <a:spcPts val="2400"/>
              </a:lnSpc>
              <a:buNone/>
            </a:pPr>
            <a:r>
              <a:rPr b="1">
                <a:solidFill>
                  <a:srgbClr val="334155"/>
                </a:solidFill>
                <a:latin typeface="Arial"/>
                <a:ea typeface="Arial"/>
                <a:cs typeface="Arial"/>
              </a:rPr>
              <a:t>מנהל המרפאה:</a:t>
            </a:r>
            <a:r>
              <a:rPr>
                <a:solidFill>
                  <a:srgbClr val="334155"/>
                </a:solidFill>
                <a:latin typeface="Arial"/>
                <a:ea typeface="Arial"/>
                <a:cs typeface="Arial"/>
              </a:rPr>
              <a:t> צרכי תפעול, דוחות פיננסיים, ניהול צוות ובקרה כוללת.</a:t>
            </a:r>
          </a:p>
        </p:txBody>
      </p:sp>
      <p:sp>
        <p:nvSpPr>
          <p:cNvPr id="7" name="TextBox 6">
            <a:extLst xmlns:a="http://schemas.openxmlformats.org/drawingml/2006/main">
              <a:ext uri="{FF2B5EF4-FFF2-40B4-BE49-F238E27FC236}">
                <a16:creationId xmlns:a16="http://schemas.microsoft.com/office/drawing/2014/main" id="{B5CB8C4E-9543-4DB8-BDE2-8000D47BEB77}"/>
              </a:ext>
            </a:extLst>
          </p:cNvPr>
          <p:cNvSpPr>
            <a:spLocks xmlns:a="http://schemas.openxmlformats.org/drawingml/2006/main" noGrp="1"/>
          </p:cNvSpPr>
          <p:nvPr/>
        </p:nvSpPr>
        <p:spPr>
          <a:xfrm xmlns:a="http://schemas.openxmlformats.org/drawingml/2006/main">
            <a:off x="11082771" y="3175623"/>
            <a:ext cx="66675" cy="230832"/>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1500" b="0" i="0" u="none">
                <a:solidFill>
                  <a:srgbClr val="334155"/>
                </a:solidFill>
                <a:latin typeface="Arial"/>
                <a:ea typeface="Arial"/>
                <a:cs typeface="Arial"/>
              </a:rPr>
              <a:t>•</a:t>
            </a:r>
          </a:p>
        </p:txBody>
      </p:sp>
      <p:sp>
        <p:nvSpPr>
          <p:cNvPr id="8" name="TextBox 7">
            <a:extLst xmlns:a="http://schemas.openxmlformats.org/drawingml/2006/main">
              <a:ext uri="{FF2B5EF4-FFF2-40B4-BE49-F238E27FC236}">
                <a16:creationId xmlns:a16="http://schemas.microsoft.com/office/drawing/2014/main" id="{89AB53FA-7B63-4970-B550-E933C260945A}"/>
              </a:ext>
            </a:extLst>
          </p:cNvPr>
          <p:cNvSpPr>
            <a:spLocks xmlns:a="http://schemas.openxmlformats.org/drawingml/2006/main" noGrp="1"/>
          </p:cNvSpPr>
          <p:nvPr/>
        </p:nvSpPr>
        <p:spPr>
          <a:xfrm xmlns:a="http://schemas.openxmlformats.org/drawingml/2006/main">
            <a:off x="4706883" y="3138731"/>
            <a:ext cx="6204438" cy="591124"/>
          </a:xfrm>
          <a:prstGeom xmlns:a="http://schemas.openxmlformats.org/drawingml/2006/main" prst="rect">
            <a:avLst/>
          </a:prstGeom>
          <a:noFill xmlns:a="http://schemas.openxmlformats.org/drawingml/2006/main"/>
        </p:spPr>
        <p:txBody>
          <a:bodyPr xmlns:a="http://schemas.openxmlformats.org/drawingml/2006/main" wrap="square" lIns="66675" tIns="0" rIns="0" bIns="0" anchor="t">
            <a:spAutoFit/>
          </a:bodyPr>
          <a:lstStyle xmlns:a="http://schemas.openxmlformats.org/drawingml/2006/main"/>
          <a:p xmlns:a="http://schemas.openxmlformats.org/drawingml/2006/main">
            <a:pPr algn="r">
              <a:lnSpc>
                <a:spcPts val="2400"/>
              </a:lnSpc>
              <a:buNone/>
            </a:pPr>
            <a:r>
              <a:rPr b="1">
                <a:solidFill>
                  <a:srgbClr val="334155"/>
                </a:solidFill>
                <a:latin typeface="Arial"/>
                <a:ea typeface="Arial"/>
                <a:cs typeface="Arial"/>
              </a:rPr>
              <a:t>הווטרינר המטפל:</a:t>
            </a:r>
            <a:r>
              <a:rPr>
                <a:solidFill>
                  <a:srgbClr val="334155"/>
                </a:solidFill>
                <a:latin typeface="Arial"/>
                <a:ea typeface="Arial"/>
                <a:cs typeface="Arial"/>
              </a:rPr>
              <a:t> התמקדות בתיק הרפואי, אבחנות, מעבדה ואשפוזים עם ממשק נקי ומהיר להחלטות רפואיות.</a:t>
            </a:r>
          </a:p>
        </p:txBody>
      </p:sp>
      <p:sp>
        <p:nvSpPr>
          <p:cNvPr id="9" name="TextBox 8">
            <a:extLst xmlns:a="http://schemas.openxmlformats.org/drawingml/2006/main">
              <a:ext uri="{FF2B5EF4-FFF2-40B4-BE49-F238E27FC236}">
                <a16:creationId xmlns:a16="http://schemas.microsoft.com/office/drawing/2014/main" id="{8A9F3CB7-AF24-4069-9C74-F5C5A8160D05}"/>
              </a:ext>
            </a:extLst>
          </p:cNvPr>
          <p:cNvSpPr>
            <a:spLocks xmlns:a="http://schemas.openxmlformats.org/drawingml/2006/main" noGrp="1"/>
          </p:cNvSpPr>
          <p:nvPr/>
        </p:nvSpPr>
        <p:spPr>
          <a:xfrm xmlns:a="http://schemas.openxmlformats.org/drawingml/2006/main">
            <a:off x="11082771" y="4016753"/>
            <a:ext cx="66675" cy="230832"/>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1500" b="0" i="0" u="none">
                <a:solidFill>
                  <a:srgbClr val="334155"/>
                </a:solidFill>
                <a:latin typeface="Arial"/>
                <a:ea typeface="Arial"/>
                <a:cs typeface="Arial"/>
              </a:rPr>
              <a:t>•</a:t>
            </a:r>
          </a:p>
        </p:txBody>
      </p:sp>
      <p:sp>
        <p:nvSpPr>
          <p:cNvPr id="10" name="TextBox 9">
            <a:extLst xmlns:a="http://schemas.openxmlformats.org/drawingml/2006/main">
              <a:ext uri="{FF2B5EF4-FFF2-40B4-BE49-F238E27FC236}">
                <a16:creationId xmlns:a16="http://schemas.microsoft.com/office/drawing/2014/main" id="{9FB91E6E-1C14-49B8-B3F3-94486904ECED}"/>
              </a:ext>
            </a:extLst>
          </p:cNvPr>
          <p:cNvSpPr>
            <a:spLocks xmlns:a="http://schemas.openxmlformats.org/drawingml/2006/main" noGrp="1"/>
          </p:cNvSpPr>
          <p:nvPr/>
        </p:nvSpPr>
        <p:spPr>
          <a:xfrm xmlns:a="http://schemas.openxmlformats.org/drawingml/2006/main">
            <a:off x="5863071" y="3956415"/>
            <a:ext cx="5048250" cy="923330"/>
          </a:xfrm>
          <a:prstGeom xmlns:a="http://schemas.openxmlformats.org/drawingml/2006/main" prst="rect">
            <a:avLst/>
          </a:prstGeom>
          <a:noFill xmlns:a="http://schemas.openxmlformats.org/drawingml/2006/main"/>
        </p:spPr>
        <p:txBody>
          <a:bodyPr xmlns:a="http://schemas.openxmlformats.org/drawingml/2006/main" wrap="square" lIns="66675" tIns="0" rIns="0" bIns="0" anchor="t">
            <a:spAutoFit/>
          </a:bodyPr>
          <a:lstStyle xmlns:a="http://schemas.openxmlformats.org/drawingml/2006/main"/>
          <a:p xmlns:a="http://schemas.openxmlformats.org/drawingml/2006/main">
            <a:pPr algn="r">
              <a:lnSpc>
                <a:spcPts val="2400"/>
              </a:lnSpc>
              <a:buNone/>
            </a:pPr>
            <a:r>
              <a:rPr b="1">
                <a:solidFill>
                  <a:srgbClr val="334155"/>
                </a:solidFill>
                <a:latin typeface="Arial"/>
                <a:ea typeface="Arial"/>
                <a:cs typeface="Arial"/>
              </a:rPr>
              <a:t>צוות מסייע ומזכירות:</a:t>
            </a:r>
            <a:r>
              <a:rPr>
                <a:solidFill>
                  <a:srgbClr val="334155"/>
                </a:solidFill>
                <a:latin typeface="Arial"/>
                <a:ea typeface="Arial"/>
                <a:cs typeface="Arial"/>
              </a:rPr>
              <a:t> ניהול תורים, קבלת קהל, ניהול מלאי ושירות שוטף (ללא גישה </a:t>
            </a:r>
            <a:r>
              <a:rPr>
                <a:solidFill>
                  <a:srgbClr val="334155"/>
                </a:solidFill>
                <a:latin typeface="Arial"/>
                <a:ea typeface="Arial"/>
                <a:cs typeface="Arial"/>
              </a:rPr>
              <a:t>מלאה לעריכת </a:t>
            </a:r>
            <a:r>
              <a:rPr>
                <a:solidFill>
                  <a:srgbClr val="334155"/>
                </a:solidFill>
                <a:latin typeface="Arial"/>
                <a:ea typeface="Arial"/>
                <a:cs typeface="Arial"/>
              </a:rPr>
              <a:t>רשומות רפואיות).</a:t>
            </a:r>
            <a:endParaRPr>
              <a:solidFill>
                <a:srgbClr val="334155"/>
              </a:solidFill>
              <a:latin typeface="Arial"/>
              <a:ea typeface="Arial"/>
              <a:cs typeface="Arial"/>
            </a:endParaRPr>
          </a:p>
        </p:txBody>
      </p:sp>
      <p:sp>
        <p:nvSpPr>
          <p:cNvPr id="11" name="TextBox 10">
            <a:extLst xmlns:a="http://schemas.openxmlformats.org/drawingml/2006/main">
              <a:ext uri="{FF2B5EF4-FFF2-40B4-BE49-F238E27FC236}">
                <a16:creationId xmlns:a16="http://schemas.microsoft.com/office/drawing/2014/main" id="{69D3F387-E08F-4313-83DB-DCF4238BA30D}"/>
              </a:ext>
            </a:extLst>
          </p:cNvPr>
          <p:cNvSpPr>
            <a:spLocks xmlns:a="http://schemas.openxmlformats.org/drawingml/2006/main" noGrp="1"/>
          </p:cNvSpPr>
          <p:nvPr/>
        </p:nvSpPr>
        <p:spPr>
          <a:xfrm xmlns:a="http://schemas.openxmlformats.org/drawingml/2006/main">
            <a:off x="11082771" y="4944562"/>
            <a:ext cx="66675" cy="230832"/>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1500" b="0" i="0" u="none">
                <a:solidFill>
                  <a:srgbClr val="334155"/>
                </a:solidFill>
                <a:latin typeface="Arial"/>
                <a:ea typeface="Arial"/>
                <a:cs typeface="Arial"/>
              </a:rPr>
              <a:t>•</a:t>
            </a:r>
          </a:p>
        </p:txBody>
      </p:sp>
      <p:sp>
        <p:nvSpPr>
          <p:cNvPr id="12" name="TextBox 11">
            <a:extLst xmlns:a="http://schemas.openxmlformats.org/drawingml/2006/main">
              <a:ext uri="{FF2B5EF4-FFF2-40B4-BE49-F238E27FC236}">
                <a16:creationId xmlns:a16="http://schemas.microsoft.com/office/drawing/2014/main" id="{74C0DBAD-D65A-46DA-B90B-28E1AE41A48A}"/>
              </a:ext>
            </a:extLst>
          </p:cNvPr>
          <p:cNvSpPr>
            <a:spLocks xmlns:a="http://schemas.openxmlformats.org/drawingml/2006/main" noGrp="1"/>
          </p:cNvSpPr>
          <p:nvPr/>
        </p:nvSpPr>
        <p:spPr>
          <a:xfrm xmlns:a="http://schemas.openxmlformats.org/drawingml/2006/main">
            <a:off x="4038667" y="4884224"/>
            <a:ext cx="6872654" cy="591124"/>
          </a:xfrm>
          <a:prstGeom xmlns:a="http://schemas.openxmlformats.org/drawingml/2006/main" prst="rect">
            <a:avLst/>
          </a:prstGeom>
          <a:noFill xmlns:a="http://schemas.openxmlformats.org/drawingml/2006/main"/>
        </p:spPr>
        <p:txBody>
          <a:bodyPr xmlns:a="http://schemas.openxmlformats.org/drawingml/2006/main" wrap="square" lIns="66675" tIns="0" rIns="0" bIns="0" anchor="t">
            <a:spAutoFit/>
          </a:bodyPr>
          <a:lstStyle xmlns:a="http://schemas.openxmlformats.org/drawingml/2006/main"/>
          <a:p xmlns:a="http://schemas.openxmlformats.org/drawingml/2006/main">
            <a:pPr algn="r">
              <a:lnSpc>
                <a:spcPts val="2400"/>
              </a:lnSpc>
              <a:buNone/>
            </a:pPr>
            <a:r>
              <a:rPr b="1">
                <a:solidFill>
                  <a:srgbClr val="334155"/>
                </a:solidFill>
                <a:latin typeface="Arial"/>
                <a:ea typeface="Arial"/>
                <a:cs typeface="Arial"/>
              </a:rPr>
              <a:t>בעלי החיות (הלקוחות):</a:t>
            </a:r>
            <a:r>
              <a:rPr>
                <a:solidFill>
                  <a:srgbClr val="334155"/>
                </a:solidFill>
                <a:latin typeface="Arial"/>
                <a:ea typeface="Arial"/>
                <a:cs typeface="Arial"/>
              </a:rPr>
              <a:t> אזור אישי (פורטל) לצפייה בתורים, קביעת הגעה, צפייה במסמכים רפואיים ששוחררו אליהם ופניות דיגיטליות למרפאה.</a:t>
            </a:r>
          </a:p>
        </p:txBody>
      </p:sp>
      <p:sp>
        <p:nvSpPr>
          <p:cNvPr id="14" name="TextBox 13">
            <a:extLst xmlns:a="http://schemas.openxmlformats.org/drawingml/2006/main">
              <a:ext uri="{FF2B5EF4-FFF2-40B4-BE49-F238E27FC236}">
                <a16:creationId xmlns:a16="http://schemas.microsoft.com/office/drawing/2014/main" id="{ACF0EDA6-5D3B-4001-AB7F-8B6E20040E50}"/>
              </a:ext>
            </a:extLst>
          </p:cNvPr>
          <p:cNvSpPr>
            <a:spLocks xmlns:a="http://schemas.openxmlformats.org/drawingml/2006/main" noGrp="1"/>
          </p:cNvSpPr>
          <p:nvPr/>
        </p:nvSpPr>
        <p:spPr>
          <a:xfrm xmlns:a="http://schemas.openxmlformats.org/drawingml/2006/main">
            <a:off x="19050" y="476250"/>
            <a:ext cx="11601450" cy="600164"/>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ctr">
              <a:buNone/>
            </a:pPr>
            <a:r>
              <a:rPr sz="3900" b="1">
                <a:solidFill>
                  <a:schemeClr val="bg1"/>
                </a:solidFill>
                <a:latin typeface="Arial"/>
                <a:ea typeface="Arial"/>
                <a:cs typeface="Arial"/>
              </a:rPr>
              <a:t>קהל היעד והמשתמשים</a:t>
            </a:r>
          </a:p>
        </p:txBody>
      </p:sp>
    </p:spTree>
    <p:extLst>
      <p:ext uri="{BB962C8B-B14F-4D97-AF65-F5344CB8AC3E}">
        <p14:creationId xmlns:p14="http://schemas.microsoft.com/office/powerpoint/2010/main" val="84541562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148A0F4E-9F96-471F-9082-14418EF2B923}"/>
              </a:ext>
            </a:extLst>
          </p:cNvPr>
          <p:cNvSpPr>
            <a:spLocks xmlns:a="http://schemas.openxmlformats.org/drawingml/2006/main" noGrp="1"/>
          </p:cNvSpPr>
          <p:nvPr/>
        </p:nvSpPr>
        <p:spPr>
          <a:xfrm xmlns:a="http://schemas.openxmlformats.org/drawingml/2006/main">
            <a:off x="2095500" y="1937316"/>
            <a:ext cx="8858250" cy="1333698"/>
          </a:xfrm>
          <a:prstGeom xmlns:a="http://schemas.openxmlformats.org/drawingml/2006/main" prst="rect">
            <a:avLst/>
          </a:prstGeom>
          <a:noFill xmlns:a="http://schemas.openxmlformats.org/drawingml/2006/main"/>
        </p:spPr>
        <p:txBody>
          <a:bodyPr xmlns:a="http://schemas.openxmlformats.org/drawingml/2006/main" wrap="square" lIns="200025" tIns="0" rIns="0" bIns="0" anchor="t">
            <a:spAutoFit/>
          </a:bodyPr>
          <a:lstStyle xmlns:a="http://schemas.openxmlformats.org/drawingml/2006/main"/>
          <a:p xmlns:a="http://schemas.openxmlformats.org/drawingml/2006/main">
            <a:pPr algn="r">
              <a:lnSpc>
                <a:spcPts val="2640"/>
              </a:lnSpc>
              <a:buNone/>
            </a:pPr>
            <a:r>
              <a:rPr sz="1650" b="1">
                <a:solidFill>
                  <a:schemeClr val="bg1"/>
                </a:solidFill>
                <a:latin typeface="Arial"/>
                <a:ea typeface="Arial"/>
                <a:cs typeface="Arial"/>
              </a:rPr>
              <a:t>Myvet</a:t>
            </a:r>
            <a:r>
              <a:rPr sz="1650" b="1">
                <a:solidFill>
                  <a:srgbClr val="1E40AF"/>
                </a:solidFill>
                <a:latin typeface="Arial"/>
                <a:ea typeface="Arial"/>
                <a:cs typeface="Arial"/>
              </a:rPr>
              <a:t>:</a:t>
            </a:r>
            <a:r>
              <a:rPr sz="1650">
                <a:solidFill>
                  <a:srgbClr val="334155"/>
                </a:solidFill>
                <a:latin typeface="Arial"/>
                <a:ea typeface="Arial"/>
                <a:cs typeface="Arial"/>
              </a:rPr>
              <a:t> </a:t>
            </a:r>
            <a:r>
              <a:rPr sz="1650">
                <a:solidFill>
                  <a:srgbClr val="334155"/>
                </a:solidFill>
                <a:latin typeface="Arial"/>
                <a:ea typeface="Arial"/>
                <a:cs typeface="Arial"/>
              </a:rPr>
              <a:t>בוט</a:t>
            </a:r>
            <a:r>
              <a:rPr sz="1650">
                <a:solidFill>
                  <a:srgbClr val="334155"/>
                </a:solidFill>
                <a:latin typeface="Arial"/>
                <a:ea typeface="Arial"/>
                <a:cs typeface="Arial"/>
              </a:rPr>
              <a:t> חכם המשולב בסוכן העובר על המערכת ויודע להפיק תובנות ניהוליות ועסקיות יחדיו. בנוסף , </a:t>
            </a:r>
            <a:r>
              <a:rPr sz="1650">
                <a:solidFill>
                  <a:srgbClr val="334155"/>
                </a:solidFill>
                <a:latin typeface="Arial"/>
                <a:ea typeface="Arial"/>
                <a:cs typeface="Arial"/>
              </a:rPr>
              <a:t>הבוט</a:t>
            </a:r>
            <a:r>
              <a:rPr sz="1650">
                <a:solidFill>
                  <a:srgbClr val="334155"/>
                </a:solidFill>
                <a:latin typeface="Arial"/>
                <a:ea typeface="Arial"/>
                <a:cs typeface="Arial"/>
              </a:rPr>
              <a:t> יודע להפעיל תכונות מהמערכת באופן אקטיבי כגגון הוספת תורים, ניהול מלאי ועוד. </a:t>
            </a:r>
            <a:r>
              <a:rPr sz="1650">
                <a:solidFill>
                  <a:srgbClr val="334155"/>
                </a:solidFill>
                <a:latin typeface="Arial"/>
                <a:ea typeface="Arial"/>
                <a:cs typeface="Arial"/>
              </a:rPr>
              <a:t>הבוט</a:t>
            </a:r>
            <a:r>
              <a:rPr sz="1650">
                <a:solidFill>
                  <a:srgbClr val="334155"/>
                </a:solidFill>
                <a:latin typeface="Arial"/>
                <a:ea typeface="Arial"/>
                <a:cs typeface="Arial"/>
              </a:rPr>
              <a:t> מאפשר תמיכה בשימוש המערכת גם ללקוחות וגם לצוות הרפואי. בעתיד </a:t>
            </a:r>
            <a:r>
              <a:rPr sz="1650">
                <a:solidFill>
                  <a:srgbClr val="334155"/>
                </a:solidFill>
                <a:latin typeface="Arial"/>
                <a:ea typeface="Arial"/>
                <a:cs typeface="Arial"/>
              </a:rPr>
              <a:t>הבוט</a:t>
            </a:r>
            <a:r>
              <a:rPr sz="1650">
                <a:solidFill>
                  <a:srgbClr val="334155"/>
                </a:solidFill>
                <a:latin typeface="Arial"/>
                <a:ea typeface="Arial"/>
                <a:cs typeface="Arial"/>
              </a:rPr>
              <a:t> יידע לסכם ביקור רפואי ולתת תובנות חכמות.</a:t>
            </a:r>
          </a:p>
        </p:txBody>
      </p:sp>
      <p:sp>
        <p:nvSpPr>
          <p:cNvPr id="4" name="TextBox 3">
            <a:extLst xmlns:a="http://schemas.openxmlformats.org/drawingml/2006/main">
              <a:ext uri="{FF2B5EF4-FFF2-40B4-BE49-F238E27FC236}">
                <a16:creationId xmlns:a16="http://schemas.microsoft.com/office/drawing/2014/main" id="{D61B3C5A-1393-4B08-88F6-35A8720EAF98}"/>
              </a:ext>
            </a:extLst>
          </p:cNvPr>
          <p:cNvSpPr>
            <a:spLocks xmlns:a="http://schemas.openxmlformats.org/drawingml/2006/main" noGrp="1"/>
          </p:cNvSpPr>
          <p:nvPr/>
        </p:nvSpPr>
        <p:spPr>
          <a:xfrm xmlns:a="http://schemas.openxmlformats.org/drawingml/2006/main">
            <a:off x="2095500" y="3280738"/>
            <a:ext cx="8858250" cy="631648"/>
          </a:xfrm>
          <a:prstGeom xmlns:a="http://schemas.openxmlformats.org/drawingml/2006/main" prst="rect">
            <a:avLst/>
          </a:prstGeom>
          <a:noFill xmlns:a="http://schemas.openxmlformats.org/drawingml/2006/main"/>
        </p:spPr>
        <p:txBody>
          <a:bodyPr xmlns:a="http://schemas.openxmlformats.org/drawingml/2006/main" wrap="square" lIns="228600" tIns="0" rIns="0" bIns="0" anchor="t">
            <a:spAutoFit/>
          </a:bodyPr>
          <a:lstStyle xmlns:a="http://schemas.openxmlformats.org/drawingml/2006/main"/>
          <a:p xmlns:a="http://schemas.openxmlformats.org/drawingml/2006/main">
            <a:pPr algn="r">
              <a:lnSpc>
                <a:spcPts val="2640"/>
              </a:lnSpc>
              <a:buNone/>
            </a:pPr>
            <a:r>
              <a:rPr sz="1650" b="1">
                <a:solidFill>
                  <a:schemeClr val="bg1"/>
                </a:solidFill>
                <a:latin typeface="Arial"/>
                <a:ea typeface="Arial"/>
                <a:cs typeface="Arial"/>
              </a:rPr>
              <a:t>ניידות מידע קליני חכמה</a:t>
            </a:r>
            <a:r>
              <a:rPr sz="1650" b="1">
                <a:solidFill>
                  <a:srgbClr val="1E40AF"/>
                </a:solidFill>
                <a:latin typeface="Arial"/>
                <a:ea typeface="Arial"/>
                <a:cs typeface="Arial"/>
              </a:rPr>
              <a:t>:</a:t>
            </a:r>
            <a:r>
              <a:rPr sz="1650">
                <a:solidFill>
                  <a:srgbClr val="334155"/>
                </a:solidFill>
                <a:latin typeface="Arial"/>
                <a:ea typeface="Arial"/>
                <a:cs typeface="Arial"/>
              </a:rPr>
              <a:t> מנגנון ייצוא וייבוא מלא של תיק רפואי (היסטוריה, חיסונים, מעבדה) מקובצי </a:t>
            </a:r>
            <a:r>
              <a:rPr sz="1650">
                <a:solidFill>
                  <a:srgbClr val="334155"/>
                </a:solidFill>
                <a:latin typeface="Arial"/>
                <a:ea typeface="Arial"/>
                <a:cs typeface="Arial"/>
              </a:rPr>
              <a:t>Excel  </a:t>
            </a:r>
            <a:r>
              <a:rPr sz="1650">
                <a:solidFill>
                  <a:srgbClr val="334155"/>
                </a:solidFill>
                <a:latin typeface="Arial"/>
                <a:ea typeface="Arial"/>
                <a:cs typeface="Arial"/>
              </a:rPr>
              <a:t> עם מערכת</a:t>
            </a:r>
            <a:r>
              <a:rPr sz="1650">
                <a:solidFill>
                  <a:srgbClr val="334155"/>
                </a:solidFill>
                <a:latin typeface="Arial"/>
                <a:ea typeface="Arial"/>
                <a:cs typeface="Arial"/>
              </a:rPr>
              <a:t> </a:t>
            </a:r>
            <a:r>
              <a:rPr sz="1650">
                <a:solidFill>
                  <a:srgbClr val="334155"/>
                </a:solidFill>
                <a:latin typeface="Arial"/>
                <a:ea typeface="Arial"/>
                <a:cs typeface="Arial"/>
              </a:rPr>
              <a:t>Rollback </a:t>
            </a:r>
            <a:r>
              <a:rPr sz="1650">
                <a:solidFill>
                  <a:srgbClr val="334155"/>
                </a:solidFill>
                <a:latin typeface="Arial"/>
                <a:ea typeface="Arial"/>
                <a:cs typeface="Arial"/>
              </a:rPr>
              <a:t>למניעת קליטת נתונים חלקית במקרה של שגיאה.</a:t>
            </a:r>
          </a:p>
        </p:txBody>
      </p:sp>
      <p:sp>
        <p:nvSpPr>
          <p:cNvPr id="5" name="TextBox 4">
            <a:extLst xmlns:a="http://schemas.openxmlformats.org/drawingml/2006/main">
              <a:ext uri="{FF2B5EF4-FFF2-40B4-BE49-F238E27FC236}">
                <a16:creationId xmlns:a16="http://schemas.microsoft.com/office/drawing/2014/main" id="{FFABEF47-4C5F-4AEC-AFDE-F79575FE1DCB}"/>
              </a:ext>
            </a:extLst>
          </p:cNvPr>
          <p:cNvSpPr>
            <a:spLocks xmlns:a="http://schemas.openxmlformats.org/drawingml/2006/main" noGrp="1"/>
          </p:cNvSpPr>
          <p:nvPr/>
        </p:nvSpPr>
        <p:spPr>
          <a:xfrm xmlns:a="http://schemas.openxmlformats.org/drawingml/2006/main">
            <a:off x="2095500" y="4065360"/>
            <a:ext cx="8858250" cy="631648"/>
          </a:xfrm>
          <a:prstGeom xmlns:a="http://schemas.openxmlformats.org/drawingml/2006/main" prst="rect">
            <a:avLst/>
          </a:prstGeom>
          <a:noFill xmlns:a="http://schemas.openxmlformats.org/drawingml/2006/main"/>
        </p:spPr>
        <p:txBody>
          <a:bodyPr xmlns:a="http://schemas.openxmlformats.org/drawingml/2006/main" wrap="square" lIns="257175" tIns="0" rIns="0" bIns="0" anchor="t">
            <a:spAutoFit/>
          </a:bodyPr>
          <a:lstStyle xmlns:a="http://schemas.openxmlformats.org/drawingml/2006/main"/>
          <a:p xmlns:a="http://schemas.openxmlformats.org/drawingml/2006/main">
            <a:pPr algn="r">
              <a:lnSpc>
                <a:spcPts val="2640"/>
              </a:lnSpc>
              <a:buNone/>
            </a:pPr>
            <a:r>
              <a:rPr sz="1650" b="1">
                <a:solidFill>
                  <a:schemeClr val="bg1"/>
                </a:solidFill>
                <a:latin typeface="Arial"/>
                <a:ea typeface="Arial"/>
                <a:cs typeface="Arial"/>
              </a:rPr>
              <a:t>המרפאה הדיגיטלית (</a:t>
            </a:r>
            <a:r>
              <a:rPr sz="1650" b="1">
                <a:solidFill>
                  <a:schemeClr val="bg1"/>
                </a:solidFill>
                <a:latin typeface="Arial"/>
                <a:ea typeface="Arial"/>
                <a:cs typeface="Arial"/>
              </a:rPr>
              <a:t>DigitalCare</a:t>
            </a:r>
            <a:r>
              <a:rPr sz="1650" b="1">
                <a:solidFill>
                  <a:schemeClr val="bg1"/>
                </a:solidFill>
                <a:latin typeface="Arial"/>
                <a:ea typeface="Arial"/>
                <a:cs typeface="Arial"/>
              </a:rPr>
              <a:t>): </a:t>
            </a:r>
            <a:r>
              <a:rPr sz="1650">
                <a:solidFill>
                  <a:srgbClr val="334155"/>
                </a:solidFill>
                <a:latin typeface="Arial"/>
                <a:ea typeface="Arial"/>
                <a:cs typeface="Arial"/>
              </a:rPr>
              <a:t>ממשק פניות מתקדם הכולל אינטגרציה ישירה לשיחות וידאו דרך</a:t>
            </a:r>
            <a:r>
              <a:rPr sz="1650">
                <a:solidFill>
                  <a:srgbClr val="334155"/>
                </a:solidFill>
                <a:latin typeface="Arial"/>
                <a:ea typeface="Arial"/>
                <a:cs typeface="Arial"/>
              </a:rPr>
              <a:t> Google Meet</a:t>
            </a:r>
            <a:r>
              <a:rPr sz="1650">
                <a:solidFill>
                  <a:srgbClr val="334155"/>
                </a:solidFill>
                <a:latin typeface="Arial"/>
                <a:ea typeface="Arial"/>
                <a:cs typeface="Arial"/>
              </a:rPr>
              <a:t>, </a:t>
            </a:r>
            <a:r>
              <a:rPr sz="1650">
                <a:solidFill>
                  <a:srgbClr val="334155"/>
                </a:solidFill>
                <a:latin typeface="Arial"/>
                <a:ea typeface="Arial"/>
                <a:cs typeface="Arial"/>
              </a:rPr>
              <a:t>ניהול סטטוסים אוטומטי וארכיון חכם.</a:t>
            </a:r>
          </a:p>
        </p:txBody>
      </p:sp>
      <p:sp>
        <p:nvSpPr>
          <p:cNvPr id="6" name="TextBox 5">
            <a:extLst xmlns:a="http://schemas.openxmlformats.org/drawingml/2006/main">
              <a:ext uri="{FF2B5EF4-FFF2-40B4-BE49-F238E27FC236}">
                <a16:creationId xmlns:a16="http://schemas.microsoft.com/office/drawing/2014/main" id="{B5836738-5B27-495F-B03A-B11ACEBCFCCE}"/>
              </a:ext>
            </a:extLst>
          </p:cNvPr>
          <p:cNvSpPr>
            <a:spLocks xmlns:a="http://schemas.openxmlformats.org/drawingml/2006/main" noGrp="1"/>
          </p:cNvSpPr>
          <p:nvPr/>
        </p:nvSpPr>
        <p:spPr>
          <a:xfrm xmlns:a="http://schemas.openxmlformats.org/drawingml/2006/main">
            <a:off x="2095500" y="4849981"/>
            <a:ext cx="8858250" cy="1333698"/>
          </a:xfrm>
          <a:prstGeom xmlns:a="http://schemas.openxmlformats.org/drawingml/2006/main" prst="rect">
            <a:avLst/>
          </a:prstGeom>
          <a:noFill xmlns:a="http://schemas.openxmlformats.org/drawingml/2006/main"/>
        </p:spPr>
        <p:txBody>
          <a:bodyPr xmlns:a="http://schemas.openxmlformats.org/drawingml/2006/main" wrap="square" lIns="228600" tIns="0" rIns="0" bIns="0" anchor="t">
            <a:spAutoFit/>
          </a:bodyPr>
          <a:lstStyle xmlns:a="http://schemas.openxmlformats.org/drawingml/2006/main"/>
          <a:p xmlns:a="http://schemas.openxmlformats.org/drawingml/2006/main">
            <a:pPr algn="r">
              <a:lnSpc>
                <a:spcPts val="2640"/>
              </a:lnSpc>
              <a:buNone/>
            </a:pPr>
            <a:r>
              <a:rPr sz="1650" b="1">
                <a:solidFill>
                  <a:schemeClr val="bg1"/>
                </a:solidFill>
                <a:latin typeface="Arial"/>
                <a:ea typeface="Arial"/>
                <a:cs typeface="Arial"/>
              </a:rPr>
              <a:t>פורטל לקוחות: </a:t>
            </a:r>
            <a:r>
              <a:rPr sz="1650">
                <a:solidFill>
                  <a:srgbClr val="334155"/>
                </a:solidFill>
                <a:latin typeface="Arial"/>
                <a:ea typeface="Arial"/>
                <a:cs typeface="Arial"/>
              </a:rPr>
              <a:t>המערכת מאפשרת לכל לקוח של המרפאה\ בית החולים אפליקציה ייחודית. באפליקציה ניתן לקבוע תור, לצפות בתיק רפואי ולהורידו למכשיר, לקבוע תור דיגיטלי ולהתכתב עם המרפאה, לצפות בסיכום ביקורים ועוד.</a:t>
            </a:r>
          </a:p>
          <a:p xmlns:a="http://schemas.openxmlformats.org/drawingml/2006/main">
            <a:pPr algn="r">
              <a:lnSpc>
                <a:spcPts val="2640"/>
              </a:lnSpc>
              <a:buNone/>
            </a:pPr>
            <a:endParaRPr sz="1650" b="0" i="0" u="none">
              <a:solidFill>
                <a:srgbClr val="334155"/>
              </a:solidFill>
              <a:latin typeface="Arial"/>
              <a:ea typeface="Arial"/>
              <a:cs typeface="Arial"/>
            </a:endParaRPr>
          </a:p>
        </p:txBody>
      </p:sp>
      <p:pic>
        <p:nvPicPr>
          <p:cNvPr id="20" name="Picture 6"/>
          <p:cNvPicPr>
            <a:picLocks xmlns:a="http://schemas.openxmlformats.org/drawingml/2006/main" noChangeAspect="1"/>
          </p:cNvPicPr>
          <p:nvPr/>
        </p:nvPicPr>
        <p:blipFill>
          <a:blip xmlns:r="http://schemas.openxmlformats.org/officeDocument/2006/relationships" xmlns:a="http://schemas.openxmlformats.org/drawingml/2006/main" r:embed="R5424bd60a2ee42c3"/>
          <a:stretch xmlns:a="http://schemas.openxmlformats.org/drawingml/2006/main">
            <a:fillRect l="0" t="0" r="0" b="0"/>
          </a:stretch>
        </p:blipFill>
        <p:spPr>
          <a:xfrm xmlns:a="http://schemas.openxmlformats.org/drawingml/2006/main">
            <a:off x="11182350" y="1965891"/>
            <a:ext cx="200025" cy="247650"/>
          </a:xfrm>
          <a:prstGeom xmlns:a="http://schemas.openxmlformats.org/drawingml/2006/main" prst="rect">
            <a:avLst/>
          </a:prstGeom>
        </p:spPr>
      </p:pic>
      <p:pic>
        <p:nvPicPr>
          <p:cNvPr id="21" name="Picture 7"/>
          <p:cNvPicPr>
            <a:picLocks xmlns:a="http://schemas.openxmlformats.org/drawingml/2006/main" noChangeAspect="1"/>
          </p:cNvPicPr>
          <p:nvPr/>
        </p:nvPicPr>
        <p:blipFill>
          <a:blip xmlns:r="http://schemas.openxmlformats.org/officeDocument/2006/relationships" xmlns:a="http://schemas.openxmlformats.org/drawingml/2006/main" r:embed="R1bfb3e4035ea4798"/>
          <a:stretch xmlns:a="http://schemas.openxmlformats.org/drawingml/2006/main">
            <a:fillRect l="0" t="0" r="0" b="0"/>
          </a:stretch>
        </p:blipFill>
        <p:spPr>
          <a:xfrm xmlns:a="http://schemas.openxmlformats.org/drawingml/2006/main">
            <a:off x="11153775" y="3309313"/>
            <a:ext cx="228600" cy="247650"/>
          </a:xfrm>
          <a:prstGeom xmlns:a="http://schemas.openxmlformats.org/drawingml/2006/main" prst="rect">
            <a:avLst/>
          </a:prstGeom>
        </p:spPr>
      </p:pic>
      <p:pic>
        <p:nvPicPr>
          <p:cNvPr id="22" name="Picture 8"/>
          <p:cNvPicPr>
            <a:picLocks xmlns:a="http://schemas.openxmlformats.org/drawingml/2006/main" noChangeAspect="1"/>
          </p:cNvPicPr>
          <p:nvPr/>
        </p:nvPicPr>
        <p:blipFill>
          <a:blip xmlns:r="http://schemas.openxmlformats.org/officeDocument/2006/relationships" xmlns:a="http://schemas.openxmlformats.org/drawingml/2006/main" r:embed="Rec3220153ac64b23"/>
          <a:stretch xmlns:a="http://schemas.openxmlformats.org/drawingml/2006/main">
            <a:fillRect l="0" t="0" r="0" b="0"/>
          </a:stretch>
        </p:blipFill>
        <p:spPr>
          <a:xfrm xmlns:a="http://schemas.openxmlformats.org/drawingml/2006/main">
            <a:off x="11125200" y="4093935"/>
            <a:ext cx="257175" cy="247650"/>
          </a:xfrm>
          <a:prstGeom xmlns:a="http://schemas.openxmlformats.org/drawingml/2006/main" prst="rect">
            <a:avLst/>
          </a:prstGeom>
        </p:spPr>
      </p:pic>
      <p:pic>
        <p:nvPicPr>
          <p:cNvPr id="23" name="Picture 9"/>
          <p:cNvPicPr>
            <a:picLocks xmlns:a="http://schemas.openxmlformats.org/drawingml/2006/main" noChangeAspect="1"/>
          </p:cNvPicPr>
          <p:nvPr/>
        </p:nvPicPr>
        <p:blipFill>
          <a:blip xmlns:r="http://schemas.openxmlformats.org/officeDocument/2006/relationships" xmlns:a="http://schemas.openxmlformats.org/drawingml/2006/main" r:embed="R33414978e23b4a8f"/>
          <a:stretch xmlns:a="http://schemas.openxmlformats.org/drawingml/2006/main">
            <a:fillRect l="0" t="0" r="0" b="0"/>
          </a:stretch>
        </p:blipFill>
        <p:spPr>
          <a:xfrm xmlns:a="http://schemas.openxmlformats.org/drawingml/2006/main">
            <a:off x="11153775" y="4878556"/>
            <a:ext cx="228600" cy="247650"/>
          </a:xfrm>
          <a:prstGeom xmlns:a="http://schemas.openxmlformats.org/drawingml/2006/main" prst="rect">
            <a:avLst/>
          </a:prstGeom>
        </p:spPr>
      </p:pic>
      <p:sp>
        <p:nvSpPr>
          <p:cNvPr id="11" name="TextBox 10">
            <a:extLst xmlns:a="http://schemas.openxmlformats.org/drawingml/2006/main">
              <a:ext uri="{FF2B5EF4-FFF2-40B4-BE49-F238E27FC236}">
                <a16:creationId xmlns:a16="http://schemas.microsoft.com/office/drawing/2014/main" id="{EA33F4B1-59CE-4228-9AB3-9200195C0AFE}"/>
              </a:ext>
            </a:extLst>
          </p:cNvPr>
          <p:cNvSpPr>
            <a:spLocks xmlns:a="http://schemas.openxmlformats.org/drawingml/2006/main" noGrp="1"/>
          </p:cNvSpPr>
          <p:nvPr/>
        </p:nvSpPr>
        <p:spPr>
          <a:xfrm xmlns:a="http://schemas.openxmlformats.org/drawingml/2006/main">
            <a:off x="2153392" y="511876"/>
            <a:ext cx="7885215" cy="600164"/>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ctr">
              <a:buNone/>
            </a:pPr>
            <a:r>
              <a:rPr sz="3900" b="1">
                <a:solidFill>
                  <a:schemeClr val="bg1"/>
                </a:solidFill>
                <a:latin typeface="Arial"/>
                <a:ea typeface="Arial"/>
                <a:cs typeface="Arial"/>
              </a:rPr>
              <a:t>פיצ'רים טכנולוגיים מעל ומעבר לשוק</a:t>
            </a:r>
          </a:p>
        </p:txBody>
      </p:sp>
    </p:spTree>
    <p:extLst>
      <p:ext uri="{BB962C8B-B14F-4D97-AF65-F5344CB8AC3E}">
        <p14:creationId xmlns:p14="http://schemas.microsoft.com/office/powerpoint/2010/main" val="122192681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 name="Rectangle 2">
            <a:extLst xmlns:a="http://schemas.openxmlformats.org/drawingml/2006/main">
              <a:ext uri="{FF2B5EF4-FFF2-40B4-BE49-F238E27FC236}">
                <a16:creationId xmlns:a16="http://schemas.microsoft.com/office/drawing/2014/main" id="{8C870A54-F712-418C-8F46-88D1CE59CF2D}"/>
              </a:ext>
            </a:extLst>
          </p:cNvPr>
          <p:cNvSpPr>
            <a:spLocks xmlns:a="http://schemas.openxmlformats.org/drawingml/2006/main" noGrp="1"/>
          </p:cNvSpPr>
          <p:nvPr/>
        </p:nvSpPr>
        <p:spPr>
          <a:xfrm xmlns:a="http://schemas.openxmlformats.org/drawingml/2006/main">
            <a:off x="5524500" y="2572642"/>
            <a:ext cx="1143000" cy="57150"/>
          </a:xfrm>
          <a:prstGeom xmlns:a="http://schemas.openxmlformats.org/drawingml/2006/main" prst="rect">
            <a:avLst/>
          </a:prstGeom>
          <a:solidFill xmlns:a="http://schemas.openxmlformats.org/drawingml/2006/main">
            <a:srgbClr val="2563E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392CA96B-D4C6-4514-87D9-A27AB84EEFE1}"/>
              </a:ext>
            </a:extLst>
          </p:cNvPr>
          <p:cNvSpPr>
            <a:spLocks xmlns:a="http://schemas.openxmlformats.org/drawingml/2006/main" noGrp="1"/>
          </p:cNvSpPr>
          <p:nvPr/>
        </p:nvSpPr>
        <p:spPr>
          <a:xfrm xmlns:a="http://schemas.openxmlformats.org/drawingml/2006/main">
            <a:off x="2795587" y="2915542"/>
            <a:ext cx="6600825" cy="738664"/>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ctr">
              <a:buNone/>
            </a:pPr>
            <a:r>
              <a:rPr sz="4800">
                <a:solidFill>
                  <a:srgbClr val="1E40AF"/>
                </a:solidFill>
                <a:latin typeface="Heebo ExtraBold"/>
                <a:ea typeface="Heebo ExtraBold"/>
                <a:cs typeface="Heebo ExtraBold"/>
              </a:rPr>
              <a:t>טכנולוגיה וארכיטקטורה</a:t>
            </a:r>
          </a:p>
        </p:txBody>
      </p:sp>
    </p:spTree>
    <p:extLst>
      <p:ext uri="{BB962C8B-B14F-4D97-AF65-F5344CB8AC3E}">
        <p14:creationId xmlns:p14="http://schemas.microsoft.com/office/powerpoint/2010/main" val="87183963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4" name="TextBox 3">
            <a:extLst xmlns:a="http://schemas.openxmlformats.org/drawingml/2006/main">
              <a:ext uri="{FF2B5EF4-FFF2-40B4-BE49-F238E27FC236}">
                <a16:creationId xmlns:a16="http://schemas.microsoft.com/office/drawing/2014/main" id="{CDBD0B18-D433-4821-8788-272DAD015362}"/>
              </a:ext>
            </a:extLst>
          </p:cNvPr>
          <p:cNvSpPr>
            <a:spLocks xmlns:a="http://schemas.openxmlformats.org/drawingml/2006/main" noGrp="1"/>
          </p:cNvSpPr>
          <p:nvPr/>
        </p:nvSpPr>
        <p:spPr>
          <a:xfrm xmlns:a="http://schemas.openxmlformats.org/drawingml/2006/main">
            <a:off x="6069806" y="1576475"/>
            <a:ext cx="5550693" cy="323165"/>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2100">
                <a:solidFill>
                  <a:schemeClr val="bg1"/>
                </a:solidFill>
                <a:latin typeface="Arial"/>
                <a:ea typeface="Arial"/>
                <a:cs typeface="Arial"/>
              </a:rPr>
              <a:t>צד לקוח </a:t>
            </a:r>
            <a:r>
              <a:rPr sz="2100">
                <a:solidFill>
                  <a:schemeClr val="bg1"/>
                </a:solidFill>
                <a:latin typeface="Arial"/>
                <a:ea typeface="Arial"/>
                <a:cs typeface="Arial"/>
              </a:rPr>
              <a:t>Frontend</a:t>
            </a:r>
            <a:r>
              <a:rPr sz="2100">
                <a:solidFill>
                  <a:schemeClr val="bg1"/>
                </a:solidFill>
                <a:latin typeface="Arial"/>
                <a:ea typeface="Arial"/>
                <a:cs typeface="Arial"/>
              </a:rPr>
              <a:t> -</a:t>
            </a:r>
            <a:r>
              <a:rPr sz="2100">
                <a:solidFill>
                  <a:schemeClr val="bg1"/>
                </a:solidFill>
                <a:latin typeface="Arial"/>
                <a:ea typeface="Arial"/>
                <a:cs typeface="Arial"/>
              </a:rPr>
              <a:t> </a:t>
            </a:r>
            <a:r>
              <a:rPr sz="2100">
                <a:solidFill>
                  <a:schemeClr val="bg1"/>
                </a:solidFill>
                <a:latin typeface="Arial"/>
                <a:ea typeface="Arial"/>
                <a:cs typeface="Arial"/>
              </a:rPr>
              <a:t>React &amp; TypeScript</a:t>
            </a:r>
          </a:p>
        </p:txBody>
      </p:sp>
      <p:sp>
        <p:nvSpPr>
          <p:cNvPr id="5" name="TextBox 4">
            <a:extLst xmlns:a="http://schemas.openxmlformats.org/drawingml/2006/main">
              <a:ext uri="{FF2B5EF4-FFF2-40B4-BE49-F238E27FC236}">
                <a16:creationId xmlns:a16="http://schemas.microsoft.com/office/drawing/2014/main" id="{E45504C0-4516-41A2-ACF4-2DB001B0D600}"/>
              </a:ext>
            </a:extLst>
          </p:cNvPr>
          <p:cNvSpPr>
            <a:spLocks xmlns:a="http://schemas.openxmlformats.org/drawingml/2006/main" noGrp="1"/>
          </p:cNvSpPr>
          <p:nvPr/>
        </p:nvSpPr>
        <p:spPr>
          <a:xfrm xmlns:a="http://schemas.openxmlformats.org/drawingml/2006/main">
            <a:off x="6334125" y="1995487"/>
            <a:ext cx="5286375" cy="92333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lnSpc>
                <a:spcPts val="2400"/>
              </a:lnSpc>
              <a:buNone/>
            </a:pPr>
            <a:r>
              <a:rPr sz="1500">
                <a:solidFill>
                  <a:srgbClr val="334155"/>
                </a:solidFill>
                <a:latin typeface="Arial"/>
                <a:ea typeface="Arial"/>
                <a:cs typeface="Arial"/>
              </a:rPr>
              <a:t>בחרנו ב-</a:t>
            </a:r>
            <a:r>
              <a:rPr sz="1500" b="1">
                <a:solidFill>
                  <a:srgbClr val="334155"/>
                </a:solidFill>
                <a:latin typeface="Arial"/>
                <a:ea typeface="Arial"/>
                <a:cs typeface="Arial"/>
              </a:rPr>
              <a:t>React </a:t>
            </a:r>
            <a:r>
              <a:rPr sz="1500" b="1">
                <a:solidFill>
                  <a:srgbClr val="334155"/>
                </a:solidFill>
                <a:latin typeface="Arial"/>
                <a:ea typeface="Arial"/>
                <a:cs typeface="Arial"/>
              </a:rPr>
              <a:t> </a:t>
            </a:r>
            <a:r>
              <a:rPr sz="1500">
                <a:solidFill>
                  <a:srgbClr val="334155"/>
                </a:solidFill>
                <a:latin typeface="Arial"/>
                <a:ea typeface="Arial"/>
                <a:cs typeface="Arial"/>
              </a:rPr>
              <a:t>יחד עם</a:t>
            </a:r>
            <a:r>
              <a:rPr sz="1500">
                <a:solidFill>
                  <a:srgbClr val="334155"/>
                </a:solidFill>
                <a:latin typeface="Arial"/>
                <a:ea typeface="Arial"/>
                <a:cs typeface="Arial"/>
              </a:rPr>
              <a:t> </a:t>
            </a:r>
            <a:r>
              <a:rPr sz="1500" b="1">
                <a:solidFill>
                  <a:srgbClr val="334155"/>
                </a:solidFill>
                <a:latin typeface="Arial"/>
                <a:ea typeface="Arial"/>
                <a:cs typeface="Arial"/>
              </a:rPr>
              <a:t>TypeScript</a:t>
            </a:r>
            <a:r>
              <a:rPr sz="1500">
                <a:solidFill>
                  <a:srgbClr val="334155"/>
                </a:solidFill>
                <a:latin typeface="Arial"/>
                <a:ea typeface="Arial"/>
                <a:cs typeface="Arial"/>
              </a:rPr>
              <a:t> </a:t>
            </a:r>
            <a:r>
              <a:rPr sz="1500">
                <a:solidFill>
                  <a:srgbClr val="334155"/>
                </a:solidFill>
                <a:latin typeface="Arial"/>
                <a:ea typeface="Arial"/>
                <a:cs typeface="Arial"/>
              </a:rPr>
              <a:t>בגלל הצורך לבנות ממשק משתמש דינמי, יציב ובטוח. </a:t>
            </a:r>
            <a:r>
              <a:rPr sz="1500">
                <a:solidFill>
                  <a:srgbClr val="334155"/>
                </a:solidFill>
                <a:latin typeface="Arial"/>
                <a:ea typeface="Arial"/>
                <a:cs typeface="Arial"/>
              </a:rPr>
              <a:t> </a:t>
            </a:r>
            <a:r>
              <a:rPr sz="1500">
                <a:solidFill>
                  <a:srgbClr val="334155"/>
                </a:solidFill>
                <a:latin typeface="Arial"/>
                <a:ea typeface="Arial"/>
                <a:cs typeface="Arial"/>
              </a:rPr>
              <a:t>TypeScript</a:t>
            </a:r>
            <a:r>
              <a:rPr sz="1500">
                <a:solidFill>
                  <a:srgbClr val="334155"/>
                </a:solidFill>
                <a:latin typeface="Arial"/>
                <a:ea typeface="Arial"/>
                <a:cs typeface="Arial"/>
              </a:rPr>
              <a:t> </a:t>
            </a:r>
            <a:r>
              <a:rPr sz="1500">
                <a:solidFill>
                  <a:srgbClr val="334155"/>
                </a:solidFill>
                <a:latin typeface="Arial"/>
                <a:ea typeface="Arial"/>
                <a:cs typeface="Arial"/>
              </a:rPr>
              <a:t>מבטיחה שכל מידע רפואי (כמו מודל של "חיסון" או "ביקור") יהיה מוגדר היטב וימנע שגיאות ריצה.</a:t>
            </a:r>
          </a:p>
        </p:txBody>
      </p:sp>
      <p:sp>
        <p:nvSpPr>
          <p:cNvPr id="6" name="TextBox 5">
            <a:extLst xmlns:a="http://schemas.openxmlformats.org/drawingml/2006/main">
              <a:ext uri="{FF2B5EF4-FFF2-40B4-BE49-F238E27FC236}">
                <a16:creationId xmlns:a16="http://schemas.microsoft.com/office/drawing/2014/main" id="{73E372A8-ECFE-4428-9960-747A19514857}"/>
              </a:ext>
            </a:extLst>
          </p:cNvPr>
          <p:cNvSpPr>
            <a:spLocks xmlns:a="http://schemas.openxmlformats.org/drawingml/2006/main" noGrp="1"/>
          </p:cNvSpPr>
          <p:nvPr/>
        </p:nvSpPr>
        <p:spPr>
          <a:xfrm xmlns:a="http://schemas.openxmlformats.org/drawingml/2006/main">
            <a:off x="6334125" y="3357562"/>
            <a:ext cx="5286375" cy="890115"/>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lnSpc>
                <a:spcPts val="2400"/>
              </a:lnSpc>
              <a:buNone/>
            </a:pPr>
            <a:r>
              <a:rPr sz="1500">
                <a:solidFill>
                  <a:srgbClr val="334155"/>
                </a:solidFill>
                <a:latin typeface="Arial"/>
                <a:ea typeface="Arial"/>
                <a:cs typeface="Arial"/>
              </a:rPr>
              <a:t>העיצוב (</a:t>
            </a:r>
            <a:r>
              <a:rPr sz="1500">
                <a:solidFill>
                  <a:srgbClr val="334155"/>
                </a:solidFill>
                <a:latin typeface="Arial"/>
                <a:ea typeface="Arial"/>
                <a:cs typeface="Arial"/>
              </a:rPr>
              <a:t>UI</a:t>
            </a:r>
            <a:r>
              <a:rPr sz="1500">
                <a:solidFill>
                  <a:srgbClr val="334155"/>
                </a:solidFill>
                <a:latin typeface="Arial"/>
                <a:ea typeface="Arial"/>
                <a:cs typeface="Arial"/>
              </a:rPr>
              <a:t>) פותח בעזרת </a:t>
            </a:r>
            <a:r>
              <a:rPr sz="1500" b="1">
                <a:solidFill>
                  <a:srgbClr val="334155"/>
                </a:solidFill>
                <a:latin typeface="Arial"/>
                <a:ea typeface="Arial"/>
                <a:cs typeface="Arial"/>
              </a:rPr>
              <a:t>Tailwind CSS 4</a:t>
            </a:r>
            <a:r>
              <a:rPr sz="1500" b="1">
                <a:solidFill>
                  <a:srgbClr val="334155"/>
                </a:solidFill>
                <a:latin typeface="Arial"/>
                <a:ea typeface="Arial"/>
                <a:cs typeface="Arial"/>
              </a:rPr>
              <a:t>, </a:t>
            </a:r>
            <a:r>
              <a:rPr sz="1500">
                <a:solidFill>
                  <a:srgbClr val="334155"/>
                </a:solidFill>
                <a:latin typeface="Arial"/>
                <a:ea typeface="Arial"/>
                <a:cs typeface="Arial"/>
              </a:rPr>
              <a:t>מה שאפשר לנו לבנות עיצוב </a:t>
            </a:r>
            <a:r>
              <a:rPr sz="1500">
                <a:solidFill>
                  <a:srgbClr val="334155"/>
                </a:solidFill>
                <a:latin typeface="Arial"/>
                <a:ea typeface="Arial"/>
                <a:cs typeface="Arial"/>
              </a:rPr>
              <a:t>רספונסיבי</a:t>
            </a:r>
            <a:r>
              <a:rPr sz="1500">
                <a:solidFill>
                  <a:srgbClr val="334155"/>
                </a:solidFill>
                <a:latin typeface="Arial"/>
                <a:ea typeface="Arial"/>
                <a:cs typeface="Arial"/>
              </a:rPr>
              <a:t> מותאם לנייד (עבור הפורטל) ולמסכים רחבים (לצוות המרפאה) עם תמיכה מושלמת בעברית.</a:t>
            </a:r>
            <a:endParaRPr sz="1500" b="0" i="0" u="none">
              <a:solidFill>
                <a:srgbClr val="334155"/>
              </a:solidFill>
              <a:latin typeface="Arial"/>
              <a:ea typeface="Arial"/>
              <a:cs typeface="Arial"/>
            </a:endParaRPr>
          </a:p>
        </p:txBody>
      </p:sp>
      <p:sp>
        <p:nvSpPr>
          <p:cNvPr id="7" name="TextBox 6">
            <a:extLst xmlns:a="http://schemas.openxmlformats.org/drawingml/2006/main">
              <a:ext uri="{FF2B5EF4-FFF2-40B4-BE49-F238E27FC236}">
                <a16:creationId xmlns:a16="http://schemas.microsoft.com/office/drawing/2014/main" id="{864A97EA-4420-4775-96A8-829B0A228B09}"/>
              </a:ext>
            </a:extLst>
          </p:cNvPr>
          <p:cNvSpPr>
            <a:spLocks xmlns:a="http://schemas.openxmlformats.org/drawingml/2006/main" noGrp="1"/>
          </p:cNvSpPr>
          <p:nvPr/>
        </p:nvSpPr>
        <p:spPr>
          <a:xfrm xmlns:a="http://schemas.openxmlformats.org/drawingml/2006/main">
            <a:off x="-164738" y="3924512"/>
            <a:ext cx="5550693" cy="323165"/>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2100">
                <a:solidFill>
                  <a:schemeClr val="bg1"/>
                </a:solidFill>
                <a:latin typeface="Arial"/>
                <a:ea typeface="Arial"/>
                <a:cs typeface="Arial"/>
              </a:rPr>
              <a:t>סביבה וניהול גרסאות</a:t>
            </a:r>
          </a:p>
        </p:txBody>
      </p:sp>
      <p:sp>
        <p:nvSpPr>
          <p:cNvPr id="9" name="TextBox 8">
            <a:extLst xmlns:a="http://schemas.openxmlformats.org/drawingml/2006/main">
              <a:ext uri="{FF2B5EF4-FFF2-40B4-BE49-F238E27FC236}">
                <a16:creationId xmlns:a16="http://schemas.microsoft.com/office/drawing/2014/main" id="{E775B079-D1CA-47FE-BD15-744D9ADF39B4}"/>
              </a:ext>
            </a:extLst>
          </p:cNvPr>
          <p:cNvSpPr>
            <a:spLocks xmlns:a="http://schemas.openxmlformats.org/drawingml/2006/main" noGrp="1"/>
          </p:cNvSpPr>
          <p:nvPr/>
        </p:nvSpPr>
        <p:spPr>
          <a:xfrm xmlns:a="http://schemas.openxmlformats.org/drawingml/2006/main">
            <a:off x="99580" y="4368002"/>
            <a:ext cx="5286375" cy="1846659"/>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lnSpc>
                <a:spcPts val="2400"/>
              </a:lnSpc>
              <a:buNone/>
            </a:pPr>
            <a:r>
              <a:rPr sz="1500">
                <a:solidFill>
                  <a:srgbClr val="334155"/>
                </a:solidFill>
                <a:latin typeface="Arial"/>
                <a:ea typeface="Arial"/>
                <a:cs typeface="Arial"/>
              </a:rPr>
              <a:t>ניהול הקוד והגרסאות מתבצע באמצעות </a:t>
            </a:r>
            <a:r>
              <a:rPr sz="1500" b="1">
                <a:solidFill>
                  <a:srgbClr val="334155"/>
                </a:solidFill>
                <a:latin typeface="Arial"/>
                <a:ea typeface="Arial"/>
                <a:cs typeface="Arial"/>
              </a:rPr>
              <a:t>Git</a:t>
            </a:r>
            <a:r>
              <a:rPr sz="1500">
                <a:solidFill>
                  <a:srgbClr val="334155"/>
                </a:solidFill>
                <a:latin typeface="Arial"/>
                <a:ea typeface="Arial"/>
                <a:cs typeface="Arial"/>
              </a:rPr>
              <a:t> </a:t>
            </a:r>
            <a:r>
              <a:rPr sz="1500" b="1">
                <a:solidFill>
                  <a:srgbClr val="334155"/>
                </a:solidFill>
                <a:latin typeface="Arial"/>
                <a:ea typeface="Arial"/>
                <a:cs typeface="Arial"/>
              </a:rPr>
              <a:t>ו-</a:t>
            </a:r>
            <a:r>
              <a:rPr sz="1500" b="1">
                <a:solidFill>
                  <a:srgbClr val="334155"/>
                </a:solidFill>
                <a:latin typeface="Arial"/>
                <a:ea typeface="Arial"/>
                <a:cs typeface="Arial"/>
              </a:rPr>
              <a:t> GitHub</a:t>
            </a:r>
            <a:r>
              <a:rPr sz="1500">
                <a:solidFill>
                  <a:srgbClr val="334155"/>
                </a:solidFill>
                <a:latin typeface="Arial"/>
                <a:ea typeface="Arial"/>
                <a:cs typeface="Arial"/>
              </a:rPr>
              <a:t> </a:t>
            </a:r>
            <a:r>
              <a:rPr sz="1500">
                <a:solidFill>
                  <a:srgbClr val="334155"/>
                </a:solidFill>
                <a:latin typeface="Arial"/>
                <a:ea typeface="Arial"/>
                <a:cs typeface="Arial"/>
              </a:rPr>
              <a:t>ה</a:t>
            </a:r>
            <a:r>
              <a:rPr sz="1500">
                <a:solidFill>
                  <a:srgbClr val="334155"/>
                </a:solidFill>
                <a:latin typeface="Arial"/>
                <a:ea typeface="Arial"/>
                <a:cs typeface="Arial"/>
              </a:rPr>
              <a:t>מאפשר עבודת צוות מתואמת, עבודה עם ענפים,  שמירת היסטוריית שינויים, ופריסה רציפה</a:t>
            </a:r>
          </a:p>
          <a:p xmlns:a="http://schemas.openxmlformats.org/drawingml/2006/main">
            <a:pPr algn="r">
              <a:lnSpc>
                <a:spcPts val="2400"/>
              </a:lnSpc>
              <a:buNone/>
            </a:pPr>
            <a:r>
              <a:rPr sz="1500">
                <a:solidFill>
                  <a:srgbClr val="334155"/>
                </a:solidFill>
                <a:latin typeface="Arial"/>
                <a:ea typeface="Arial"/>
                <a:cs typeface="Arial"/>
              </a:rPr>
              <a:t> (</a:t>
            </a:r>
            <a:r>
              <a:rPr sz="1500">
                <a:solidFill>
                  <a:srgbClr val="334155"/>
                </a:solidFill>
                <a:latin typeface="Arial"/>
                <a:ea typeface="Arial"/>
                <a:cs typeface="Arial"/>
              </a:rPr>
              <a:t>CI/CD</a:t>
            </a:r>
            <a:r>
              <a:rPr sz="1500">
                <a:solidFill>
                  <a:srgbClr val="334155"/>
                </a:solidFill>
                <a:latin typeface="Arial"/>
                <a:ea typeface="Arial"/>
                <a:cs typeface="Arial"/>
              </a:rPr>
              <a:t>) לשרתי </a:t>
            </a:r>
            <a:r>
              <a:rPr sz="1500" b="1">
                <a:solidFill>
                  <a:srgbClr val="334155"/>
                </a:solidFill>
                <a:latin typeface="Arial"/>
                <a:ea typeface="Arial"/>
                <a:cs typeface="Arial"/>
              </a:rPr>
              <a:t>Vercel</a:t>
            </a:r>
            <a:r>
              <a:rPr sz="1500">
                <a:solidFill>
                  <a:srgbClr val="334155"/>
                </a:solidFill>
                <a:latin typeface="Arial"/>
                <a:ea typeface="Arial"/>
                <a:cs typeface="Arial"/>
              </a:rPr>
              <a:t> המשמשים כ-</a:t>
            </a:r>
            <a:r>
              <a:rPr sz="1500">
                <a:solidFill>
                  <a:srgbClr val="334155"/>
                </a:solidFill>
                <a:latin typeface="Arial"/>
                <a:ea typeface="Arial"/>
                <a:cs typeface="Arial"/>
              </a:rPr>
              <a:t>Hosting</a:t>
            </a:r>
            <a:r>
              <a:rPr sz="1500">
                <a:solidFill>
                  <a:srgbClr val="334155"/>
                </a:solidFill>
                <a:latin typeface="Arial"/>
                <a:ea typeface="Arial"/>
                <a:cs typeface="Arial"/>
              </a:rPr>
              <a:t> </a:t>
            </a:r>
            <a:r>
              <a:rPr sz="1500">
                <a:solidFill>
                  <a:srgbClr val="334155"/>
                </a:solidFill>
                <a:latin typeface="Arial"/>
                <a:ea typeface="Arial"/>
                <a:cs typeface="Arial"/>
              </a:rPr>
              <a:t> </a:t>
            </a:r>
            <a:r>
              <a:rPr sz="1500">
                <a:solidFill>
                  <a:srgbClr val="334155"/>
                </a:solidFill>
                <a:latin typeface="Arial"/>
                <a:ea typeface="Arial"/>
                <a:cs typeface="Arial"/>
              </a:rPr>
              <a:t>לצד הלקוח. כמו כן בדיקות, בנית קוד ואפיון המערכת בוצעו בעזרת </a:t>
            </a:r>
            <a:r>
              <a:rPr sz="1500">
                <a:solidFill>
                  <a:srgbClr val="334155"/>
                </a:solidFill>
                <a:latin typeface="Arial"/>
                <a:ea typeface="Arial"/>
                <a:cs typeface="Arial"/>
              </a:rPr>
              <a:t>Codex</a:t>
            </a:r>
            <a:r>
              <a:rPr sz="1500">
                <a:solidFill>
                  <a:srgbClr val="334155"/>
                </a:solidFill>
                <a:latin typeface="Arial"/>
                <a:ea typeface="Arial"/>
                <a:cs typeface="Arial"/>
              </a:rPr>
              <a:t>.</a:t>
            </a:r>
          </a:p>
          <a:p xmlns:a="http://schemas.openxmlformats.org/drawingml/2006/main">
            <a:pPr algn="r">
              <a:lnSpc>
                <a:spcPts val="2400"/>
              </a:lnSpc>
              <a:buNone/>
            </a:pPr>
            <a:endParaRPr sz="1500" b="0" i="0" u="none">
              <a:solidFill>
                <a:srgbClr val="334155"/>
              </a:solidFill>
              <a:latin typeface="Arial"/>
              <a:ea typeface="Arial"/>
              <a:cs typeface="Arial"/>
            </a:endParaRPr>
          </a:p>
        </p:txBody>
      </p:sp>
      <p:sp>
        <p:nvSpPr>
          <p:cNvPr id="11" name="TextBox 10">
            <a:extLst xmlns:a="http://schemas.openxmlformats.org/drawingml/2006/main">
              <a:ext uri="{FF2B5EF4-FFF2-40B4-BE49-F238E27FC236}">
                <a16:creationId xmlns:a16="http://schemas.microsoft.com/office/drawing/2014/main" id="{3BA45CD4-C05B-4835-A7AD-6963582363F8}"/>
              </a:ext>
            </a:extLst>
          </p:cNvPr>
          <p:cNvSpPr>
            <a:spLocks xmlns:a="http://schemas.openxmlformats.org/drawingml/2006/main" noGrp="1"/>
          </p:cNvSpPr>
          <p:nvPr/>
        </p:nvSpPr>
        <p:spPr>
          <a:xfrm xmlns:a="http://schemas.openxmlformats.org/drawingml/2006/main">
            <a:off x="19050" y="261937"/>
            <a:ext cx="11601450" cy="600164"/>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ctr">
              <a:buNone/>
            </a:pPr>
            <a:r>
              <a:rPr sz="3900" b="1">
                <a:solidFill>
                  <a:schemeClr val="bg1"/>
                </a:solidFill>
                <a:latin typeface="Arial"/>
                <a:ea typeface="Arial"/>
                <a:cs typeface="Arial"/>
              </a:rPr>
              <a:t>סביבת הפיתוח:</a:t>
            </a:r>
            <a:r>
              <a:rPr sz="3900" b="1">
                <a:solidFill>
                  <a:schemeClr val="bg1"/>
                </a:solidFill>
                <a:latin typeface="Arial"/>
                <a:ea typeface="Arial"/>
                <a:cs typeface="Arial"/>
              </a:rPr>
              <a:t>Frontend </a:t>
            </a:r>
            <a:r>
              <a:rPr sz="3900" b="1">
                <a:solidFill>
                  <a:schemeClr val="bg1"/>
                </a:solidFill>
                <a:latin typeface="Arial"/>
                <a:ea typeface="Arial"/>
                <a:cs typeface="Arial"/>
              </a:rPr>
              <a:t> וניהול גרסאות</a:t>
            </a:r>
          </a:p>
        </p:txBody>
      </p:sp>
    </p:spTree>
    <p:extLst>
      <p:ext uri="{BB962C8B-B14F-4D97-AF65-F5344CB8AC3E}">
        <p14:creationId xmlns:p14="http://schemas.microsoft.com/office/powerpoint/2010/main" val="607816381"/>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28" name="Picture 2"/>
          <p:cNvPicPr>
            <a:picLocks xmlns:a="http://schemas.openxmlformats.org/drawingml/2006/main" noChangeAspect="1"/>
          </p:cNvPicPr>
          <p:nvPr/>
        </p:nvPicPr>
        <p:blipFill>
          <a:blip xmlns:r="http://schemas.openxmlformats.org/officeDocument/2006/relationships" xmlns:a="http://schemas.openxmlformats.org/drawingml/2006/main" r:embed="R092e257d65f14442">
            <a:duotone>
              <a:prstClr val="black"/>
              <a:schemeClr val="tx2">
                <a:tint val="45000"/>
                <a:satMod val="400000"/>
              </a:schemeClr>
            </a:duotone>
          </a:blip>
          <a:stretch xmlns:a="http://schemas.openxmlformats.org/drawingml/2006/main">
            <a:fillRect l="0" t="0" r="0" b="0"/>
          </a:stretch>
        </p:blipFill>
        <p:spPr>
          <a:xfrm xmlns:a="http://schemas.openxmlformats.org/drawingml/2006/main">
            <a:off x="8127950" y="1928812"/>
            <a:ext cx="3492549" cy="4200525"/>
          </a:xfrm>
          <a:prstGeom xmlns:a="http://schemas.openxmlformats.org/drawingml/2006/main" prst="rect">
            <a:avLst/>
          </a:prstGeom>
        </p:spPr>
      </p:pic>
      <p:pic>
        <p:nvPicPr>
          <p:cNvPr id="29" name="Picture 3"/>
          <p:cNvPicPr>
            <a:picLocks xmlns:a="http://schemas.openxmlformats.org/drawingml/2006/main" noChangeAspect="1"/>
          </p:cNvPicPr>
          <p:nvPr/>
        </p:nvPicPr>
        <p:blipFill>
          <a:blip xmlns:r="http://schemas.openxmlformats.org/officeDocument/2006/relationships" xmlns:a="http://schemas.openxmlformats.org/drawingml/2006/main" r:embed="Rf6369dd090174d60">
            <a:duotone>
              <a:prstClr val="black"/>
              <a:schemeClr val="tx2">
                <a:tint val="45000"/>
                <a:satMod val="400000"/>
              </a:schemeClr>
            </a:duotone>
          </a:blip>
          <a:stretch xmlns:a="http://schemas.openxmlformats.org/drawingml/2006/main">
            <a:fillRect l="0" t="0" r="0" b="0"/>
          </a:stretch>
        </p:blipFill>
        <p:spPr>
          <a:xfrm xmlns:a="http://schemas.openxmlformats.org/drawingml/2006/main">
            <a:off x="4349650" y="1928812"/>
            <a:ext cx="3492549" cy="4200525"/>
          </a:xfrm>
          <a:prstGeom xmlns:a="http://schemas.openxmlformats.org/drawingml/2006/main" prst="rect">
            <a:avLst/>
          </a:prstGeom>
        </p:spPr>
      </p:pic>
      <p:pic>
        <p:nvPicPr>
          <p:cNvPr id="30" name="Picture 4"/>
          <p:cNvPicPr>
            <a:picLocks xmlns:a="http://schemas.openxmlformats.org/drawingml/2006/main" noChangeAspect="1"/>
          </p:cNvPicPr>
          <p:nvPr/>
        </p:nvPicPr>
        <p:blipFill>
          <a:blip xmlns:r="http://schemas.openxmlformats.org/officeDocument/2006/relationships" xmlns:a="http://schemas.openxmlformats.org/drawingml/2006/main" r:embed="R0a09c6ae2ada4a05">
            <a:duotone>
              <a:prstClr val="black"/>
              <a:schemeClr val="tx2">
                <a:tint val="45000"/>
                <a:satMod val="400000"/>
              </a:schemeClr>
            </a:duotone>
          </a:blip>
          <a:stretch xmlns:a="http://schemas.openxmlformats.org/drawingml/2006/main">
            <a:fillRect l="0" t="0" r="0" b="0"/>
          </a:stretch>
        </p:blipFill>
        <p:spPr>
          <a:xfrm xmlns:a="http://schemas.openxmlformats.org/drawingml/2006/main">
            <a:off x="571351" y="1928812"/>
            <a:ext cx="3492549" cy="4200525"/>
          </a:xfrm>
          <a:prstGeom xmlns:a="http://schemas.openxmlformats.org/drawingml/2006/main" prst="rect">
            <a:avLst/>
          </a:prstGeom>
        </p:spPr>
      </p:pic>
      <p:pic>
        <p:nvPicPr>
          <p:cNvPr id="31" name="Picture 5"/>
          <p:cNvPicPr>
            <a:picLocks xmlns:a="http://schemas.openxmlformats.org/drawingml/2006/main" noChangeAspect="1"/>
          </p:cNvPicPr>
          <p:nvPr/>
        </p:nvPicPr>
        <p:blipFill>
          <a:blip xmlns:r="http://schemas.openxmlformats.org/officeDocument/2006/relationships" xmlns:a="http://schemas.openxmlformats.org/drawingml/2006/main" r:embed="R19b7bb38d0334f00"/>
          <a:stretch xmlns:a="http://schemas.openxmlformats.org/drawingml/2006/main">
            <a:fillRect l="0" t="0" r="0" b="0"/>
          </a:stretch>
        </p:blipFill>
        <p:spPr>
          <a:xfrm xmlns:a="http://schemas.openxmlformats.org/drawingml/2006/main">
            <a:off x="9445674" y="2271712"/>
            <a:ext cx="857250" cy="857250"/>
          </a:xfrm>
          <a:prstGeom xmlns:a="http://schemas.openxmlformats.org/drawingml/2006/main" prst="rect">
            <a:avLst/>
          </a:prstGeom>
        </p:spPr>
      </p:pic>
      <p:sp>
        <p:nvSpPr>
          <p:cNvPr id="7" name="TextBox 6">
            <a:extLst xmlns:a="http://schemas.openxmlformats.org/drawingml/2006/main">
              <a:ext uri="{FF2B5EF4-FFF2-40B4-BE49-F238E27FC236}">
                <a16:creationId xmlns:a16="http://schemas.microsoft.com/office/drawing/2014/main" id="{E387394E-68C4-41D1-9813-9783D800776A}"/>
              </a:ext>
            </a:extLst>
          </p:cNvPr>
          <p:cNvSpPr>
            <a:spLocks xmlns:a="http://schemas.openxmlformats.org/drawingml/2006/main" noGrp="1"/>
          </p:cNvSpPr>
          <p:nvPr/>
        </p:nvSpPr>
        <p:spPr>
          <a:xfrm xmlns:a="http://schemas.openxmlformats.org/drawingml/2006/main">
            <a:off x="8629143" y="3367087"/>
            <a:ext cx="2490311" cy="253916"/>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1650">
                <a:solidFill>
                  <a:srgbClr val="2563EB"/>
                </a:solidFill>
                <a:latin typeface="Arial"/>
                <a:ea typeface="Arial"/>
                <a:cs typeface="Arial"/>
              </a:rPr>
              <a:t>מסד נתונים</a:t>
            </a:r>
            <a:r>
              <a:rPr sz="1650">
                <a:solidFill>
                  <a:srgbClr val="2563EB"/>
                </a:solidFill>
                <a:latin typeface="Arial"/>
                <a:ea typeface="Arial"/>
                <a:cs typeface="Arial"/>
              </a:rPr>
              <a:t> (</a:t>
            </a:r>
            <a:r>
              <a:rPr sz="1650">
                <a:solidFill>
                  <a:srgbClr val="2563EB"/>
                </a:solidFill>
                <a:latin typeface="Arial"/>
                <a:ea typeface="Arial"/>
                <a:cs typeface="Arial"/>
              </a:rPr>
              <a:t>PostgreSQL</a:t>
            </a:r>
            <a:r>
              <a:rPr sz="1650">
                <a:solidFill>
                  <a:srgbClr val="2563EB"/>
                </a:solidFill>
                <a:latin typeface="Arial"/>
                <a:ea typeface="Arial"/>
                <a:cs typeface="Arial"/>
              </a:rPr>
              <a:t>)</a:t>
            </a:r>
            <a:endParaRPr sz="1650">
              <a:solidFill>
                <a:srgbClr val="2563EB"/>
              </a:solidFill>
              <a:latin typeface="Arial"/>
              <a:ea typeface="Arial"/>
              <a:cs typeface="Arial"/>
            </a:endParaRPr>
          </a:p>
        </p:txBody>
      </p:sp>
      <p:sp>
        <p:nvSpPr>
          <p:cNvPr id="8" name="TextBox 7">
            <a:extLst xmlns:a="http://schemas.openxmlformats.org/drawingml/2006/main">
              <a:ext uri="{FF2B5EF4-FFF2-40B4-BE49-F238E27FC236}">
                <a16:creationId xmlns:a16="http://schemas.microsoft.com/office/drawing/2014/main" id="{9B64C014-42D1-4917-AC46-B4EE5EECD61D}"/>
              </a:ext>
            </a:extLst>
          </p:cNvPr>
          <p:cNvSpPr>
            <a:spLocks xmlns:a="http://schemas.openxmlformats.org/drawingml/2006/main" noGrp="1"/>
          </p:cNvSpPr>
          <p:nvPr/>
        </p:nvSpPr>
        <p:spPr>
          <a:xfrm xmlns:a="http://schemas.openxmlformats.org/drawingml/2006/main">
            <a:off x="8375600" y="3814762"/>
            <a:ext cx="2997249" cy="1538883"/>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lnSpc>
                <a:spcPts val="2400"/>
              </a:lnSpc>
              <a:buNone/>
            </a:pPr>
            <a:r>
              <a:rPr sz="1500">
                <a:solidFill>
                  <a:srgbClr val="334155"/>
                </a:solidFill>
                <a:latin typeface="Arial"/>
                <a:ea typeface="Arial"/>
                <a:cs typeface="Arial"/>
              </a:rPr>
              <a:t>במקום לבנות שרת מסורתי, השתמשנו ב-</a:t>
            </a:r>
            <a:r>
              <a:rPr sz="1500" b="1">
                <a:solidFill>
                  <a:srgbClr val="334155"/>
                </a:solidFill>
                <a:latin typeface="Arial"/>
                <a:ea typeface="Arial"/>
                <a:cs typeface="Arial"/>
              </a:rPr>
              <a:t>Supabase</a:t>
            </a:r>
            <a:r>
              <a:rPr sz="1500">
                <a:solidFill>
                  <a:srgbClr val="334155"/>
                </a:solidFill>
                <a:latin typeface="Arial"/>
                <a:ea typeface="Arial"/>
                <a:cs typeface="Arial"/>
              </a:rPr>
              <a:t> </a:t>
            </a:r>
            <a:r>
              <a:rPr sz="1500">
                <a:solidFill>
                  <a:srgbClr val="334155"/>
                </a:solidFill>
                <a:latin typeface="Arial"/>
                <a:ea typeface="Arial"/>
                <a:cs typeface="Arial"/>
              </a:rPr>
              <a:t> שמספק לנו בסיס נתונים </a:t>
            </a:r>
            <a:r>
              <a:rPr sz="1500">
                <a:solidFill>
                  <a:srgbClr val="334155"/>
                </a:solidFill>
                <a:latin typeface="Arial"/>
                <a:ea typeface="Arial"/>
                <a:cs typeface="Arial"/>
              </a:rPr>
              <a:t>רלוציוני</a:t>
            </a:r>
            <a:r>
              <a:rPr sz="1500">
                <a:solidFill>
                  <a:srgbClr val="334155"/>
                </a:solidFill>
                <a:latin typeface="Arial"/>
                <a:ea typeface="Arial"/>
                <a:cs typeface="Arial"/>
              </a:rPr>
              <a:t> עוצמתי. הוא </a:t>
            </a:r>
            <a:r>
              <a:rPr sz="1500">
                <a:solidFill>
                  <a:srgbClr val="334155"/>
                </a:solidFill>
                <a:latin typeface="Arial"/>
                <a:ea typeface="Arial"/>
                <a:cs typeface="Arial"/>
              </a:rPr>
              <a:t>מאפשר </a:t>
            </a:r>
            <a:r>
              <a:rPr sz="1500">
                <a:solidFill>
                  <a:srgbClr val="334155"/>
                </a:solidFill>
                <a:latin typeface="Arial"/>
                <a:ea typeface="Arial"/>
                <a:cs typeface="Arial"/>
              </a:rPr>
              <a:t>סנכרון </a:t>
            </a:r>
            <a:r>
              <a:rPr sz="1500" b="1">
                <a:solidFill>
                  <a:srgbClr val="334155"/>
                </a:solidFill>
                <a:latin typeface="Arial"/>
                <a:ea typeface="Arial"/>
                <a:cs typeface="Arial"/>
              </a:rPr>
              <a:t>Realtime</a:t>
            </a:r>
            <a:r>
              <a:rPr sz="1500">
                <a:solidFill>
                  <a:srgbClr val="334155"/>
                </a:solidFill>
                <a:latin typeface="Arial"/>
                <a:ea typeface="Arial"/>
                <a:cs typeface="Arial"/>
              </a:rPr>
              <a:t> </a:t>
            </a:r>
            <a:r>
              <a:rPr sz="1500">
                <a:solidFill>
                  <a:srgbClr val="334155"/>
                </a:solidFill>
                <a:latin typeface="Arial"/>
                <a:ea typeface="Arial"/>
                <a:cs typeface="Arial"/>
              </a:rPr>
              <a:t> כך שהצוות רואה תורים מתעדכנים </a:t>
            </a:r>
            <a:r>
              <a:rPr sz="1500">
                <a:solidFill>
                  <a:srgbClr val="334155"/>
                </a:solidFill>
                <a:latin typeface="Arial"/>
                <a:ea typeface="Arial"/>
                <a:cs typeface="Arial"/>
              </a:rPr>
              <a:t>מיידית</a:t>
            </a:r>
            <a:r>
              <a:rPr sz="1500">
                <a:solidFill>
                  <a:srgbClr val="334155"/>
                </a:solidFill>
                <a:latin typeface="Arial"/>
                <a:ea typeface="Arial"/>
                <a:cs typeface="Arial"/>
              </a:rPr>
              <a:t>.</a:t>
            </a:r>
            <a:endParaRPr sz="1500" b="0" i="0" u="none">
              <a:solidFill>
                <a:srgbClr val="334155"/>
              </a:solidFill>
              <a:latin typeface="Arial"/>
              <a:ea typeface="Arial"/>
              <a:cs typeface="Arial"/>
            </a:endParaRPr>
          </a:p>
        </p:txBody>
      </p:sp>
      <p:pic>
        <p:nvPicPr>
          <p:cNvPr id="34" name="Picture 8"/>
          <p:cNvPicPr>
            <a:picLocks xmlns:a="http://schemas.openxmlformats.org/drawingml/2006/main" noChangeAspect="1"/>
          </p:cNvPicPr>
          <p:nvPr/>
        </p:nvPicPr>
        <p:blipFill>
          <a:blip xmlns:r="http://schemas.openxmlformats.org/officeDocument/2006/relationships" xmlns:a="http://schemas.openxmlformats.org/drawingml/2006/main" r:embed="R1270c2cdd0304889"/>
          <a:stretch xmlns:a="http://schemas.openxmlformats.org/drawingml/2006/main">
            <a:fillRect l="0" t="0" r="0" b="0"/>
          </a:stretch>
        </p:blipFill>
        <p:spPr>
          <a:xfrm xmlns:a="http://schemas.openxmlformats.org/drawingml/2006/main">
            <a:off x="5667375" y="2271712"/>
            <a:ext cx="857250" cy="857250"/>
          </a:xfrm>
          <a:prstGeom xmlns:a="http://schemas.openxmlformats.org/drawingml/2006/main" prst="rect">
            <a:avLst/>
          </a:prstGeom>
        </p:spPr>
      </p:pic>
      <p:sp>
        <p:nvSpPr>
          <p:cNvPr id="10" name="TextBox 9">
            <a:extLst xmlns:a="http://schemas.openxmlformats.org/drawingml/2006/main">
              <a:ext uri="{FF2B5EF4-FFF2-40B4-BE49-F238E27FC236}">
                <a16:creationId xmlns:a16="http://schemas.microsoft.com/office/drawing/2014/main" id="{D0FD8AE4-00C8-4247-A488-362F67DFF9DF}"/>
              </a:ext>
            </a:extLst>
          </p:cNvPr>
          <p:cNvSpPr>
            <a:spLocks xmlns:a="http://schemas.openxmlformats.org/drawingml/2006/main" noGrp="1"/>
          </p:cNvSpPr>
          <p:nvPr/>
        </p:nvSpPr>
        <p:spPr>
          <a:xfrm xmlns:a="http://schemas.openxmlformats.org/drawingml/2006/main">
            <a:off x="5160883" y="3367087"/>
            <a:ext cx="1870233" cy="253916"/>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1650">
                <a:solidFill>
                  <a:srgbClr val="2563EB"/>
                </a:solidFill>
                <a:latin typeface="Arial"/>
                <a:ea typeface="Arial"/>
                <a:cs typeface="Arial"/>
              </a:rPr>
              <a:t>אבטחה ו-</a:t>
            </a:r>
            <a:r>
              <a:rPr sz="1650">
                <a:solidFill>
                  <a:srgbClr val="2563EB"/>
                </a:solidFill>
                <a:latin typeface="Arial"/>
                <a:ea typeface="Arial"/>
                <a:cs typeface="Arial"/>
              </a:rPr>
              <a:t>API (RLS)</a:t>
            </a:r>
            <a:r>
              <a:rPr sz="1650">
                <a:solidFill>
                  <a:srgbClr val="2563EB"/>
                </a:solidFill>
                <a:latin typeface="Arial"/>
                <a:ea typeface="Arial"/>
                <a:cs typeface="Arial"/>
              </a:rPr>
              <a:t> </a:t>
            </a:r>
            <a:endParaRPr sz="1650">
              <a:solidFill>
                <a:srgbClr val="2563EB"/>
              </a:solidFill>
              <a:latin typeface="Arial"/>
              <a:ea typeface="Arial"/>
              <a:cs typeface="Arial"/>
            </a:endParaRPr>
          </a:p>
        </p:txBody>
      </p:sp>
      <p:sp>
        <p:nvSpPr>
          <p:cNvPr id="11" name="TextBox 10">
            <a:extLst xmlns:a="http://schemas.openxmlformats.org/drawingml/2006/main">
              <a:ext uri="{FF2B5EF4-FFF2-40B4-BE49-F238E27FC236}">
                <a16:creationId xmlns:a16="http://schemas.microsoft.com/office/drawing/2014/main" id="{AAB9D4F1-FF9F-47C7-B7F1-E6011D7DF697}"/>
              </a:ext>
            </a:extLst>
          </p:cNvPr>
          <p:cNvSpPr>
            <a:spLocks xmlns:a="http://schemas.openxmlformats.org/drawingml/2006/main" noGrp="1"/>
          </p:cNvSpPr>
          <p:nvPr/>
        </p:nvSpPr>
        <p:spPr>
          <a:xfrm xmlns:a="http://schemas.openxmlformats.org/drawingml/2006/main">
            <a:off x="4597300" y="3814762"/>
            <a:ext cx="2997249" cy="2154436"/>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lnSpc>
                <a:spcPts val="2400"/>
              </a:lnSpc>
              <a:buNone/>
            </a:pPr>
            <a:r>
              <a:rPr sz="1500">
                <a:solidFill>
                  <a:srgbClr val="334155"/>
                </a:solidFill>
                <a:latin typeface="Arial"/>
                <a:ea typeface="Arial"/>
                <a:cs typeface="Arial"/>
              </a:rPr>
              <a:t>האבטחה לא מסתמכת רק על ה- </a:t>
            </a:r>
            <a:r>
              <a:rPr sz="1500">
                <a:solidFill>
                  <a:srgbClr val="334155"/>
                </a:solidFill>
                <a:latin typeface="Arial"/>
                <a:ea typeface="Arial"/>
                <a:cs typeface="Arial"/>
              </a:rPr>
              <a:t>UI</a:t>
            </a:r>
            <a:r>
              <a:rPr sz="1500">
                <a:solidFill>
                  <a:srgbClr val="334155"/>
                </a:solidFill>
                <a:latin typeface="Arial"/>
                <a:ea typeface="Arial"/>
                <a:cs typeface="Arial"/>
              </a:rPr>
              <a:t>.</a:t>
            </a:r>
            <a:r>
              <a:rPr sz="1500">
                <a:solidFill>
                  <a:srgbClr val="334155"/>
                </a:solidFill>
                <a:latin typeface="Arial"/>
                <a:ea typeface="Arial"/>
                <a:cs typeface="Arial"/>
              </a:rPr>
              <a:t> </a:t>
            </a:r>
            <a:r>
              <a:rPr sz="1500">
                <a:solidFill>
                  <a:srgbClr val="334155"/>
                </a:solidFill>
                <a:latin typeface="Arial"/>
                <a:ea typeface="Arial"/>
                <a:cs typeface="Arial"/>
              </a:rPr>
              <a:t>Supabase</a:t>
            </a:r>
            <a:r>
              <a:rPr sz="1500">
                <a:solidFill>
                  <a:srgbClr val="334155"/>
                </a:solidFill>
                <a:latin typeface="Arial"/>
                <a:ea typeface="Arial"/>
                <a:cs typeface="Arial"/>
              </a:rPr>
              <a:t> </a:t>
            </a:r>
            <a:r>
              <a:rPr sz="1500">
                <a:solidFill>
                  <a:srgbClr val="334155"/>
                </a:solidFill>
                <a:latin typeface="Arial"/>
                <a:ea typeface="Arial"/>
                <a:cs typeface="Arial"/>
              </a:rPr>
              <a:t> מספק</a:t>
            </a:r>
            <a:r>
              <a:rPr sz="1500" b="1">
                <a:solidFill>
                  <a:srgbClr val="334155"/>
                </a:solidFill>
                <a:latin typeface="Arial"/>
                <a:ea typeface="Arial"/>
                <a:cs typeface="Arial"/>
              </a:rPr>
              <a:t>Row Level </a:t>
            </a:r>
            <a:r>
              <a:rPr sz="1500" b="1">
                <a:solidFill>
                  <a:srgbClr val="334155"/>
                </a:solidFill>
                <a:latin typeface="Arial"/>
                <a:ea typeface="Arial"/>
                <a:cs typeface="Arial"/>
              </a:rPr>
              <a:t> </a:t>
            </a:r>
            <a:r>
              <a:rPr sz="1500" b="1">
                <a:solidFill>
                  <a:srgbClr val="334155"/>
                </a:solidFill>
                <a:latin typeface="Arial"/>
                <a:ea typeface="Arial"/>
                <a:cs typeface="Arial"/>
              </a:rPr>
              <a:t>Security</a:t>
            </a:r>
            <a:r>
              <a:rPr sz="1500" b="1">
                <a:solidFill>
                  <a:srgbClr val="334155"/>
                </a:solidFill>
                <a:latin typeface="Arial"/>
                <a:ea typeface="Arial"/>
                <a:cs typeface="Arial"/>
              </a:rPr>
              <a:t> (</a:t>
            </a:r>
            <a:r>
              <a:rPr sz="1500" b="1">
                <a:solidFill>
                  <a:srgbClr val="334155"/>
                </a:solidFill>
                <a:latin typeface="Arial"/>
                <a:ea typeface="Arial"/>
                <a:cs typeface="Arial"/>
              </a:rPr>
              <a:t>RLS</a:t>
            </a:r>
            <a:r>
              <a:rPr sz="1500" b="1">
                <a:solidFill>
                  <a:srgbClr val="334155"/>
                </a:solidFill>
                <a:latin typeface="Arial"/>
                <a:ea typeface="Arial"/>
                <a:cs typeface="Arial"/>
              </a:rPr>
              <a:t>): </a:t>
            </a:r>
            <a:r>
              <a:rPr sz="1500">
                <a:solidFill>
                  <a:srgbClr val="334155"/>
                </a:solidFill>
                <a:latin typeface="Arial"/>
                <a:ea typeface="Arial"/>
                <a:cs typeface="Arial"/>
              </a:rPr>
              <a:t>פוליסות ברמת מסד הנתונים שמוודאות שלקוח שניגש ל-</a:t>
            </a:r>
            <a:r>
              <a:rPr sz="1500">
                <a:solidFill>
                  <a:srgbClr val="334155"/>
                </a:solidFill>
                <a:latin typeface="Arial"/>
                <a:ea typeface="Arial"/>
                <a:cs typeface="Arial"/>
              </a:rPr>
              <a:t>API </a:t>
            </a:r>
            <a:r>
              <a:rPr sz="1500">
                <a:solidFill>
                  <a:srgbClr val="334155"/>
                </a:solidFill>
                <a:latin typeface="Arial"/>
                <a:ea typeface="Arial"/>
                <a:cs typeface="Arial"/>
              </a:rPr>
              <a:t>יוכל למשוך אך ורק את נתוני חיות המחמד שלו, לעולם לא של אחרים</a:t>
            </a:r>
            <a:r>
              <a:rPr sz="1500">
                <a:solidFill>
                  <a:srgbClr val="334155"/>
                </a:solidFill>
                <a:latin typeface="Arial"/>
                <a:ea typeface="Arial"/>
                <a:cs typeface="Arial"/>
              </a:rPr>
              <a:t>.</a:t>
            </a:r>
            <a:endParaRPr sz="1500">
              <a:solidFill>
                <a:srgbClr val="334155"/>
              </a:solidFill>
              <a:latin typeface="Arial"/>
              <a:ea typeface="Arial"/>
              <a:cs typeface="Arial"/>
            </a:endParaRPr>
          </a:p>
          <a:p xmlns:a="http://schemas.openxmlformats.org/drawingml/2006/main">
            <a:pPr algn="r">
              <a:lnSpc>
                <a:spcPts val="2400"/>
              </a:lnSpc>
              <a:buNone/>
            </a:pPr>
            <a:endParaRPr sz="1500" b="0" i="0" u="none">
              <a:solidFill>
                <a:srgbClr val="334155"/>
              </a:solidFill>
              <a:latin typeface="Arial"/>
              <a:ea typeface="Arial"/>
              <a:cs typeface="Arial"/>
            </a:endParaRPr>
          </a:p>
        </p:txBody>
      </p:sp>
      <p:pic>
        <p:nvPicPr>
          <p:cNvPr id="37" name="Picture 11"/>
          <p:cNvPicPr>
            <a:picLocks xmlns:a="http://schemas.openxmlformats.org/drawingml/2006/main" noChangeAspect="1"/>
          </p:cNvPicPr>
          <p:nvPr/>
        </p:nvPicPr>
        <p:blipFill>
          <a:blip xmlns:r="http://schemas.openxmlformats.org/officeDocument/2006/relationships" xmlns:a="http://schemas.openxmlformats.org/drawingml/2006/main" r:embed="Ra6444e98bc424954"/>
          <a:stretch xmlns:a="http://schemas.openxmlformats.org/drawingml/2006/main">
            <a:fillRect l="0" t="0" r="0" b="0"/>
          </a:stretch>
        </p:blipFill>
        <p:spPr>
          <a:xfrm xmlns:a="http://schemas.openxmlformats.org/drawingml/2006/main">
            <a:off x="1889075" y="2266950"/>
            <a:ext cx="857250" cy="857250"/>
          </a:xfrm>
          <a:prstGeom xmlns:a="http://schemas.openxmlformats.org/drawingml/2006/main" prst="rect">
            <a:avLst/>
          </a:prstGeom>
        </p:spPr>
      </p:pic>
      <p:sp>
        <p:nvSpPr>
          <p:cNvPr id="13" name="TextBox 12">
            <a:extLst xmlns:a="http://schemas.openxmlformats.org/drawingml/2006/main">
              <a:ext uri="{FF2B5EF4-FFF2-40B4-BE49-F238E27FC236}">
                <a16:creationId xmlns:a16="http://schemas.microsoft.com/office/drawing/2014/main" id="{569B6070-F075-4A6D-AA69-EBE3988421C8}"/>
              </a:ext>
            </a:extLst>
          </p:cNvPr>
          <p:cNvSpPr>
            <a:spLocks xmlns:a="http://schemas.openxmlformats.org/drawingml/2006/main" noGrp="1"/>
          </p:cNvSpPr>
          <p:nvPr/>
        </p:nvSpPr>
        <p:spPr>
          <a:xfrm xmlns:a="http://schemas.openxmlformats.org/drawingml/2006/main">
            <a:off x="1460016" y="3315519"/>
            <a:ext cx="1606877" cy="253916"/>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1650" b="0" i="0" u="none">
                <a:solidFill>
                  <a:srgbClr val="2563EB"/>
                </a:solidFill>
                <a:latin typeface="Arial"/>
                <a:ea typeface="Arial"/>
                <a:cs typeface="Arial"/>
              </a:rPr>
              <a:t>Edge Functions</a:t>
            </a:r>
          </a:p>
        </p:txBody>
      </p:sp>
      <p:sp>
        <p:nvSpPr>
          <p:cNvPr id="14" name="TextBox 13">
            <a:extLst xmlns:a="http://schemas.openxmlformats.org/drawingml/2006/main">
              <a:ext uri="{FF2B5EF4-FFF2-40B4-BE49-F238E27FC236}">
                <a16:creationId xmlns:a16="http://schemas.microsoft.com/office/drawing/2014/main" id="{78FCCDC8-55D3-4A86-9766-0EBAB0F78D3A}"/>
              </a:ext>
            </a:extLst>
          </p:cNvPr>
          <p:cNvSpPr>
            <a:spLocks xmlns:a="http://schemas.openxmlformats.org/drawingml/2006/main" noGrp="1"/>
          </p:cNvSpPr>
          <p:nvPr/>
        </p:nvSpPr>
        <p:spPr>
          <a:xfrm xmlns:a="http://schemas.openxmlformats.org/drawingml/2006/main">
            <a:off x="819001" y="3814762"/>
            <a:ext cx="2997249" cy="2121222"/>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lnSpc>
                <a:spcPts val="2400"/>
              </a:lnSpc>
              <a:buNone/>
            </a:pPr>
            <a:r>
              <a:rPr sz="1500">
                <a:solidFill>
                  <a:srgbClr val="334155"/>
                </a:solidFill>
                <a:latin typeface="Arial"/>
                <a:ea typeface="Arial"/>
                <a:cs typeface="Arial"/>
              </a:rPr>
              <a:t>לפעולות מורכבות ומאובטחות השתמשנו בפונקציות קצה. הן מריצות לוגיקה מאובטחת, מתקשרות עם מודלי ה-</a:t>
            </a:r>
            <a:r>
              <a:rPr sz="1500">
                <a:solidFill>
                  <a:srgbClr val="334155"/>
                </a:solidFill>
                <a:latin typeface="Arial"/>
                <a:ea typeface="Arial"/>
                <a:cs typeface="Arial"/>
              </a:rPr>
              <a:t>AI </a:t>
            </a:r>
            <a:r>
              <a:rPr sz="1500">
                <a:solidFill>
                  <a:srgbClr val="334155"/>
                </a:solidFill>
                <a:latin typeface="Arial"/>
                <a:ea typeface="Arial"/>
                <a:cs typeface="Arial"/>
              </a:rPr>
              <a:t>ושומרות את מפתחות הסוד בשרת</a:t>
            </a:r>
          </a:p>
          <a:p xmlns:a="http://schemas.openxmlformats.org/drawingml/2006/main">
            <a:pPr algn="r">
              <a:lnSpc>
                <a:spcPts val="2400"/>
              </a:lnSpc>
              <a:buNone/>
            </a:pPr>
            <a:r>
              <a:rPr sz="1500">
                <a:solidFill>
                  <a:srgbClr val="334155"/>
                </a:solidFill>
                <a:latin typeface="Arial"/>
                <a:ea typeface="Arial"/>
                <a:cs typeface="Arial"/>
              </a:rPr>
              <a:t>(</a:t>
            </a:r>
            <a:r>
              <a:rPr sz="1500">
                <a:solidFill>
                  <a:srgbClr val="334155"/>
                </a:solidFill>
                <a:latin typeface="Arial"/>
                <a:ea typeface="Arial"/>
                <a:cs typeface="Arial"/>
              </a:rPr>
              <a:t>API Gateway</a:t>
            </a:r>
            <a:r>
              <a:rPr sz="1500">
                <a:solidFill>
                  <a:srgbClr val="334155"/>
                </a:solidFill>
                <a:latin typeface="Arial"/>
                <a:ea typeface="Arial"/>
                <a:cs typeface="Arial"/>
              </a:rPr>
              <a:t>) הרחק מעיני המשתמש בדפדפן.</a:t>
            </a:r>
          </a:p>
          <a:p xmlns:a="http://schemas.openxmlformats.org/drawingml/2006/main">
            <a:pPr algn="r">
              <a:lnSpc>
                <a:spcPts val="2400"/>
              </a:lnSpc>
              <a:buNone/>
            </a:pPr>
            <a:endParaRPr sz="1500" b="0" i="0" u="none">
              <a:solidFill>
                <a:srgbClr val="334155"/>
              </a:solidFill>
              <a:latin typeface="Arial"/>
              <a:ea typeface="Arial"/>
              <a:cs typeface="Arial"/>
            </a:endParaRPr>
          </a:p>
        </p:txBody>
      </p:sp>
      <p:pic>
        <p:nvPicPr>
          <p:cNvPr id="40" name="Picture 14"/>
          <p:cNvPicPr>
            <a:picLocks xmlns:a="http://schemas.openxmlformats.org/drawingml/2006/main" noChangeAspect="1"/>
          </p:cNvPicPr>
          <p:nvPr/>
        </p:nvPicPr>
        <p:blipFill>
          <a:blip xmlns:r="http://schemas.openxmlformats.org/officeDocument/2006/relationships" xmlns:a="http://schemas.openxmlformats.org/drawingml/2006/main" r:embed="R85009d4f8e1641e8"/>
          <a:stretch xmlns:a="http://schemas.openxmlformats.org/drawingml/2006/main">
            <a:fillRect l="0" t="0" r="0" b="0"/>
          </a:stretch>
        </p:blipFill>
        <p:spPr>
          <a:xfrm xmlns:a="http://schemas.openxmlformats.org/drawingml/2006/main">
            <a:off x="9688562" y="2486025"/>
            <a:ext cx="371475" cy="428625"/>
          </a:xfrm>
          <a:prstGeom xmlns:a="http://schemas.openxmlformats.org/drawingml/2006/main" prst="rect">
            <a:avLst/>
          </a:prstGeom>
        </p:spPr>
      </p:pic>
      <p:pic>
        <p:nvPicPr>
          <p:cNvPr id="41" name="Picture 15"/>
          <p:cNvPicPr>
            <a:picLocks xmlns:a="http://schemas.openxmlformats.org/drawingml/2006/main" noChangeAspect="1"/>
          </p:cNvPicPr>
          <p:nvPr/>
        </p:nvPicPr>
        <p:blipFill>
          <a:blip xmlns:r="http://schemas.openxmlformats.org/officeDocument/2006/relationships" xmlns:a="http://schemas.openxmlformats.org/drawingml/2006/main" r:embed="R6c1de3b0eafa44c7"/>
          <a:stretch xmlns:a="http://schemas.openxmlformats.org/drawingml/2006/main">
            <a:fillRect l="0" t="0" r="0" b="0"/>
          </a:stretch>
        </p:blipFill>
        <p:spPr>
          <a:xfrm xmlns:a="http://schemas.openxmlformats.org/drawingml/2006/main">
            <a:off x="5829300" y="2486025"/>
            <a:ext cx="533400" cy="428625"/>
          </a:xfrm>
          <a:prstGeom xmlns:a="http://schemas.openxmlformats.org/drawingml/2006/main" prst="rect">
            <a:avLst/>
          </a:prstGeom>
        </p:spPr>
      </p:pic>
      <p:pic>
        <p:nvPicPr>
          <p:cNvPr id="42" name="Picture 16"/>
          <p:cNvPicPr>
            <a:picLocks xmlns:a="http://schemas.openxmlformats.org/drawingml/2006/main" noChangeAspect="1"/>
          </p:cNvPicPr>
          <p:nvPr/>
        </p:nvPicPr>
        <p:blipFill>
          <a:blip xmlns:r="http://schemas.openxmlformats.org/officeDocument/2006/relationships" xmlns:a="http://schemas.openxmlformats.org/drawingml/2006/main" r:embed="R4c57d0e4f2734a31"/>
          <a:stretch xmlns:a="http://schemas.openxmlformats.org/drawingml/2006/main">
            <a:fillRect l="0" t="0" r="0" b="0"/>
          </a:stretch>
        </p:blipFill>
        <p:spPr>
          <a:xfrm xmlns:a="http://schemas.openxmlformats.org/drawingml/2006/main">
            <a:off x="2103387" y="2486025"/>
            <a:ext cx="428625" cy="428625"/>
          </a:xfrm>
          <a:prstGeom xmlns:a="http://schemas.openxmlformats.org/drawingml/2006/main" prst="rect">
            <a:avLst/>
          </a:prstGeom>
        </p:spPr>
      </p:pic>
      <p:sp>
        <p:nvSpPr>
          <p:cNvPr id="18" name="TextBox 17">
            <a:extLst xmlns:a="http://schemas.openxmlformats.org/drawingml/2006/main">
              <a:ext uri="{FF2B5EF4-FFF2-40B4-BE49-F238E27FC236}">
                <a16:creationId xmlns:a16="http://schemas.microsoft.com/office/drawing/2014/main" id="{B9AED62A-DD89-4978-BB85-147A6BBD60D6}"/>
              </a:ext>
            </a:extLst>
          </p:cNvPr>
          <p:cNvSpPr>
            <a:spLocks xmlns:a="http://schemas.openxmlformats.org/drawingml/2006/main" noGrp="1"/>
          </p:cNvSpPr>
          <p:nvPr/>
        </p:nvSpPr>
        <p:spPr>
          <a:xfrm xmlns:a="http://schemas.openxmlformats.org/drawingml/2006/main">
            <a:off x="19050" y="476250"/>
            <a:ext cx="11601450" cy="600164"/>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ctr">
              <a:buNone/>
            </a:pPr>
            <a:r>
              <a:rPr sz="3900" b="1">
                <a:solidFill>
                  <a:srgbClr val="1E40AF"/>
                </a:solidFill>
                <a:latin typeface="Arial"/>
                <a:ea typeface="Arial"/>
                <a:cs typeface="Arial"/>
              </a:rPr>
              <a:t>צד השרת (</a:t>
            </a:r>
            <a:r>
              <a:rPr sz="3900" b="1">
                <a:solidFill>
                  <a:srgbClr val="1E40AF"/>
                </a:solidFill>
                <a:latin typeface="Arial"/>
                <a:ea typeface="Arial"/>
                <a:cs typeface="Arial"/>
              </a:rPr>
              <a:t>Backend</a:t>
            </a:r>
            <a:r>
              <a:rPr sz="3900" b="1">
                <a:solidFill>
                  <a:srgbClr val="1E40AF"/>
                </a:solidFill>
                <a:latin typeface="Arial"/>
                <a:ea typeface="Arial"/>
                <a:cs typeface="Arial"/>
              </a:rPr>
              <a:t>) - </a:t>
            </a:r>
            <a:r>
              <a:rPr sz="3900" b="1">
                <a:solidFill>
                  <a:srgbClr val="1E40AF"/>
                </a:solidFill>
                <a:latin typeface="Arial"/>
                <a:ea typeface="Arial"/>
                <a:cs typeface="Arial"/>
              </a:rPr>
              <a:t>Supabase</a:t>
            </a:r>
            <a:endParaRPr sz="3900" b="1">
              <a:solidFill>
                <a:srgbClr val="1E40AF"/>
              </a:solidFill>
              <a:latin typeface="Arial"/>
              <a:ea typeface="Arial"/>
              <a:cs typeface="Arial"/>
            </a:endParaRPr>
          </a:p>
        </p:txBody>
      </p:sp>
    </p:spTree>
    <p:extLst>
      <p:ext uri="{BB962C8B-B14F-4D97-AF65-F5344CB8AC3E}">
        <p14:creationId xmlns:p14="http://schemas.microsoft.com/office/powerpoint/2010/main" val="163023921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28" name="Picture 2"/>
          <p:cNvPicPr>
            <a:picLocks xmlns:a="http://schemas.openxmlformats.org/drawingml/2006/main" noChangeAspect="1"/>
          </p:cNvPicPr>
          <p:nvPr/>
        </p:nvPicPr>
        <p:blipFill>
          <a:blip xmlns:r="http://schemas.openxmlformats.org/officeDocument/2006/relationships" xmlns:a="http://schemas.openxmlformats.org/drawingml/2006/main" r:embed="R3d546819eb634ab7">
            <a:duotone>
              <a:prstClr val="black"/>
              <a:schemeClr val="tx2">
                <a:tint val="45000"/>
                <a:satMod val="400000"/>
              </a:schemeClr>
            </a:duotone>
          </a:blip>
          <a:stretch xmlns:a="http://schemas.openxmlformats.org/drawingml/2006/main">
            <a:fillRect l="0" t="0" r="0" b="0"/>
          </a:stretch>
        </p:blipFill>
        <p:spPr>
          <a:xfrm xmlns:a="http://schemas.openxmlformats.org/drawingml/2006/main">
            <a:off x="8127950" y="1928812"/>
            <a:ext cx="3492549" cy="4200525"/>
          </a:xfrm>
          <a:prstGeom xmlns:a="http://schemas.openxmlformats.org/drawingml/2006/main" prst="rect">
            <a:avLst/>
          </a:prstGeom>
        </p:spPr>
      </p:pic>
      <p:pic>
        <p:nvPicPr>
          <p:cNvPr id="29" name="Picture 3"/>
          <p:cNvPicPr>
            <a:picLocks xmlns:a="http://schemas.openxmlformats.org/drawingml/2006/main" noChangeAspect="1"/>
          </p:cNvPicPr>
          <p:nvPr/>
        </p:nvPicPr>
        <p:blipFill>
          <a:blip xmlns:r="http://schemas.openxmlformats.org/officeDocument/2006/relationships" xmlns:a="http://schemas.openxmlformats.org/drawingml/2006/main" r:embed="Re65ba239d0e74e30">
            <a:duotone>
              <a:prstClr val="black"/>
              <a:schemeClr val="tx2">
                <a:tint val="45000"/>
                <a:satMod val="400000"/>
              </a:schemeClr>
            </a:duotone>
          </a:blip>
          <a:stretch xmlns:a="http://schemas.openxmlformats.org/drawingml/2006/main">
            <a:fillRect l="0" t="0" r="0" b="0"/>
          </a:stretch>
        </p:blipFill>
        <p:spPr>
          <a:xfrm xmlns:a="http://schemas.openxmlformats.org/drawingml/2006/main">
            <a:off x="4349650" y="1928812"/>
            <a:ext cx="3492549" cy="4200525"/>
          </a:xfrm>
          <a:prstGeom xmlns:a="http://schemas.openxmlformats.org/drawingml/2006/main" prst="rect">
            <a:avLst/>
          </a:prstGeom>
        </p:spPr>
      </p:pic>
      <p:pic>
        <p:nvPicPr>
          <p:cNvPr id="30" name="Picture 4"/>
          <p:cNvPicPr>
            <a:picLocks xmlns:a="http://schemas.openxmlformats.org/drawingml/2006/main" noChangeAspect="1"/>
          </p:cNvPicPr>
          <p:nvPr/>
        </p:nvPicPr>
        <p:blipFill>
          <a:blip xmlns:r="http://schemas.openxmlformats.org/officeDocument/2006/relationships" xmlns:a="http://schemas.openxmlformats.org/drawingml/2006/main" r:embed="Rdb862a716d0e4fc1">
            <a:duotone>
              <a:prstClr val="black"/>
              <a:schemeClr val="tx2">
                <a:tint val="45000"/>
                <a:satMod val="400000"/>
              </a:schemeClr>
            </a:duotone>
          </a:blip>
          <a:stretch xmlns:a="http://schemas.openxmlformats.org/drawingml/2006/main">
            <a:fillRect l="0" t="0" r="0" b="0"/>
          </a:stretch>
        </p:blipFill>
        <p:spPr>
          <a:xfrm xmlns:a="http://schemas.openxmlformats.org/drawingml/2006/main">
            <a:off x="571351" y="1928812"/>
            <a:ext cx="3492549" cy="4200525"/>
          </a:xfrm>
          <a:prstGeom xmlns:a="http://schemas.openxmlformats.org/drawingml/2006/main" prst="rect">
            <a:avLst/>
          </a:prstGeom>
        </p:spPr>
      </p:pic>
      <p:pic>
        <p:nvPicPr>
          <p:cNvPr id="31" name="Picture 5"/>
          <p:cNvPicPr>
            <a:picLocks xmlns:a="http://schemas.openxmlformats.org/drawingml/2006/main" noChangeAspect="1"/>
          </p:cNvPicPr>
          <p:nvPr/>
        </p:nvPicPr>
        <p:blipFill>
          <a:blip xmlns:r="http://schemas.openxmlformats.org/officeDocument/2006/relationships" xmlns:a="http://schemas.openxmlformats.org/drawingml/2006/main" r:embed="R3e36011b649c4855"/>
          <a:stretch xmlns:a="http://schemas.openxmlformats.org/drawingml/2006/main">
            <a:fillRect l="0" t="0" r="0" b="0"/>
          </a:stretch>
        </p:blipFill>
        <p:spPr>
          <a:xfrm xmlns:a="http://schemas.openxmlformats.org/drawingml/2006/main">
            <a:off x="9445674" y="2271712"/>
            <a:ext cx="857250" cy="857250"/>
          </a:xfrm>
          <a:prstGeom xmlns:a="http://schemas.openxmlformats.org/drawingml/2006/main" prst="rect">
            <a:avLst/>
          </a:prstGeom>
        </p:spPr>
      </p:pic>
      <p:sp>
        <p:nvSpPr>
          <p:cNvPr id="7" name="TextBox 6">
            <a:extLst xmlns:a="http://schemas.openxmlformats.org/drawingml/2006/main">
              <a:ext uri="{FF2B5EF4-FFF2-40B4-BE49-F238E27FC236}">
                <a16:creationId xmlns:a16="http://schemas.microsoft.com/office/drawing/2014/main" id="{E387394E-68C4-41D1-9813-9783D800776A}"/>
              </a:ext>
            </a:extLst>
          </p:cNvPr>
          <p:cNvSpPr>
            <a:spLocks xmlns:a="http://schemas.openxmlformats.org/drawingml/2006/main" noGrp="1"/>
          </p:cNvSpPr>
          <p:nvPr/>
        </p:nvSpPr>
        <p:spPr>
          <a:xfrm xmlns:a="http://schemas.openxmlformats.org/drawingml/2006/main">
            <a:off x="8629143" y="3367087"/>
            <a:ext cx="2490311" cy="253916"/>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1650">
                <a:solidFill>
                  <a:srgbClr val="2563EB"/>
                </a:solidFill>
                <a:latin typeface="Arial"/>
                <a:ea typeface="Arial"/>
                <a:cs typeface="Arial"/>
              </a:rPr>
              <a:t>מסד נתונים</a:t>
            </a:r>
            <a:r>
              <a:rPr sz="1650">
                <a:solidFill>
                  <a:srgbClr val="2563EB"/>
                </a:solidFill>
                <a:latin typeface="Arial"/>
                <a:ea typeface="Arial"/>
                <a:cs typeface="Arial"/>
              </a:rPr>
              <a:t> (</a:t>
            </a:r>
            <a:r>
              <a:rPr sz="1650">
                <a:solidFill>
                  <a:srgbClr val="2563EB"/>
                </a:solidFill>
                <a:latin typeface="Arial"/>
                <a:ea typeface="Arial"/>
                <a:cs typeface="Arial"/>
              </a:rPr>
              <a:t>PostgreSQL</a:t>
            </a:r>
            <a:r>
              <a:rPr sz="1650">
                <a:solidFill>
                  <a:srgbClr val="2563EB"/>
                </a:solidFill>
                <a:latin typeface="Arial"/>
                <a:ea typeface="Arial"/>
                <a:cs typeface="Arial"/>
              </a:rPr>
              <a:t>)</a:t>
            </a:r>
            <a:endParaRPr sz="1650">
              <a:solidFill>
                <a:srgbClr val="2563EB"/>
              </a:solidFill>
              <a:latin typeface="Arial"/>
              <a:ea typeface="Arial"/>
              <a:cs typeface="Arial"/>
            </a:endParaRPr>
          </a:p>
        </p:txBody>
      </p:sp>
      <p:sp>
        <p:nvSpPr>
          <p:cNvPr id="8" name="TextBox 7">
            <a:extLst xmlns:a="http://schemas.openxmlformats.org/drawingml/2006/main">
              <a:ext uri="{FF2B5EF4-FFF2-40B4-BE49-F238E27FC236}">
                <a16:creationId xmlns:a16="http://schemas.microsoft.com/office/drawing/2014/main" id="{9B64C014-42D1-4917-AC46-B4EE5EECD61D}"/>
              </a:ext>
            </a:extLst>
          </p:cNvPr>
          <p:cNvSpPr>
            <a:spLocks xmlns:a="http://schemas.openxmlformats.org/drawingml/2006/main" noGrp="1"/>
          </p:cNvSpPr>
          <p:nvPr/>
        </p:nvSpPr>
        <p:spPr>
          <a:xfrm xmlns:a="http://schemas.openxmlformats.org/drawingml/2006/main">
            <a:off x="8375600" y="3814762"/>
            <a:ext cx="2997249" cy="1538883"/>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lnSpc>
                <a:spcPts val="2400"/>
              </a:lnSpc>
              <a:buNone/>
            </a:pPr>
            <a:r>
              <a:rPr sz="1500">
                <a:solidFill>
                  <a:srgbClr val="334155"/>
                </a:solidFill>
                <a:latin typeface="Arial"/>
                <a:ea typeface="Arial"/>
                <a:cs typeface="Arial"/>
              </a:rPr>
              <a:t>במקום לבנות שרת מסורתי, השתמשנו ב-</a:t>
            </a:r>
            <a:r>
              <a:rPr sz="1500" b="1">
                <a:solidFill>
                  <a:srgbClr val="334155"/>
                </a:solidFill>
                <a:latin typeface="Arial"/>
                <a:ea typeface="Arial"/>
                <a:cs typeface="Arial"/>
              </a:rPr>
              <a:t>Supabase</a:t>
            </a:r>
            <a:r>
              <a:rPr sz="1500">
                <a:solidFill>
                  <a:srgbClr val="334155"/>
                </a:solidFill>
                <a:latin typeface="Arial"/>
                <a:ea typeface="Arial"/>
                <a:cs typeface="Arial"/>
              </a:rPr>
              <a:t> </a:t>
            </a:r>
            <a:r>
              <a:rPr sz="1500">
                <a:solidFill>
                  <a:srgbClr val="334155"/>
                </a:solidFill>
                <a:latin typeface="Arial"/>
                <a:ea typeface="Arial"/>
                <a:cs typeface="Arial"/>
              </a:rPr>
              <a:t> שמספק לנו בסיס נתונים </a:t>
            </a:r>
            <a:r>
              <a:rPr sz="1500">
                <a:solidFill>
                  <a:srgbClr val="334155"/>
                </a:solidFill>
                <a:latin typeface="Arial"/>
                <a:ea typeface="Arial"/>
                <a:cs typeface="Arial"/>
              </a:rPr>
              <a:t>רלוציוני</a:t>
            </a:r>
            <a:r>
              <a:rPr sz="1500">
                <a:solidFill>
                  <a:srgbClr val="334155"/>
                </a:solidFill>
                <a:latin typeface="Arial"/>
                <a:ea typeface="Arial"/>
                <a:cs typeface="Arial"/>
              </a:rPr>
              <a:t> עוצמתי. הוא </a:t>
            </a:r>
            <a:r>
              <a:rPr sz="1500">
                <a:solidFill>
                  <a:srgbClr val="334155"/>
                </a:solidFill>
                <a:latin typeface="Arial"/>
                <a:ea typeface="Arial"/>
                <a:cs typeface="Arial"/>
              </a:rPr>
              <a:t>מאפשר </a:t>
            </a:r>
            <a:r>
              <a:rPr sz="1500">
                <a:solidFill>
                  <a:srgbClr val="334155"/>
                </a:solidFill>
                <a:latin typeface="Arial"/>
                <a:ea typeface="Arial"/>
                <a:cs typeface="Arial"/>
              </a:rPr>
              <a:t>סנכרון </a:t>
            </a:r>
            <a:r>
              <a:rPr sz="1500" b="1">
                <a:solidFill>
                  <a:srgbClr val="334155"/>
                </a:solidFill>
                <a:latin typeface="Arial"/>
                <a:ea typeface="Arial"/>
                <a:cs typeface="Arial"/>
              </a:rPr>
              <a:t>Realtime</a:t>
            </a:r>
            <a:r>
              <a:rPr sz="1500">
                <a:solidFill>
                  <a:srgbClr val="334155"/>
                </a:solidFill>
                <a:latin typeface="Arial"/>
                <a:ea typeface="Arial"/>
                <a:cs typeface="Arial"/>
              </a:rPr>
              <a:t> </a:t>
            </a:r>
            <a:r>
              <a:rPr sz="1500">
                <a:solidFill>
                  <a:srgbClr val="334155"/>
                </a:solidFill>
                <a:latin typeface="Arial"/>
                <a:ea typeface="Arial"/>
                <a:cs typeface="Arial"/>
              </a:rPr>
              <a:t> כך שהצוות רואה תורים מתעדכנים </a:t>
            </a:r>
            <a:r>
              <a:rPr sz="1500">
                <a:solidFill>
                  <a:srgbClr val="334155"/>
                </a:solidFill>
                <a:latin typeface="Arial"/>
                <a:ea typeface="Arial"/>
                <a:cs typeface="Arial"/>
              </a:rPr>
              <a:t>מיידית</a:t>
            </a:r>
            <a:r>
              <a:rPr sz="1500">
                <a:solidFill>
                  <a:srgbClr val="334155"/>
                </a:solidFill>
                <a:latin typeface="Arial"/>
                <a:ea typeface="Arial"/>
                <a:cs typeface="Arial"/>
              </a:rPr>
              <a:t>.</a:t>
            </a:r>
            <a:endParaRPr sz="1500" b="0" i="0" u="none">
              <a:solidFill>
                <a:srgbClr val="334155"/>
              </a:solidFill>
              <a:latin typeface="Arial"/>
              <a:ea typeface="Arial"/>
              <a:cs typeface="Arial"/>
            </a:endParaRPr>
          </a:p>
        </p:txBody>
      </p:sp>
      <p:pic>
        <p:nvPicPr>
          <p:cNvPr id="34" name="Picture 8"/>
          <p:cNvPicPr>
            <a:picLocks xmlns:a="http://schemas.openxmlformats.org/drawingml/2006/main" noChangeAspect="1"/>
          </p:cNvPicPr>
          <p:nvPr/>
        </p:nvPicPr>
        <p:blipFill>
          <a:blip xmlns:r="http://schemas.openxmlformats.org/officeDocument/2006/relationships" xmlns:a="http://schemas.openxmlformats.org/drawingml/2006/main" r:embed="R42bd51c3eb394036"/>
          <a:stretch xmlns:a="http://schemas.openxmlformats.org/drawingml/2006/main">
            <a:fillRect l="0" t="0" r="0" b="0"/>
          </a:stretch>
        </p:blipFill>
        <p:spPr>
          <a:xfrm xmlns:a="http://schemas.openxmlformats.org/drawingml/2006/main">
            <a:off x="5667375" y="2271712"/>
            <a:ext cx="857250" cy="857250"/>
          </a:xfrm>
          <a:prstGeom xmlns:a="http://schemas.openxmlformats.org/drawingml/2006/main" prst="rect">
            <a:avLst/>
          </a:prstGeom>
        </p:spPr>
      </p:pic>
      <p:sp>
        <p:nvSpPr>
          <p:cNvPr id="10" name="TextBox 9">
            <a:extLst xmlns:a="http://schemas.openxmlformats.org/drawingml/2006/main">
              <a:ext uri="{FF2B5EF4-FFF2-40B4-BE49-F238E27FC236}">
                <a16:creationId xmlns:a16="http://schemas.microsoft.com/office/drawing/2014/main" id="{D0FD8AE4-00C8-4247-A488-362F67DFF9DF}"/>
              </a:ext>
            </a:extLst>
          </p:cNvPr>
          <p:cNvSpPr>
            <a:spLocks xmlns:a="http://schemas.openxmlformats.org/drawingml/2006/main" noGrp="1"/>
          </p:cNvSpPr>
          <p:nvPr/>
        </p:nvSpPr>
        <p:spPr>
          <a:xfrm xmlns:a="http://schemas.openxmlformats.org/drawingml/2006/main">
            <a:off x="5160883" y="3367087"/>
            <a:ext cx="1870233" cy="253916"/>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1650">
                <a:solidFill>
                  <a:srgbClr val="2563EB"/>
                </a:solidFill>
                <a:latin typeface="Arial"/>
                <a:ea typeface="Arial"/>
                <a:cs typeface="Arial"/>
              </a:rPr>
              <a:t>אבטחה ו-</a:t>
            </a:r>
            <a:r>
              <a:rPr sz="1650">
                <a:solidFill>
                  <a:srgbClr val="2563EB"/>
                </a:solidFill>
                <a:latin typeface="Arial"/>
                <a:ea typeface="Arial"/>
                <a:cs typeface="Arial"/>
              </a:rPr>
              <a:t>API (RLS)</a:t>
            </a:r>
            <a:r>
              <a:rPr sz="1650">
                <a:solidFill>
                  <a:srgbClr val="2563EB"/>
                </a:solidFill>
                <a:latin typeface="Arial"/>
                <a:ea typeface="Arial"/>
                <a:cs typeface="Arial"/>
              </a:rPr>
              <a:t> </a:t>
            </a:r>
            <a:endParaRPr sz="1650">
              <a:solidFill>
                <a:srgbClr val="2563EB"/>
              </a:solidFill>
              <a:latin typeface="Arial"/>
              <a:ea typeface="Arial"/>
              <a:cs typeface="Arial"/>
            </a:endParaRPr>
          </a:p>
        </p:txBody>
      </p:sp>
      <p:sp>
        <p:nvSpPr>
          <p:cNvPr id="11" name="TextBox 10">
            <a:extLst xmlns:a="http://schemas.openxmlformats.org/drawingml/2006/main">
              <a:ext uri="{FF2B5EF4-FFF2-40B4-BE49-F238E27FC236}">
                <a16:creationId xmlns:a16="http://schemas.microsoft.com/office/drawing/2014/main" id="{AAB9D4F1-FF9F-47C7-B7F1-E6011D7DF697}"/>
              </a:ext>
            </a:extLst>
          </p:cNvPr>
          <p:cNvSpPr>
            <a:spLocks xmlns:a="http://schemas.openxmlformats.org/drawingml/2006/main" noGrp="1"/>
          </p:cNvSpPr>
          <p:nvPr/>
        </p:nvSpPr>
        <p:spPr>
          <a:xfrm xmlns:a="http://schemas.openxmlformats.org/drawingml/2006/main">
            <a:off x="4597300" y="3814762"/>
            <a:ext cx="2997249" cy="2154436"/>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lnSpc>
                <a:spcPts val="2400"/>
              </a:lnSpc>
              <a:buNone/>
            </a:pPr>
            <a:r>
              <a:rPr sz="1500">
                <a:solidFill>
                  <a:srgbClr val="334155"/>
                </a:solidFill>
                <a:latin typeface="Arial"/>
                <a:ea typeface="Arial"/>
                <a:cs typeface="Arial"/>
              </a:rPr>
              <a:t>האבטחה לא מסתמכת רק על ה- </a:t>
            </a:r>
            <a:r>
              <a:rPr sz="1500">
                <a:solidFill>
                  <a:srgbClr val="334155"/>
                </a:solidFill>
                <a:latin typeface="Arial"/>
                <a:ea typeface="Arial"/>
                <a:cs typeface="Arial"/>
              </a:rPr>
              <a:t>UI</a:t>
            </a:r>
            <a:r>
              <a:rPr sz="1500">
                <a:solidFill>
                  <a:srgbClr val="334155"/>
                </a:solidFill>
                <a:latin typeface="Arial"/>
                <a:ea typeface="Arial"/>
                <a:cs typeface="Arial"/>
              </a:rPr>
              <a:t>.</a:t>
            </a:r>
            <a:r>
              <a:rPr sz="1500">
                <a:solidFill>
                  <a:srgbClr val="334155"/>
                </a:solidFill>
                <a:latin typeface="Arial"/>
                <a:ea typeface="Arial"/>
                <a:cs typeface="Arial"/>
              </a:rPr>
              <a:t> </a:t>
            </a:r>
            <a:r>
              <a:rPr sz="1500">
                <a:solidFill>
                  <a:srgbClr val="334155"/>
                </a:solidFill>
                <a:latin typeface="Arial"/>
                <a:ea typeface="Arial"/>
                <a:cs typeface="Arial"/>
              </a:rPr>
              <a:t>Supabase</a:t>
            </a:r>
            <a:r>
              <a:rPr sz="1500">
                <a:solidFill>
                  <a:srgbClr val="334155"/>
                </a:solidFill>
                <a:latin typeface="Arial"/>
                <a:ea typeface="Arial"/>
                <a:cs typeface="Arial"/>
              </a:rPr>
              <a:t> </a:t>
            </a:r>
            <a:r>
              <a:rPr sz="1500">
                <a:solidFill>
                  <a:srgbClr val="334155"/>
                </a:solidFill>
                <a:latin typeface="Arial"/>
                <a:ea typeface="Arial"/>
                <a:cs typeface="Arial"/>
              </a:rPr>
              <a:t> מספק</a:t>
            </a:r>
            <a:r>
              <a:rPr sz="1500" b="1">
                <a:solidFill>
                  <a:srgbClr val="334155"/>
                </a:solidFill>
                <a:latin typeface="Arial"/>
                <a:ea typeface="Arial"/>
                <a:cs typeface="Arial"/>
              </a:rPr>
              <a:t>Row Level </a:t>
            </a:r>
            <a:r>
              <a:rPr sz="1500" b="1">
                <a:solidFill>
                  <a:srgbClr val="334155"/>
                </a:solidFill>
                <a:latin typeface="Arial"/>
                <a:ea typeface="Arial"/>
                <a:cs typeface="Arial"/>
              </a:rPr>
              <a:t> </a:t>
            </a:r>
            <a:r>
              <a:rPr sz="1500" b="1">
                <a:solidFill>
                  <a:srgbClr val="334155"/>
                </a:solidFill>
                <a:latin typeface="Arial"/>
                <a:ea typeface="Arial"/>
                <a:cs typeface="Arial"/>
              </a:rPr>
              <a:t>Security</a:t>
            </a:r>
            <a:r>
              <a:rPr sz="1500" b="1">
                <a:solidFill>
                  <a:srgbClr val="334155"/>
                </a:solidFill>
                <a:latin typeface="Arial"/>
                <a:ea typeface="Arial"/>
                <a:cs typeface="Arial"/>
              </a:rPr>
              <a:t> (</a:t>
            </a:r>
            <a:r>
              <a:rPr sz="1500" b="1">
                <a:solidFill>
                  <a:srgbClr val="334155"/>
                </a:solidFill>
                <a:latin typeface="Arial"/>
                <a:ea typeface="Arial"/>
                <a:cs typeface="Arial"/>
              </a:rPr>
              <a:t>RLS</a:t>
            </a:r>
            <a:r>
              <a:rPr sz="1500" b="1">
                <a:solidFill>
                  <a:srgbClr val="334155"/>
                </a:solidFill>
                <a:latin typeface="Arial"/>
                <a:ea typeface="Arial"/>
                <a:cs typeface="Arial"/>
              </a:rPr>
              <a:t>): </a:t>
            </a:r>
            <a:r>
              <a:rPr sz="1500">
                <a:solidFill>
                  <a:srgbClr val="334155"/>
                </a:solidFill>
                <a:latin typeface="Arial"/>
                <a:ea typeface="Arial"/>
                <a:cs typeface="Arial"/>
              </a:rPr>
              <a:t>פוליסות ברמת מסד הנתונים שמוודאות שלקוח שניגש ל-</a:t>
            </a:r>
            <a:r>
              <a:rPr sz="1500">
                <a:solidFill>
                  <a:srgbClr val="334155"/>
                </a:solidFill>
                <a:latin typeface="Arial"/>
                <a:ea typeface="Arial"/>
                <a:cs typeface="Arial"/>
              </a:rPr>
              <a:t>API </a:t>
            </a:r>
            <a:r>
              <a:rPr sz="1500">
                <a:solidFill>
                  <a:srgbClr val="334155"/>
                </a:solidFill>
                <a:latin typeface="Arial"/>
                <a:ea typeface="Arial"/>
                <a:cs typeface="Arial"/>
              </a:rPr>
              <a:t>יוכל למשוך אך ורק את נתוני חיות המחמד שלו, לעולם לא של אחרים</a:t>
            </a:r>
            <a:r>
              <a:rPr sz="1500">
                <a:solidFill>
                  <a:srgbClr val="334155"/>
                </a:solidFill>
                <a:latin typeface="Arial"/>
                <a:ea typeface="Arial"/>
                <a:cs typeface="Arial"/>
              </a:rPr>
              <a:t>.</a:t>
            </a:r>
            <a:endParaRPr sz="1500">
              <a:solidFill>
                <a:srgbClr val="334155"/>
              </a:solidFill>
              <a:latin typeface="Arial"/>
              <a:ea typeface="Arial"/>
              <a:cs typeface="Arial"/>
            </a:endParaRPr>
          </a:p>
          <a:p xmlns:a="http://schemas.openxmlformats.org/drawingml/2006/main">
            <a:pPr algn="r">
              <a:lnSpc>
                <a:spcPts val="2400"/>
              </a:lnSpc>
              <a:buNone/>
            </a:pPr>
            <a:endParaRPr sz="1500" b="0" i="0" u="none">
              <a:solidFill>
                <a:srgbClr val="334155"/>
              </a:solidFill>
              <a:latin typeface="Arial"/>
              <a:ea typeface="Arial"/>
              <a:cs typeface="Arial"/>
            </a:endParaRPr>
          </a:p>
        </p:txBody>
      </p:sp>
      <p:pic>
        <p:nvPicPr>
          <p:cNvPr id="37" name="Picture 11"/>
          <p:cNvPicPr>
            <a:picLocks xmlns:a="http://schemas.openxmlformats.org/drawingml/2006/main" noChangeAspect="1"/>
          </p:cNvPicPr>
          <p:nvPr/>
        </p:nvPicPr>
        <p:blipFill>
          <a:blip xmlns:r="http://schemas.openxmlformats.org/officeDocument/2006/relationships" xmlns:a="http://schemas.openxmlformats.org/drawingml/2006/main" r:embed="R3422586c89fe4527"/>
          <a:stretch xmlns:a="http://schemas.openxmlformats.org/drawingml/2006/main">
            <a:fillRect l="0" t="0" r="0" b="0"/>
          </a:stretch>
        </p:blipFill>
        <p:spPr>
          <a:xfrm xmlns:a="http://schemas.openxmlformats.org/drawingml/2006/main">
            <a:off x="1889075" y="2266950"/>
            <a:ext cx="857250" cy="857250"/>
          </a:xfrm>
          <a:prstGeom xmlns:a="http://schemas.openxmlformats.org/drawingml/2006/main" prst="rect">
            <a:avLst/>
          </a:prstGeom>
        </p:spPr>
      </p:pic>
      <p:sp>
        <p:nvSpPr>
          <p:cNvPr id="13" name="TextBox 12">
            <a:extLst xmlns:a="http://schemas.openxmlformats.org/drawingml/2006/main">
              <a:ext uri="{FF2B5EF4-FFF2-40B4-BE49-F238E27FC236}">
                <a16:creationId xmlns:a16="http://schemas.microsoft.com/office/drawing/2014/main" id="{569B6070-F075-4A6D-AA69-EBE3988421C8}"/>
              </a:ext>
            </a:extLst>
          </p:cNvPr>
          <p:cNvSpPr>
            <a:spLocks xmlns:a="http://schemas.openxmlformats.org/drawingml/2006/main" noGrp="1"/>
          </p:cNvSpPr>
          <p:nvPr/>
        </p:nvSpPr>
        <p:spPr>
          <a:xfrm xmlns:a="http://schemas.openxmlformats.org/drawingml/2006/main">
            <a:off x="1460016" y="3315519"/>
            <a:ext cx="1606877" cy="253916"/>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1650" b="0" i="0" u="none">
                <a:solidFill>
                  <a:srgbClr val="2563EB"/>
                </a:solidFill>
                <a:latin typeface="Arial"/>
                <a:ea typeface="Arial"/>
                <a:cs typeface="Arial"/>
              </a:rPr>
              <a:t>Edge Functions</a:t>
            </a:r>
          </a:p>
        </p:txBody>
      </p:sp>
      <p:sp>
        <p:nvSpPr>
          <p:cNvPr id="14" name="TextBox 13">
            <a:extLst xmlns:a="http://schemas.openxmlformats.org/drawingml/2006/main">
              <a:ext uri="{FF2B5EF4-FFF2-40B4-BE49-F238E27FC236}">
                <a16:creationId xmlns:a16="http://schemas.microsoft.com/office/drawing/2014/main" id="{78FCCDC8-55D3-4A86-9766-0EBAB0F78D3A}"/>
              </a:ext>
            </a:extLst>
          </p:cNvPr>
          <p:cNvSpPr>
            <a:spLocks xmlns:a="http://schemas.openxmlformats.org/drawingml/2006/main" noGrp="1"/>
          </p:cNvSpPr>
          <p:nvPr/>
        </p:nvSpPr>
        <p:spPr>
          <a:xfrm xmlns:a="http://schemas.openxmlformats.org/drawingml/2006/main">
            <a:off x="819001" y="3814762"/>
            <a:ext cx="2997249" cy="2121222"/>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lnSpc>
                <a:spcPts val="2400"/>
              </a:lnSpc>
              <a:buNone/>
            </a:pPr>
            <a:r>
              <a:rPr sz="1500">
                <a:solidFill>
                  <a:srgbClr val="334155"/>
                </a:solidFill>
                <a:latin typeface="Arial"/>
                <a:ea typeface="Arial"/>
                <a:cs typeface="Arial"/>
              </a:rPr>
              <a:t>לפעולות מורכבות ומאובטחות השתמשנו בפונקציות קצה. הן מריצות לוגיקה מאובטחת, מתקשרות עם מודלי ה-</a:t>
            </a:r>
            <a:r>
              <a:rPr sz="1500">
                <a:solidFill>
                  <a:srgbClr val="334155"/>
                </a:solidFill>
                <a:latin typeface="Arial"/>
                <a:ea typeface="Arial"/>
                <a:cs typeface="Arial"/>
              </a:rPr>
              <a:t>AI </a:t>
            </a:r>
            <a:r>
              <a:rPr sz="1500">
                <a:solidFill>
                  <a:srgbClr val="334155"/>
                </a:solidFill>
                <a:latin typeface="Arial"/>
                <a:ea typeface="Arial"/>
                <a:cs typeface="Arial"/>
              </a:rPr>
              <a:t>ושומרות את מפתחות הסוד בשרת</a:t>
            </a:r>
          </a:p>
          <a:p xmlns:a="http://schemas.openxmlformats.org/drawingml/2006/main">
            <a:pPr algn="r">
              <a:lnSpc>
                <a:spcPts val="2400"/>
              </a:lnSpc>
              <a:buNone/>
            </a:pPr>
            <a:r>
              <a:rPr sz="1500">
                <a:solidFill>
                  <a:srgbClr val="334155"/>
                </a:solidFill>
                <a:latin typeface="Arial"/>
                <a:ea typeface="Arial"/>
                <a:cs typeface="Arial"/>
              </a:rPr>
              <a:t>(</a:t>
            </a:r>
            <a:r>
              <a:rPr sz="1500">
                <a:solidFill>
                  <a:srgbClr val="334155"/>
                </a:solidFill>
                <a:latin typeface="Arial"/>
                <a:ea typeface="Arial"/>
                <a:cs typeface="Arial"/>
              </a:rPr>
              <a:t>API Gateway</a:t>
            </a:r>
            <a:r>
              <a:rPr sz="1500">
                <a:solidFill>
                  <a:srgbClr val="334155"/>
                </a:solidFill>
                <a:latin typeface="Arial"/>
                <a:ea typeface="Arial"/>
                <a:cs typeface="Arial"/>
              </a:rPr>
              <a:t>) הרחק מעיני המשתמש בדפדפן.</a:t>
            </a:r>
          </a:p>
          <a:p xmlns:a="http://schemas.openxmlformats.org/drawingml/2006/main">
            <a:pPr algn="r">
              <a:lnSpc>
                <a:spcPts val="2400"/>
              </a:lnSpc>
              <a:buNone/>
            </a:pPr>
            <a:endParaRPr sz="1500" b="0" i="0" u="none">
              <a:solidFill>
                <a:srgbClr val="334155"/>
              </a:solidFill>
              <a:latin typeface="Arial"/>
              <a:ea typeface="Arial"/>
              <a:cs typeface="Arial"/>
            </a:endParaRPr>
          </a:p>
        </p:txBody>
      </p:sp>
      <p:pic>
        <p:nvPicPr>
          <p:cNvPr id="40" name="Picture 14"/>
          <p:cNvPicPr>
            <a:picLocks xmlns:a="http://schemas.openxmlformats.org/drawingml/2006/main" noChangeAspect="1"/>
          </p:cNvPicPr>
          <p:nvPr/>
        </p:nvPicPr>
        <p:blipFill>
          <a:blip xmlns:r="http://schemas.openxmlformats.org/officeDocument/2006/relationships" xmlns:a="http://schemas.openxmlformats.org/drawingml/2006/main" r:embed="R34972c7c1c914b0d"/>
          <a:stretch xmlns:a="http://schemas.openxmlformats.org/drawingml/2006/main">
            <a:fillRect l="0" t="0" r="0" b="0"/>
          </a:stretch>
        </p:blipFill>
        <p:spPr>
          <a:xfrm xmlns:a="http://schemas.openxmlformats.org/drawingml/2006/main">
            <a:off x="9688562" y="2486025"/>
            <a:ext cx="371475" cy="428625"/>
          </a:xfrm>
          <a:prstGeom xmlns:a="http://schemas.openxmlformats.org/drawingml/2006/main" prst="rect">
            <a:avLst/>
          </a:prstGeom>
        </p:spPr>
      </p:pic>
      <p:pic>
        <p:nvPicPr>
          <p:cNvPr id="41" name="Picture 15"/>
          <p:cNvPicPr>
            <a:picLocks xmlns:a="http://schemas.openxmlformats.org/drawingml/2006/main" noChangeAspect="1"/>
          </p:cNvPicPr>
          <p:nvPr/>
        </p:nvPicPr>
        <p:blipFill>
          <a:blip xmlns:r="http://schemas.openxmlformats.org/officeDocument/2006/relationships" xmlns:a="http://schemas.openxmlformats.org/drawingml/2006/main" r:embed="R6f04eab274f640ce"/>
          <a:stretch xmlns:a="http://schemas.openxmlformats.org/drawingml/2006/main">
            <a:fillRect l="0" t="0" r="0" b="0"/>
          </a:stretch>
        </p:blipFill>
        <p:spPr>
          <a:xfrm xmlns:a="http://schemas.openxmlformats.org/drawingml/2006/main">
            <a:off x="5829300" y="2486025"/>
            <a:ext cx="533400" cy="428625"/>
          </a:xfrm>
          <a:prstGeom xmlns:a="http://schemas.openxmlformats.org/drawingml/2006/main" prst="rect">
            <a:avLst/>
          </a:prstGeom>
        </p:spPr>
      </p:pic>
      <p:pic>
        <p:nvPicPr>
          <p:cNvPr id="42" name="Picture 16"/>
          <p:cNvPicPr>
            <a:picLocks xmlns:a="http://schemas.openxmlformats.org/drawingml/2006/main" noChangeAspect="1"/>
          </p:cNvPicPr>
          <p:nvPr/>
        </p:nvPicPr>
        <p:blipFill>
          <a:blip xmlns:r="http://schemas.openxmlformats.org/officeDocument/2006/relationships" xmlns:a="http://schemas.openxmlformats.org/drawingml/2006/main" r:embed="Re446f423244d4b8d"/>
          <a:stretch xmlns:a="http://schemas.openxmlformats.org/drawingml/2006/main">
            <a:fillRect l="0" t="0" r="0" b="0"/>
          </a:stretch>
        </p:blipFill>
        <p:spPr>
          <a:xfrm xmlns:a="http://schemas.openxmlformats.org/drawingml/2006/main">
            <a:off x="2103387" y="2486025"/>
            <a:ext cx="428625" cy="428625"/>
          </a:xfrm>
          <a:prstGeom xmlns:a="http://schemas.openxmlformats.org/drawingml/2006/main" prst="rect">
            <a:avLst/>
          </a:prstGeom>
        </p:spPr>
      </p:pic>
      <p:sp>
        <p:nvSpPr>
          <p:cNvPr id="18" name="TextBox 17">
            <a:extLst xmlns:a="http://schemas.openxmlformats.org/drawingml/2006/main">
              <a:ext uri="{FF2B5EF4-FFF2-40B4-BE49-F238E27FC236}">
                <a16:creationId xmlns:a16="http://schemas.microsoft.com/office/drawing/2014/main" id="{B9AED62A-DD89-4978-BB85-147A6BBD60D6}"/>
              </a:ext>
            </a:extLst>
          </p:cNvPr>
          <p:cNvSpPr>
            <a:spLocks xmlns:a="http://schemas.openxmlformats.org/drawingml/2006/main" noGrp="1"/>
          </p:cNvSpPr>
          <p:nvPr/>
        </p:nvSpPr>
        <p:spPr>
          <a:xfrm xmlns:a="http://schemas.openxmlformats.org/drawingml/2006/main">
            <a:off x="19050" y="476250"/>
            <a:ext cx="11601450" cy="600164"/>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ctr">
              <a:buNone/>
            </a:pPr>
            <a:r>
              <a:rPr sz="3900" b="1">
                <a:solidFill>
                  <a:srgbClr val="1E40AF"/>
                </a:solidFill>
                <a:latin typeface="Arial"/>
                <a:ea typeface="Arial"/>
                <a:cs typeface="Arial"/>
              </a:rPr>
              <a:t>צד השרת (</a:t>
            </a:r>
            <a:r>
              <a:rPr sz="3900" b="1">
                <a:solidFill>
                  <a:srgbClr val="1E40AF"/>
                </a:solidFill>
                <a:latin typeface="Arial"/>
                <a:ea typeface="Arial"/>
                <a:cs typeface="Arial"/>
              </a:rPr>
              <a:t>Backend</a:t>
            </a:r>
            <a:r>
              <a:rPr sz="3900" b="1">
                <a:solidFill>
                  <a:srgbClr val="1E40AF"/>
                </a:solidFill>
                <a:latin typeface="Arial"/>
                <a:ea typeface="Arial"/>
                <a:cs typeface="Arial"/>
              </a:rPr>
              <a:t>) - </a:t>
            </a:r>
            <a:r>
              <a:rPr sz="3900" b="1">
                <a:solidFill>
                  <a:srgbClr val="1E40AF"/>
                </a:solidFill>
                <a:latin typeface="Arial"/>
                <a:ea typeface="Arial"/>
                <a:cs typeface="Arial"/>
              </a:rPr>
              <a:t>Supabase</a:t>
            </a:r>
            <a:endParaRPr sz="3900" b="1">
              <a:solidFill>
                <a:srgbClr val="1E40AF"/>
              </a:solidFill>
              <a:latin typeface="Arial"/>
              <a:ea typeface="Arial"/>
              <a:cs typeface="Arial"/>
            </a:endParaRPr>
          </a:p>
        </p:txBody>
      </p:sp>
    </p:spTree>
    <p:extLst>
      <p:ext uri="{BB962C8B-B14F-4D97-AF65-F5344CB8AC3E}">
        <p14:creationId xmlns:p14="http://schemas.microsoft.com/office/powerpoint/2010/main" val="163023921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12" name="Picture 2"/>
          <p:cNvPicPr>
            <a:picLocks xmlns:a="http://schemas.openxmlformats.org/drawingml/2006/main" noChangeAspect="1"/>
          </p:cNvPicPr>
          <p:nvPr/>
        </p:nvPicPr>
        <p:blipFill>
          <a:blip xmlns:r="http://schemas.openxmlformats.org/officeDocument/2006/relationships" xmlns:a="http://schemas.openxmlformats.org/drawingml/2006/main" r:embed="R0986c2f5187d47d1"/>
          <a:stretch xmlns:a="http://schemas.openxmlformats.org/drawingml/2006/main">
            <a:fillRect l="0" t="0" r="0" b="0"/>
          </a:stretch>
        </p:blipFill>
        <p:spPr>
          <a:xfrm xmlns:a="http://schemas.openxmlformats.org/drawingml/2006/main">
            <a:off x="571500" y="1614055"/>
            <a:ext cx="3333750" cy="3333750"/>
          </a:xfrm>
          <a:prstGeom xmlns:a="http://schemas.openxmlformats.org/drawingml/2006/main" prst="rect">
            <a:avLst/>
          </a:prstGeom>
          <a:effectLst xmlns:a="http://schemas.openxmlformats.org/drawingml/2006/main">
            <a:outerShdw blurRad="50800" dist="50800" dir="5400000" algn="ctr" rotWithShape="0">
              <a:srgbClr val="000000">
                <a:alpha val="82000"/>
              </a:srgbClr>
            </a:outerShdw>
          </a:effectLst>
        </p:spPr>
      </p:pic>
      <p:sp>
        <p:nvSpPr>
          <p:cNvPr id="4" name="TextBox 3">
            <a:extLst xmlns:a="http://schemas.openxmlformats.org/drawingml/2006/main">
              <a:ext uri="{FF2B5EF4-FFF2-40B4-BE49-F238E27FC236}">
                <a16:creationId xmlns:a16="http://schemas.microsoft.com/office/drawing/2014/main" id="{6232E670-000D-4FE9-AA03-A7B93D94C7DB}"/>
              </a:ext>
            </a:extLst>
          </p:cNvPr>
          <p:cNvSpPr>
            <a:spLocks xmlns:a="http://schemas.openxmlformats.org/drawingml/2006/main" noGrp="1"/>
          </p:cNvSpPr>
          <p:nvPr/>
        </p:nvSpPr>
        <p:spPr>
          <a:xfrm xmlns:a="http://schemas.openxmlformats.org/drawingml/2006/main">
            <a:off x="6069806" y="2214860"/>
            <a:ext cx="5550693" cy="323165"/>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2100">
                <a:solidFill>
                  <a:schemeClr val="bg1"/>
                </a:solidFill>
                <a:latin typeface="Arial"/>
                <a:ea typeface="Arial"/>
                <a:cs typeface="Arial"/>
              </a:rPr>
              <a:t>מנוע </a:t>
            </a:r>
            <a:r>
              <a:rPr sz="2100">
                <a:solidFill>
                  <a:schemeClr val="bg1"/>
                </a:solidFill>
                <a:latin typeface="Arial"/>
                <a:ea typeface="Arial"/>
                <a:cs typeface="Arial"/>
              </a:rPr>
              <a:t>AI</a:t>
            </a:r>
            <a:r>
              <a:rPr sz="2100">
                <a:solidFill>
                  <a:schemeClr val="bg1"/>
                </a:solidFill>
                <a:latin typeface="Arial"/>
                <a:ea typeface="Arial"/>
                <a:cs typeface="Arial"/>
              </a:rPr>
              <a:t> </a:t>
            </a:r>
            <a:r>
              <a:rPr sz="2100">
                <a:solidFill>
                  <a:schemeClr val="bg1"/>
                </a:solidFill>
                <a:latin typeface="Arial"/>
                <a:ea typeface="Arial"/>
                <a:cs typeface="Arial"/>
              </a:rPr>
              <a:t>מבוסס </a:t>
            </a:r>
            <a:r>
              <a:rPr sz="2100">
                <a:solidFill>
                  <a:schemeClr val="bg1"/>
                </a:solidFill>
                <a:latin typeface="Arial"/>
                <a:ea typeface="Arial"/>
                <a:cs typeface="Arial"/>
              </a:rPr>
              <a:t>Gemini</a:t>
            </a:r>
            <a:r>
              <a:rPr sz="2100">
                <a:solidFill>
                  <a:schemeClr val="bg1"/>
                </a:solidFill>
                <a:latin typeface="Arial"/>
                <a:ea typeface="Arial"/>
                <a:cs typeface="Arial"/>
              </a:rPr>
              <a:t> 3.5 </a:t>
            </a:r>
            <a:endParaRPr sz="2100">
              <a:solidFill>
                <a:schemeClr val="bg1"/>
              </a:solidFill>
              <a:latin typeface="Arial"/>
              <a:ea typeface="Arial"/>
              <a:cs typeface="Arial"/>
            </a:endParaRPr>
          </a:p>
        </p:txBody>
      </p:sp>
      <p:sp>
        <p:nvSpPr>
          <p:cNvPr id="5" name="TextBox 4">
            <a:extLst xmlns:a="http://schemas.openxmlformats.org/drawingml/2006/main">
              <a:ext uri="{FF2B5EF4-FFF2-40B4-BE49-F238E27FC236}">
                <a16:creationId xmlns:a16="http://schemas.microsoft.com/office/drawing/2014/main" id="{1B14EB85-1954-4535-A115-ED70C748AD59}"/>
              </a:ext>
            </a:extLst>
          </p:cNvPr>
          <p:cNvSpPr>
            <a:spLocks xmlns:a="http://schemas.openxmlformats.org/drawingml/2006/main" noGrp="1"/>
          </p:cNvSpPr>
          <p:nvPr/>
        </p:nvSpPr>
        <p:spPr>
          <a:xfrm xmlns:a="http://schemas.openxmlformats.org/drawingml/2006/main">
            <a:off x="6334125" y="2619375"/>
            <a:ext cx="5286375" cy="1231106"/>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lnSpc>
                <a:spcPts val="2400"/>
              </a:lnSpc>
              <a:buNone/>
            </a:pPr>
            <a:r>
              <a:rPr sz="1500">
                <a:solidFill>
                  <a:srgbClr val="334155"/>
                </a:solidFill>
                <a:latin typeface="Arial"/>
                <a:ea typeface="Arial"/>
                <a:cs typeface="Arial"/>
              </a:rPr>
              <a:t>VetBot</a:t>
            </a:r>
            <a:r>
              <a:rPr sz="1500">
                <a:solidFill>
                  <a:srgbClr val="334155"/>
                </a:solidFill>
                <a:latin typeface="Arial"/>
                <a:ea typeface="Arial"/>
                <a:cs typeface="Arial"/>
              </a:rPr>
              <a:t> </a:t>
            </a:r>
            <a:r>
              <a:rPr sz="1500">
                <a:solidFill>
                  <a:srgbClr val="334155"/>
                </a:solidFill>
                <a:latin typeface="Arial"/>
                <a:ea typeface="Arial"/>
                <a:cs typeface="Arial"/>
              </a:rPr>
              <a:t> </a:t>
            </a:r>
            <a:r>
              <a:rPr sz="1500">
                <a:solidFill>
                  <a:srgbClr val="334155"/>
                </a:solidFill>
                <a:latin typeface="Arial"/>
                <a:ea typeface="Arial"/>
                <a:cs typeface="Arial"/>
              </a:rPr>
              <a:t>אינו צ'אט כללי, אלא עוזר חכם </a:t>
            </a:r>
            <a:r>
              <a:rPr sz="1500">
                <a:solidFill>
                  <a:srgbClr val="334155"/>
                </a:solidFill>
                <a:latin typeface="Arial"/>
                <a:ea typeface="Arial"/>
                <a:cs typeface="Arial"/>
              </a:rPr>
              <a:t>תלוי-הקשר המכיר </a:t>
            </a:r>
            <a:r>
              <a:rPr sz="1500">
                <a:solidFill>
                  <a:srgbClr val="334155"/>
                </a:solidFill>
                <a:latin typeface="Arial"/>
                <a:ea typeface="Arial"/>
                <a:cs typeface="Arial"/>
              </a:rPr>
              <a:t>את המסך בו הצוות נמצא. מודל ה-</a:t>
            </a:r>
            <a:r>
              <a:rPr sz="1500">
                <a:solidFill>
                  <a:srgbClr val="334155"/>
                </a:solidFill>
                <a:latin typeface="Arial"/>
                <a:ea typeface="Arial"/>
                <a:cs typeface="Arial"/>
              </a:rPr>
              <a:t> </a:t>
            </a:r>
            <a:r>
              <a:rPr sz="1500">
                <a:solidFill>
                  <a:srgbClr val="334155"/>
                </a:solidFill>
                <a:latin typeface="Arial"/>
                <a:ea typeface="Arial"/>
                <a:cs typeface="Arial"/>
              </a:rPr>
              <a:t>AI </a:t>
            </a:r>
            <a:r>
              <a:rPr sz="1500">
                <a:solidFill>
                  <a:srgbClr val="334155"/>
                </a:solidFill>
                <a:latin typeface="Arial"/>
                <a:ea typeface="Arial"/>
                <a:cs typeface="Arial"/>
              </a:rPr>
              <a:t>מנתח בקשות בשפה טבעית בעברית ומתרגם אותן לפעולות </a:t>
            </a:r>
            <a:r>
              <a:rPr sz="1500">
                <a:solidFill>
                  <a:srgbClr val="334155"/>
                </a:solidFill>
                <a:latin typeface="Arial"/>
                <a:ea typeface="Arial"/>
                <a:cs typeface="Arial"/>
              </a:rPr>
              <a:t> </a:t>
            </a:r>
            <a:r>
              <a:rPr sz="1500">
                <a:solidFill>
                  <a:srgbClr val="334155"/>
                </a:solidFill>
                <a:latin typeface="Arial"/>
                <a:ea typeface="Arial"/>
                <a:cs typeface="Arial"/>
              </a:rPr>
              <a:t>API </a:t>
            </a:r>
            <a:r>
              <a:rPr sz="1500">
                <a:solidFill>
                  <a:srgbClr val="334155"/>
                </a:solidFill>
                <a:latin typeface="Arial"/>
                <a:ea typeface="Arial"/>
                <a:cs typeface="Arial"/>
              </a:rPr>
              <a:t>מובנות מול ה- </a:t>
            </a:r>
            <a:r>
              <a:rPr sz="1500">
                <a:solidFill>
                  <a:srgbClr val="334155"/>
                </a:solidFill>
                <a:latin typeface="Arial"/>
                <a:ea typeface="Arial"/>
                <a:cs typeface="Arial"/>
              </a:rPr>
              <a:t>Backend</a:t>
            </a:r>
            <a:r>
              <a:rPr sz="1500">
                <a:solidFill>
                  <a:srgbClr val="334155"/>
                </a:solidFill>
                <a:latin typeface="Arial"/>
                <a:ea typeface="Arial"/>
                <a:cs typeface="Arial"/>
              </a:rPr>
              <a:t>.  במידה </a:t>
            </a:r>
            <a:r>
              <a:rPr sz="1500">
                <a:solidFill>
                  <a:srgbClr val="334155"/>
                </a:solidFill>
                <a:latin typeface="Arial"/>
                <a:ea typeface="Arial"/>
                <a:cs typeface="Arial"/>
              </a:rPr>
              <a:t>והבוט</a:t>
            </a:r>
            <a:r>
              <a:rPr sz="1500">
                <a:solidFill>
                  <a:srgbClr val="334155"/>
                </a:solidFill>
                <a:latin typeface="Arial"/>
                <a:ea typeface="Arial"/>
                <a:cs typeface="Arial"/>
              </a:rPr>
              <a:t> נופל או שיש בעיית תקשורת המערכת עוברת למודל ה2.5 של גוגל.</a:t>
            </a:r>
            <a:endParaRPr sz="1500">
              <a:solidFill>
                <a:srgbClr val="334155"/>
              </a:solidFill>
              <a:latin typeface="Arial"/>
              <a:ea typeface="Arial"/>
              <a:cs typeface="Arial"/>
            </a:endParaRPr>
          </a:p>
        </p:txBody>
      </p:sp>
      <p:sp>
        <p:nvSpPr>
          <p:cNvPr id="6" name="TextBox 5">
            <a:extLst xmlns:a="http://schemas.openxmlformats.org/drawingml/2006/main">
              <a:ext uri="{FF2B5EF4-FFF2-40B4-BE49-F238E27FC236}">
                <a16:creationId xmlns:a16="http://schemas.microsoft.com/office/drawing/2014/main" id="{BBAF4944-C12A-409B-8E07-4F7A77BF2179}"/>
              </a:ext>
            </a:extLst>
          </p:cNvPr>
          <p:cNvSpPr>
            <a:spLocks xmlns:a="http://schemas.openxmlformats.org/drawingml/2006/main" noGrp="1"/>
          </p:cNvSpPr>
          <p:nvPr/>
        </p:nvSpPr>
        <p:spPr>
          <a:xfrm xmlns:a="http://schemas.openxmlformats.org/drawingml/2006/main">
            <a:off x="6069807" y="4350042"/>
            <a:ext cx="5550693" cy="323165"/>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2100">
                <a:solidFill>
                  <a:schemeClr val="bg1"/>
                </a:solidFill>
                <a:latin typeface="Arial"/>
                <a:ea typeface="Arial"/>
                <a:cs typeface="Arial"/>
              </a:rPr>
              <a:t>בטיחות: </a:t>
            </a:r>
            <a:r>
              <a:rPr sz="2100">
                <a:solidFill>
                  <a:schemeClr val="bg1"/>
                </a:solidFill>
                <a:latin typeface="Arial"/>
                <a:ea typeface="Arial"/>
                <a:cs typeface="Arial"/>
              </a:rPr>
              <a:t>Human-in-the-Loop</a:t>
            </a:r>
          </a:p>
        </p:txBody>
      </p:sp>
      <p:sp>
        <p:nvSpPr>
          <p:cNvPr id="7" name="TextBox 6">
            <a:extLst xmlns:a="http://schemas.openxmlformats.org/drawingml/2006/main">
              <a:ext uri="{FF2B5EF4-FFF2-40B4-BE49-F238E27FC236}">
                <a16:creationId xmlns:a16="http://schemas.microsoft.com/office/drawing/2014/main" id="{C8CE6E01-AE4A-4585-8316-C18888CB687C}"/>
              </a:ext>
            </a:extLst>
          </p:cNvPr>
          <p:cNvSpPr>
            <a:spLocks xmlns:a="http://schemas.openxmlformats.org/drawingml/2006/main" noGrp="1"/>
          </p:cNvSpPr>
          <p:nvPr/>
        </p:nvSpPr>
        <p:spPr>
          <a:xfrm xmlns:a="http://schemas.openxmlformats.org/drawingml/2006/main">
            <a:off x="6334125" y="4721860"/>
            <a:ext cx="5286375" cy="1538883"/>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lnSpc>
                <a:spcPts val="2400"/>
              </a:lnSpc>
              <a:buNone/>
            </a:pPr>
            <a:r>
              <a:rPr sz="1500">
                <a:solidFill>
                  <a:srgbClr val="334155"/>
                </a:solidFill>
                <a:latin typeface="Arial"/>
                <a:ea typeface="Arial"/>
                <a:cs typeface="Arial"/>
              </a:rPr>
              <a:t>לפני כל שינוי בבסיס הנתונים (כמו קביעת תור, ניפוק תרופה מהמלאי, או סיכום ביקור רפואי), ה-</a:t>
            </a:r>
            <a:r>
              <a:rPr sz="1500">
                <a:solidFill>
                  <a:srgbClr val="334155"/>
                </a:solidFill>
                <a:latin typeface="Arial"/>
                <a:ea typeface="Arial"/>
                <a:cs typeface="Arial"/>
              </a:rPr>
              <a:t>AI </a:t>
            </a:r>
            <a:r>
              <a:rPr sz="1500">
                <a:solidFill>
                  <a:srgbClr val="334155"/>
                </a:solidFill>
                <a:latin typeface="Arial"/>
                <a:ea typeface="Arial"/>
                <a:cs typeface="Arial"/>
              </a:rPr>
              <a:t> מחויב לייצר </a:t>
            </a:r>
            <a:r>
              <a:rPr sz="1500" b="1">
                <a:solidFill>
                  <a:srgbClr val="334155"/>
                </a:solidFill>
                <a:latin typeface="Arial"/>
                <a:ea typeface="Arial"/>
                <a:cs typeface="Arial"/>
              </a:rPr>
              <a:t>טיוטה</a:t>
            </a:r>
            <a:r>
              <a:rPr sz="1500">
                <a:solidFill>
                  <a:srgbClr val="334155"/>
                </a:solidFill>
                <a:latin typeface="Arial"/>
                <a:ea typeface="Arial"/>
                <a:cs typeface="Arial"/>
              </a:rPr>
              <a:t>. הפעולה </a:t>
            </a:r>
            <a:r>
              <a:rPr sz="1500">
                <a:solidFill>
                  <a:srgbClr val="334155"/>
                </a:solidFill>
                <a:latin typeface="Arial"/>
                <a:ea typeface="Arial"/>
                <a:cs typeface="Arial"/>
              </a:rPr>
              <a:t>תצא לפועל רק לאחר אישור אנושי מפורש של הווטרינר. המודל לעולם לא פועל באוטונומיות מלאה. </a:t>
            </a:r>
            <a:endParaRPr sz="2800">
              <a:solidFill>
                <a:srgbClr val="FF0000"/>
              </a:solidFill>
              <a:highlight>
                <a:srgbClr val="FFFF00"/>
              </a:highlight>
              <a:latin typeface="Arial"/>
              <a:ea typeface="Arial"/>
              <a:cs typeface="Arial"/>
            </a:endParaRPr>
          </a:p>
          <a:p xmlns:a="http://schemas.openxmlformats.org/drawingml/2006/main">
            <a:pPr algn="r">
              <a:lnSpc>
                <a:spcPts val="2400"/>
              </a:lnSpc>
              <a:buNone/>
            </a:pPr>
            <a:endParaRPr sz="1500" b="0" i="0" u="none">
              <a:solidFill>
                <a:srgbClr val="334155"/>
              </a:solidFill>
              <a:latin typeface="Arial"/>
              <a:ea typeface="Arial"/>
              <a:cs typeface="Arial"/>
            </a:endParaRPr>
          </a:p>
        </p:txBody>
      </p:sp>
      <p:sp>
        <p:nvSpPr>
          <p:cNvPr id="9" name="TextBox 8">
            <a:extLst xmlns:a="http://schemas.openxmlformats.org/drawingml/2006/main">
              <a:ext uri="{FF2B5EF4-FFF2-40B4-BE49-F238E27FC236}">
                <a16:creationId xmlns:a16="http://schemas.microsoft.com/office/drawing/2014/main" id="{FDA03477-6075-4A08-B15D-127697FF5C7F}"/>
              </a:ext>
            </a:extLst>
          </p:cNvPr>
          <p:cNvSpPr>
            <a:spLocks xmlns:a="http://schemas.openxmlformats.org/drawingml/2006/main" noGrp="1"/>
          </p:cNvSpPr>
          <p:nvPr/>
        </p:nvSpPr>
        <p:spPr>
          <a:xfrm xmlns:a="http://schemas.openxmlformats.org/drawingml/2006/main">
            <a:off x="19050" y="476250"/>
            <a:ext cx="11601450" cy="600164"/>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ctr">
              <a:buNone/>
            </a:pPr>
            <a:r>
              <a:rPr sz="3900" b="1">
                <a:solidFill>
                  <a:srgbClr val="1E40AF"/>
                </a:solidFill>
                <a:latin typeface="Arial"/>
                <a:ea typeface="Arial"/>
                <a:cs typeface="Arial"/>
              </a:rPr>
              <a:t>מודל ה-</a:t>
            </a:r>
            <a:r>
              <a:rPr sz="3900" b="1">
                <a:solidFill>
                  <a:srgbClr val="1E40AF"/>
                </a:solidFill>
                <a:latin typeface="Arial"/>
                <a:ea typeface="Arial"/>
                <a:cs typeface="Arial"/>
              </a:rPr>
              <a:t>AI </a:t>
            </a:r>
            <a:r>
              <a:rPr sz="3900" b="1">
                <a:solidFill>
                  <a:srgbClr val="1E40AF"/>
                </a:solidFill>
                <a:latin typeface="Arial"/>
                <a:ea typeface="Arial"/>
                <a:cs typeface="Arial"/>
              </a:rPr>
              <a:t>:</a:t>
            </a:r>
            <a:r>
              <a:rPr sz="3900" b="1">
                <a:solidFill>
                  <a:srgbClr val="1E40AF"/>
                </a:solidFill>
                <a:latin typeface="Arial"/>
                <a:ea typeface="Arial"/>
                <a:cs typeface="Arial"/>
              </a:rPr>
              <a:t> </a:t>
            </a:r>
            <a:r>
              <a:rPr sz="3900" b="1">
                <a:solidFill>
                  <a:srgbClr val="1E40AF"/>
                </a:solidFill>
                <a:latin typeface="Arial"/>
                <a:ea typeface="Arial"/>
                <a:cs typeface="Arial"/>
              </a:rPr>
              <a:t>VetBot</a:t>
            </a:r>
          </a:p>
        </p:txBody>
      </p:sp>
      <p:pic>
        <p:nvPicPr>
          <p:cNvPr id="18" name="תמונה 1"/>
          <p:cNvPicPr>
            <a:picLocks xmlns:a="http://schemas.openxmlformats.org/drawingml/2006/main" noChangeAspect="1"/>
          </p:cNvPicPr>
          <p:nvPr/>
        </p:nvPicPr>
        <p:blipFill>
          <a:blip xmlns:r="http://schemas.openxmlformats.org/officeDocument/2006/relationships" xmlns:a="http://schemas.openxmlformats.org/drawingml/2006/main" r:embed="R9b7c357bc45b4a1e"/>
          <a:stretch xmlns:a="http://schemas.openxmlformats.org/drawingml/2006/main">
            <a:fillRect l="0" t="0" r="0" b="0"/>
          </a:stretch>
        </p:blipFill>
        <p:spPr>
          <a:xfrm xmlns:a="http://schemas.openxmlformats.org/drawingml/2006/main">
            <a:off x="1314321" y="2337823"/>
            <a:ext cx="1848108" cy="1886213"/>
          </a:xfrm>
          <a:prstGeom xmlns:a="http://schemas.openxmlformats.org/drawingml/2006/main" prst="rect">
            <a:avLst/>
          </a:prstGeom>
          <a:effectLst xmlns:a="http://schemas.openxmlformats.org/drawingml/2006/main">
            <a:softEdge rad="342900"/>
          </a:effectLst>
        </p:spPr>
      </p:pic>
    </p:spTree>
    <p:extLst>
      <p:ext uri="{BB962C8B-B14F-4D97-AF65-F5344CB8AC3E}">
        <p14:creationId xmlns:p14="http://schemas.microsoft.com/office/powerpoint/2010/main" val="1337499156"/>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4" name="TextBox 3">
            <a:extLst xmlns:a="http://schemas.openxmlformats.org/drawingml/2006/main">
              <a:ext uri="{FF2B5EF4-FFF2-40B4-BE49-F238E27FC236}">
                <a16:creationId xmlns:a16="http://schemas.microsoft.com/office/drawing/2014/main" id="{509ACF59-E04A-4E12-A714-501483F02803}"/>
              </a:ext>
            </a:extLst>
          </p:cNvPr>
          <p:cNvSpPr>
            <a:spLocks xmlns:a="http://schemas.openxmlformats.org/drawingml/2006/main" noGrp="1"/>
          </p:cNvSpPr>
          <p:nvPr/>
        </p:nvSpPr>
        <p:spPr>
          <a:xfrm xmlns:a="http://schemas.openxmlformats.org/drawingml/2006/main">
            <a:off x="3039035" y="537044"/>
            <a:ext cx="6745941" cy="600164"/>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ctr">
              <a:buNone/>
            </a:pPr>
            <a:r>
              <a:rPr sz="3900" b="1">
                <a:solidFill>
                  <a:srgbClr val="1E40AF"/>
                </a:solidFill>
                <a:latin typeface="Arial"/>
                <a:ea typeface="Arial"/>
                <a:cs typeface="Arial"/>
              </a:rPr>
              <a:t>איכות פיתוח וסטטוס המערכת</a:t>
            </a:r>
          </a:p>
        </p:txBody>
      </p:sp>
      <p:sp>
        <p:nvSpPr>
          <p:cNvPr id="6" name="TextBox 5">
            <a:extLst xmlns:a="http://schemas.openxmlformats.org/drawingml/2006/main">
              <a:ext uri="{FF2B5EF4-FFF2-40B4-BE49-F238E27FC236}">
                <a16:creationId xmlns:a16="http://schemas.microsoft.com/office/drawing/2014/main" id="{18776DE2-BB22-47F7-B535-01E5EBAE983E}"/>
              </a:ext>
            </a:extLst>
          </p:cNvPr>
          <p:cNvSpPr>
            <a:spLocks xmlns:a="http://schemas.openxmlformats.org/drawingml/2006/main" noGrp="1"/>
          </p:cNvSpPr>
          <p:nvPr/>
        </p:nvSpPr>
        <p:spPr>
          <a:xfrm xmlns:a="http://schemas.openxmlformats.org/drawingml/2006/main">
            <a:off x="6656093" y="1654974"/>
            <a:ext cx="4856899" cy="2154436"/>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lnSpc>
                <a:spcPts val="2400"/>
              </a:lnSpc>
              <a:buNone/>
            </a:pPr>
            <a:r>
              <a:rPr b="1">
                <a:solidFill>
                  <a:schemeClr val="tx1">
                    <a:lumMod val="95000"/>
                    <a:lumOff val="5000"/>
                  </a:schemeClr>
                </a:solidFill>
                <a:latin typeface="Arial"/>
                <a:ea typeface="Arial"/>
                <a:cs typeface="Arial"/>
              </a:rPr>
              <a:t>בדיקות תוכנה מקיפות- </a:t>
            </a:r>
            <a:r>
              <a:rPr>
                <a:solidFill>
                  <a:schemeClr val="tx1">
                    <a:lumMod val="95000"/>
                    <a:lumOff val="5000"/>
                  </a:schemeClr>
                </a:solidFill>
                <a:latin typeface="Arial"/>
                <a:ea typeface="Arial"/>
                <a:cs typeface="Arial"/>
              </a:rPr>
              <a:t>פיתוח </a:t>
            </a:r>
            <a:r>
              <a:rPr>
                <a:solidFill>
                  <a:schemeClr val="tx1">
                    <a:lumMod val="95000"/>
                    <a:lumOff val="5000"/>
                  </a:schemeClr>
                </a:solidFill>
                <a:latin typeface="Arial"/>
                <a:ea typeface="Arial"/>
                <a:cs typeface="Arial"/>
              </a:rPr>
              <a:t>המערכת לווה בכתיבת קוד איכותי הניתן לבדיקה. המערכת מגובה במערך של </a:t>
            </a:r>
            <a:r>
              <a:rPr b="1">
                <a:solidFill>
                  <a:schemeClr val="tx1">
                    <a:lumMod val="95000"/>
                    <a:lumOff val="5000"/>
                  </a:schemeClr>
                </a:solidFill>
                <a:latin typeface="Arial"/>
                <a:ea typeface="Arial"/>
                <a:cs typeface="Arial"/>
              </a:rPr>
              <a:t>מעל 165 בדיקות יחידה ורגרסיה</a:t>
            </a:r>
            <a:r>
              <a:rPr>
                <a:solidFill>
                  <a:schemeClr val="tx1">
                    <a:lumMod val="95000"/>
                    <a:lumOff val="5000"/>
                  </a:schemeClr>
                </a:solidFill>
                <a:latin typeface="Arial"/>
                <a:ea typeface="Arial"/>
                <a:cs typeface="Arial"/>
              </a:rPr>
              <a:t> העוברות בהצלחה מלאה. הבדיקות מכסות זרימות עבודה, חסימות ביומן, השחרת נתונים</a:t>
            </a:r>
          </a:p>
          <a:p xmlns:a="http://schemas.openxmlformats.org/drawingml/2006/main">
            <a:pPr algn="r">
              <a:lnSpc>
                <a:spcPts val="2400"/>
              </a:lnSpc>
              <a:buNone/>
            </a:pPr>
            <a:r>
              <a:rPr>
                <a:solidFill>
                  <a:schemeClr val="tx1">
                    <a:lumMod val="95000"/>
                    <a:lumOff val="5000"/>
                  </a:schemeClr>
                </a:solidFill>
                <a:latin typeface="Arial"/>
                <a:ea typeface="Arial"/>
                <a:cs typeface="Arial"/>
              </a:rPr>
              <a:t> (</a:t>
            </a:r>
            <a:r>
              <a:rPr>
                <a:solidFill>
                  <a:schemeClr val="tx1">
                    <a:lumMod val="95000"/>
                    <a:lumOff val="5000"/>
                  </a:schemeClr>
                </a:solidFill>
                <a:latin typeface="Arial"/>
                <a:ea typeface="Arial"/>
                <a:cs typeface="Arial"/>
              </a:rPr>
              <a:t>Data Redaction</a:t>
            </a:r>
            <a:r>
              <a:rPr>
                <a:solidFill>
                  <a:schemeClr val="tx1">
                    <a:lumMod val="95000"/>
                    <a:lumOff val="5000"/>
                  </a:schemeClr>
                </a:solidFill>
                <a:latin typeface="Arial"/>
                <a:ea typeface="Arial"/>
                <a:cs typeface="Arial"/>
              </a:rPr>
              <a:t>) </a:t>
            </a:r>
            <a:r>
              <a:rPr>
                <a:solidFill>
                  <a:schemeClr val="tx1">
                    <a:lumMod val="95000"/>
                    <a:lumOff val="5000"/>
                  </a:schemeClr>
                </a:solidFill>
                <a:latin typeface="Arial"/>
                <a:ea typeface="Arial"/>
                <a:cs typeface="Arial"/>
              </a:rPr>
              <a:t>לפני שליחה ל-</a:t>
            </a:r>
            <a:r>
              <a:rPr>
                <a:solidFill>
                  <a:schemeClr val="tx1">
                    <a:lumMod val="95000"/>
                    <a:lumOff val="5000"/>
                  </a:schemeClr>
                </a:solidFill>
                <a:latin typeface="Arial"/>
                <a:ea typeface="Arial"/>
                <a:cs typeface="Arial"/>
              </a:rPr>
              <a:t>AI</a:t>
            </a:r>
            <a:r>
              <a:rPr>
                <a:solidFill>
                  <a:schemeClr val="tx1">
                    <a:lumMod val="95000"/>
                    <a:lumOff val="5000"/>
                  </a:schemeClr>
                </a:solidFill>
                <a:latin typeface="Arial"/>
                <a:ea typeface="Arial"/>
                <a:cs typeface="Arial"/>
              </a:rPr>
              <a:t> </a:t>
            </a:r>
            <a:r>
              <a:rPr>
                <a:solidFill>
                  <a:schemeClr val="tx1">
                    <a:lumMod val="95000"/>
                    <a:lumOff val="5000"/>
                  </a:schemeClr>
                </a:solidFill>
                <a:latin typeface="Arial"/>
                <a:ea typeface="Arial"/>
                <a:cs typeface="Arial"/>
              </a:rPr>
              <a:t> ואכיפת הרשאות.</a:t>
            </a:r>
            <a:endParaRPr b="0" i="0" u="none">
              <a:solidFill>
                <a:schemeClr val="tx1">
                  <a:lumMod val="95000"/>
                  <a:lumOff val="5000"/>
                </a:schemeClr>
              </a:solidFill>
              <a:latin typeface="Arial"/>
              <a:ea typeface="Arial"/>
              <a:cs typeface="Arial"/>
            </a:endParaRPr>
          </a:p>
        </p:txBody>
      </p:sp>
      <p:sp>
        <p:nvSpPr>
          <p:cNvPr id="8" name="TextBox 7">
            <a:extLst xmlns:a="http://schemas.openxmlformats.org/drawingml/2006/main">
              <a:ext uri="{FF2B5EF4-FFF2-40B4-BE49-F238E27FC236}">
                <a16:creationId xmlns:a16="http://schemas.microsoft.com/office/drawing/2014/main" id="{6B30A4A5-AC3D-4D65-9812-832C408DBF91}"/>
              </a:ext>
            </a:extLst>
          </p:cNvPr>
          <p:cNvSpPr>
            <a:spLocks xmlns:a="http://schemas.openxmlformats.org/drawingml/2006/main" noGrp="1"/>
          </p:cNvSpPr>
          <p:nvPr/>
        </p:nvSpPr>
        <p:spPr>
          <a:xfrm xmlns:a="http://schemas.openxmlformats.org/drawingml/2006/main">
            <a:off x="0" y="3237721"/>
            <a:ext cx="4762500" cy="89890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lnSpc>
                <a:spcPts val="2400"/>
              </a:lnSpc>
              <a:buNone/>
            </a:pPr>
            <a:r>
              <a:rPr b="1">
                <a:solidFill>
                  <a:schemeClr val="tx1">
                    <a:lumMod val="95000"/>
                    <a:lumOff val="5000"/>
                  </a:schemeClr>
                </a:solidFill>
                <a:latin typeface="Arial"/>
                <a:ea typeface="Arial"/>
                <a:cs typeface="Arial"/>
              </a:rPr>
              <a:t>ליבת </a:t>
            </a:r>
            <a:r>
              <a:rPr b="1">
                <a:solidFill>
                  <a:schemeClr val="tx1">
                    <a:lumMod val="95000"/>
                    <a:lumOff val="5000"/>
                  </a:schemeClr>
                </a:solidFill>
                <a:latin typeface="Arial"/>
                <a:ea typeface="Arial"/>
                <a:cs typeface="Arial"/>
              </a:rPr>
              <a:t>המוצר-</a:t>
            </a:r>
            <a:r>
              <a:rPr>
                <a:solidFill>
                  <a:schemeClr val="tx1">
                    <a:lumMod val="95000"/>
                    <a:lumOff val="5000"/>
                  </a:schemeClr>
                </a:solidFill>
                <a:latin typeface="Arial"/>
                <a:ea typeface="Arial"/>
                <a:cs typeface="Arial"/>
              </a:rPr>
              <a:t> </a:t>
            </a:r>
            <a:r>
              <a:rPr>
                <a:solidFill>
                  <a:schemeClr val="tx1">
                    <a:lumMod val="95000"/>
                    <a:lumOff val="5000"/>
                  </a:schemeClr>
                </a:solidFill>
                <a:latin typeface="Arial"/>
                <a:ea typeface="Arial"/>
                <a:cs typeface="Arial"/>
              </a:rPr>
              <a:t>(הפורטל, התיק הרפואי וניהול המרפאה) עובדים בצורה מלאה, יציבה ומוכנים להדגמה (</a:t>
            </a:r>
            <a:r>
              <a:rPr>
                <a:solidFill>
                  <a:schemeClr val="tx1">
                    <a:lumMod val="95000"/>
                    <a:lumOff val="5000"/>
                  </a:schemeClr>
                </a:solidFill>
                <a:latin typeface="Arial"/>
                <a:ea typeface="Arial"/>
                <a:cs typeface="Arial"/>
              </a:rPr>
              <a:t>Demo</a:t>
            </a:r>
            <a:r>
              <a:rPr>
                <a:solidFill>
                  <a:schemeClr val="tx1">
                    <a:lumMod val="95000"/>
                    <a:lumOff val="5000"/>
                  </a:schemeClr>
                </a:solidFill>
                <a:latin typeface="Arial"/>
                <a:ea typeface="Arial"/>
                <a:cs typeface="Arial"/>
              </a:rPr>
              <a:t>).</a:t>
            </a:r>
            <a:endParaRPr>
              <a:solidFill>
                <a:schemeClr val="tx1">
                  <a:lumMod val="95000"/>
                  <a:lumOff val="5000"/>
                </a:schemeClr>
              </a:solidFill>
              <a:latin typeface="Arial"/>
              <a:ea typeface="Arial"/>
              <a:cs typeface="Arial"/>
            </a:endParaRPr>
          </a:p>
        </p:txBody>
      </p:sp>
      <p:sp>
        <p:nvSpPr>
          <p:cNvPr id="9" name="TextBox 8">
            <a:extLst xmlns:a="http://schemas.openxmlformats.org/drawingml/2006/main">
              <a:ext uri="{FF2B5EF4-FFF2-40B4-BE49-F238E27FC236}">
                <a16:creationId xmlns:a16="http://schemas.microsoft.com/office/drawing/2014/main" id="{516C5C13-546A-4356-931A-8D1AFB519F52}"/>
              </a:ext>
            </a:extLst>
          </p:cNvPr>
          <p:cNvSpPr>
            <a:spLocks xmlns:a="http://schemas.openxmlformats.org/drawingml/2006/main" noGrp="1"/>
          </p:cNvSpPr>
          <p:nvPr/>
        </p:nvSpPr>
        <p:spPr>
          <a:xfrm xmlns:a="http://schemas.openxmlformats.org/drawingml/2006/main">
            <a:off x="4762500" y="4894281"/>
            <a:ext cx="4762500" cy="1538883"/>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lnSpc>
                <a:spcPts val="2400"/>
              </a:lnSpc>
              <a:buNone/>
            </a:pPr>
            <a:r>
              <a:rPr b="1">
                <a:solidFill>
                  <a:schemeClr val="tx1">
                    <a:lumMod val="95000"/>
                    <a:lumOff val="5000"/>
                  </a:schemeClr>
                </a:solidFill>
                <a:latin typeface="Arial"/>
                <a:ea typeface="Arial"/>
                <a:cs typeface="Arial"/>
              </a:rPr>
              <a:t>יכולות </a:t>
            </a:r>
            <a:r>
              <a:rPr b="1">
                <a:solidFill>
                  <a:schemeClr val="tx1">
                    <a:lumMod val="95000"/>
                    <a:lumOff val="5000"/>
                  </a:schemeClr>
                </a:solidFill>
                <a:latin typeface="Arial"/>
                <a:ea typeface="Arial"/>
                <a:cs typeface="Arial"/>
              </a:rPr>
              <a:t>AI</a:t>
            </a:r>
            <a:r>
              <a:rPr b="1">
                <a:solidFill>
                  <a:schemeClr val="tx1">
                    <a:lumMod val="95000"/>
                    <a:lumOff val="5000"/>
                  </a:schemeClr>
                </a:solidFill>
                <a:latin typeface="Arial"/>
                <a:ea typeface="Arial"/>
                <a:cs typeface="Arial"/>
              </a:rPr>
              <a:t> </a:t>
            </a:r>
            <a:r>
              <a:rPr b="1">
                <a:solidFill>
                  <a:schemeClr val="tx1">
                    <a:lumMod val="95000"/>
                    <a:lumOff val="5000"/>
                  </a:schemeClr>
                </a:solidFill>
                <a:latin typeface="Arial"/>
                <a:ea typeface="Arial"/>
                <a:cs typeface="Arial"/>
              </a:rPr>
              <a:t>רפואיות </a:t>
            </a:r>
            <a:r>
              <a:rPr b="1">
                <a:solidFill>
                  <a:schemeClr val="tx1">
                    <a:lumMod val="95000"/>
                    <a:lumOff val="5000"/>
                  </a:schemeClr>
                </a:solidFill>
                <a:latin typeface="Arial"/>
                <a:ea typeface="Arial"/>
                <a:cs typeface="Arial"/>
              </a:rPr>
              <a:t>מתקדמות-</a:t>
            </a:r>
            <a:r>
              <a:rPr>
                <a:solidFill>
                  <a:schemeClr val="tx1">
                    <a:lumMod val="95000"/>
                    <a:lumOff val="5000"/>
                  </a:schemeClr>
                </a:solidFill>
                <a:latin typeface="Arial"/>
                <a:ea typeface="Arial"/>
                <a:cs typeface="Arial"/>
              </a:rPr>
              <a:t> </a:t>
            </a:r>
            <a:r>
              <a:rPr>
                <a:solidFill>
                  <a:schemeClr val="tx1">
                    <a:lumMod val="95000"/>
                    <a:lumOff val="5000"/>
                  </a:schemeClr>
                </a:solidFill>
                <a:latin typeface="Arial"/>
                <a:ea typeface="Arial"/>
                <a:cs typeface="Arial"/>
              </a:rPr>
              <a:t>מומשו ברמת הקוד ונבדקו מקומית להוכחת היתכנות טכנולוגית, אך אינן מוצגות עדיין כמערכת</a:t>
            </a:r>
            <a:r>
              <a:rPr>
                <a:solidFill>
                  <a:schemeClr val="tx1">
                    <a:lumMod val="95000"/>
                    <a:lumOff val="5000"/>
                  </a:schemeClr>
                </a:solidFill>
                <a:latin typeface="Arial"/>
                <a:ea typeface="Arial"/>
                <a:cs typeface="Arial"/>
              </a:rPr>
              <a:t>Production </a:t>
            </a:r>
            <a:r>
              <a:rPr>
                <a:solidFill>
                  <a:schemeClr val="tx1">
                    <a:lumMod val="95000"/>
                    <a:lumOff val="5000"/>
                  </a:schemeClr>
                </a:solidFill>
                <a:latin typeface="Arial"/>
                <a:ea typeface="Arial"/>
                <a:cs typeface="Arial"/>
              </a:rPr>
              <a:t> רפואית המאומתת לייב.</a:t>
            </a:r>
          </a:p>
          <a:p xmlns:a="http://schemas.openxmlformats.org/drawingml/2006/main">
            <a:pPr algn="r">
              <a:lnSpc>
                <a:spcPts val="2400"/>
              </a:lnSpc>
              <a:buNone/>
            </a:pPr>
            <a:endParaRPr b="0" i="0" u="none">
              <a:solidFill>
                <a:schemeClr val="tx1">
                  <a:lumMod val="95000"/>
                  <a:lumOff val="5000"/>
                </a:schemeClr>
              </a:solidFill>
              <a:latin typeface="Arial"/>
              <a:ea typeface="Arial"/>
              <a:cs typeface="Arial"/>
            </a:endParaRPr>
          </a:p>
        </p:txBody>
      </p:sp>
    </p:spTree>
    <p:extLst>
      <p:ext uri="{BB962C8B-B14F-4D97-AF65-F5344CB8AC3E}">
        <p14:creationId xmlns:p14="http://schemas.microsoft.com/office/powerpoint/2010/main" val="871902010"/>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4" name="TextBox 3">
            <a:extLst xmlns:a="http://schemas.openxmlformats.org/drawingml/2006/main">
              <a:ext uri="{FF2B5EF4-FFF2-40B4-BE49-F238E27FC236}">
                <a16:creationId xmlns:a16="http://schemas.microsoft.com/office/drawing/2014/main" id="{E2DEB26E-A626-4AA7-9B2E-BB99B0F0B0F3}"/>
              </a:ext>
            </a:extLst>
          </p:cNvPr>
          <p:cNvSpPr>
            <a:spLocks xmlns:a="http://schemas.openxmlformats.org/drawingml/2006/main" noGrp="1"/>
          </p:cNvSpPr>
          <p:nvPr/>
        </p:nvSpPr>
        <p:spPr>
          <a:xfrm xmlns:a="http://schemas.openxmlformats.org/drawingml/2006/main">
            <a:off x="3039035" y="537044"/>
            <a:ext cx="6745941" cy="600164"/>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ctr">
              <a:buNone/>
            </a:pPr>
            <a:r>
              <a:rPr sz="3900" b="1">
                <a:solidFill>
                  <a:srgbClr val="1E40AF"/>
                </a:solidFill>
                <a:latin typeface="Arial"/>
                <a:ea typeface="Arial"/>
                <a:cs typeface="Arial"/>
              </a:rPr>
              <a:t>המודל העסקי(</a:t>
            </a:r>
            <a:r>
              <a:rPr sz="3900" b="1">
                <a:solidFill>
                  <a:srgbClr val="1E40AF"/>
                </a:solidFill>
                <a:latin typeface="Arial"/>
                <a:ea typeface="Arial"/>
                <a:cs typeface="Arial"/>
              </a:rPr>
              <a:t>(B2B SaaS</a:t>
            </a:r>
            <a:endParaRPr sz="3900" b="1">
              <a:solidFill>
                <a:srgbClr val="1E40AF"/>
              </a:solidFill>
              <a:latin typeface="Arial"/>
              <a:ea typeface="Arial"/>
              <a:cs typeface="Arial"/>
            </a:endParaRPr>
          </a:p>
        </p:txBody>
      </p:sp>
      <p:pic>
        <p:nvPicPr>
          <p:cNvPr id="24" name="Picture 2"/>
          <p:cNvPicPr>
            <a:picLocks xmlns:a="http://schemas.openxmlformats.org/drawingml/2006/main" noChangeAspect="1"/>
          </p:cNvPicPr>
          <p:nvPr/>
        </p:nvPicPr>
        <p:blipFill>
          <a:blip xmlns:r="http://schemas.openxmlformats.org/officeDocument/2006/relationships" xmlns:a="http://schemas.openxmlformats.org/drawingml/2006/main" r:embed="Rc33b02988ad14923">
            <a:duotone>
              <a:prstClr val="black"/>
              <a:schemeClr val="tx2">
                <a:tint val="45000"/>
                <a:satMod val="400000"/>
              </a:schemeClr>
            </a:duotone>
          </a:blip>
          <a:stretch xmlns:a="http://schemas.openxmlformats.org/drawingml/2006/main">
            <a:fillRect l="0" t="0" r="0" b="0"/>
          </a:stretch>
        </p:blipFill>
        <p:spPr>
          <a:xfrm xmlns:a="http://schemas.openxmlformats.org/drawingml/2006/main">
            <a:off x="8371790" y="2081212"/>
            <a:ext cx="3492549" cy="4200525"/>
          </a:xfrm>
          <a:prstGeom xmlns:a="http://schemas.openxmlformats.org/drawingml/2006/main" prst="rect">
            <a:avLst/>
          </a:prstGeom>
        </p:spPr>
      </p:pic>
      <p:pic>
        <p:nvPicPr>
          <p:cNvPr id="25" name="Picture 2"/>
          <p:cNvPicPr>
            <a:picLocks xmlns:a="http://schemas.openxmlformats.org/drawingml/2006/main" noChangeAspect="1"/>
          </p:cNvPicPr>
          <p:nvPr/>
        </p:nvPicPr>
        <p:blipFill>
          <a:blip xmlns:r="http://schemas.openxmlformats.org/officeDocument/2006/relationships" xmlns:a="http://schemas.openxmlformats.org/drawingml/2006/main" r:embed="Rc33b02988ad14923">
            <a:duotone>
              <a:prstClr val="black"/>
              <a:schemeClr val="tx2">
                <a:tint val="45000"/>
                <a:satMod val="400000"/>
              </a:schemeClr>
            </a:duotone>
          </a:blip>
          <a:stretch xmlns:a="http://schemas.openxmlformats.org/drawingml/2006/main">
            <a:fillRect l="0" t="0" r="0" b="0"/>
          </a:stretch>
        </p:blipFill>
        <p:spPr>
          <a:xfrm xmlns:a="http://schemas.openxmlformats.org/drawingml/2006/main">
            <a:off x="4434790" y="2081211"/>
            <a:ext cx="3492549" cy="4200525"/>
          </a:xfrm>
          <a:prstGeom xmlns:a="http://schemas.openxmlformats.org/drawingml/2006/main" prst="rect">
            <a:avLst/>
          </a:prstGeom>
        </p:spPr>
      </p:pic>
      <p:pic>
        <p:nvPicPr>
          <p:cNvPr id="26" name="Picture 2"/>
          <p:cNvPicPr>
            <a:picLocks xmlns:a="http://schemas.openxmlformats.org/drawingml/2006/main" noChangeAspect="1"/>
          </p:cNvPicPr>
          <p:nvPr/>
        </p:nvPicPr>
        <p:blipFill>
          <a:blip xmlns:r="http://schemas.openxmlformats.org/officeDocument/2006/relationships" xmlns:a="http://schemas.openxmlformats.org/drawingml/2006/main" r:embed="Rc33b02988ad14923">
            <a:duotone>
              <a:prstClr val="black"/>
              <a:schemeClr val="tx2">
                <a:tint val="45000"/>
                <a:satMod val="400000"/>
              </a:schemeClr>
            </a:duotone>
          </a:blip>
          <a:stretch xmlns:a="http://schemas.openxmlformats.org/drawingml/2006/main">
            <a:fillRect l="0" t="0" r="0" b="0"/>
          </a:stretch>
        </p:blipFill>
        <p:spPr>
          <a:xfrm xmlns:a="http://schemas.openxmlformats.org/drawingml/2006/main">
            <a:off x="497790" y="2081212"/>
            <a:ext cx="3492549" cy="4200525"/>
          </a:xfrm>
          <a:prstGeom xmlns:a="http://schemas.openxmlformats.org/drawingml/2006/main" prst="rect">
            <a:avLst/>
          </a:prstGeom>
        </p:spPr>
      </p:pic>
      <p:sp>
        <p:nvSpPr>
          <p:cNvPr id="14" name="TextBox 13">
            <a:extLst xmlns:a="http://schemas.openxmlformats.org/drawingml/2006/main">
              <a:ext uri="{FF2B5EF4-FFF2-40B4-BE49-F238E27FC236}">
                <a16:creationId xmlns:a16="http://schemas.microsoft.com/office/drawing/2014/main" id="{5C54696D-7BBF-49C8-8D49-61393217E6F1}"/>
              </a:ext>
            </a:extLst>
          </p:cNvPr>
          <p:cNvSpPr>
            <a:spLocks xmlns:a="http://schemas.openxmlformats.org/drawingml/2006/main" noGrp="1"/>
          </p:cNvSpPr>
          <p:nvPr/>
        </p:nvSpPr>
        <p:spPr>
          <a:xfrm xmlns:a="http://schemas.openxmlformats.org/drawingml/2006/main">
            <a:off x="9221777" y="2741218"/>
            <a:ext cx="1792574" cy="253915"/>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1650" b="1">
                <a:solidFill>
                  <a:schemeClr val="bg1"/>
                </a:solidFill>
                <a:latin typeface="Arial"/>
                <a:ea typeface="Arial"/>
                <a:cs typeface="Arial"/>
              </a:rPr>
              <a:t>תוכנה כשירות </a:t>
            </a:r>
            <a:r>
              <a:rPr sz="1650" b="1">
                <a:solidFill>
                  <a:schemeClr val="bg1"/>
                </a:solidFill>
                <a:latin typeface="Arial"/>
                <a:ea typeface="Arial"/>
                <a:cs typeface="Arial"/>
              </a:rPr>
              <a:t>SaaS</a:t>
            </a:r>
            <a:endParaRPr sz="1650" b="1">
              <a:solidFill>
                <a:schemeClr val="bg1"/>
              </a:solidFill>
              <a:latin typeface="Arial"/>
              <a:ea typeface="Arial"/>
              <a:cs typeface="Arial"/>
            </a:endParaRPr>
          </a:p>
        </p:txBody>
      </p:sp>
      <p:sp>
        <p:nvSpPr>
          <p:cNvPr id="15" name="TextBox 14">
            <a:extLst xmlns:a="http://schemas.openxmlformats.org/drawingml/2006/main">
              <a:ext uri="{FF2B5EF4-FFF2-40B4-BE49-F238E27FC236}">
                <a16:creationId xmlns:a16="http://schemas.microsoft.com/office/drawing/2014/main" id="{298A4F91-EDF6-4530-AE89-8FC526D71C5D}"/>
              </a:ext>
            </a:extLst>
          </p:cNvPr>
          <p:cNvSpPr>
            <a:spLocks xmlns:a="http://schemas.openxmlformats.org/drawingml/2006/main" noGrp="1"/>
          </p:cNvSpPr>
          <p:nvPr/>
        </p:nvSpPr>
        <p:spPr>
          <a:xfrm xmlns:a="http://schemas.openxmlformats.org/drawingml/2006/main">
            <a:off x="8456953" y="3258143"/>
            <a:ext cx="2997249" cy="1538883"/>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lnSpc>
                <a:spcPts val="2400"/>
              </a:lnSpc>
              <a:buNone/>
            </a:pPr>
            <a:r>
              <a:rPr sz="1500">
                <a:solidFill>
                  <a:srgbClr val="334155"/>
                </a:solidFill>
                <a:latin typeface="Arial"/>
                <a:ea typeface="Arial"/>
                <a:cs typeface="Arial"/>
              </a:rPr>
              <a:t>המודל העסקי מתבסס על שירות חודשי\שנתי. המרפאה\בית החולים ירכוש חבילת בסיס או חבילת </a:t>
            </a:r>
            <a:r>
              <a:rPr sz="1500">
                <a:solidFill>
                  <a:srgbClr val="334155"/>
                </a:solidFill>
                <a:latin typeface="Arial"/>
                <a:ea typeface="Arial"/>
                <a:cs typeface="Arial"/>
              </a:rPr>
              <a:t>פריומיום</a:t>
            </a:r>
            <a:r>
              <a:rPr sz="1500">
                <a:solidFill>
                  <a:srgbClr val="334155"/>
                </a:solidFill>
                <a:latin typeface="Arial"/>
                <a:ea typeface="Arial"/>
                <a:cs typeface="Arial"/>
              </a:rPr>
              <a:t> מורחבת(מרפאה דיגיטלית, </a:t>
            </a:r>
            <a:r>
              <a:rPr sz="1500">
                <a:solidFill>
                  <a:srgbClr val="334155"/>
                </a:solidFill>
                <a:latin typeface="Arial"/>
                <a:ea typeface="Arial"/>
                <a:cs typeface="Arial"/>
              </a:rPr>
              <a:t>צט</a:t>
            </a:r>
            <a:r>
              <a:rPr sz="1500">
                <a:solidFill>
                  <a:srgbClr val="334155"/>
                </a:solidFill>
                <a:latin typeface="Arial"/>
                <a:ea typeface="Arial"/>
                <a:cs typeface="Arial"/>
              </a:rPr>
              <a:t> </a:t>
            </a:r>
            <a:r>
              <a:rPr sz="1500">
                <a:solidFill>
                  <a:srgbClr val="334155"/>
                </a:solidFill>
                <a:latin typeface="Arial"/>
                <a:ea typeface="Arial"/>
                <a:cs typeface="Arial"/>
              </a:rPr>
              <a:t>בוט</a:t>
            </a:r>
            <a:r>
              <a:rPr sz="1500">
                <a:solidFill>
                  <a:srgbClr val="334155"/>
                </a:solidFill>
                <a:latin typeface="Arial"/>
                <a:ea typeface="Arial"/>
                <a:cs typeface="Arial"/>
              </a:rPr>
              <a:t> חכם, </a:t>
            </a:r>
            <a:r>
              <a:rPr sz="1500">
                <a:solidFill>
                  <a:srgbClr val="334155"/>
                </a:solidFill>
                <a:latin typeface="Arial"/>
                <a:ea typeface="Arial"/>
                <a:cs typeface="Arial"/>
              </a:rPr>
              <a:t>AI </a:t>
            </a:r>
            <a:r>
              <a:rPr sz="1500">
                <a:solidFill>
                  <a:srgbClr val="334155"/>
                </a:solidFill>
                <a:latin typeface="Arial"/>
                <a:ea typeface="Arial"/>
                <a:cs typeface="Arial"/>
              </a:rPr>
              <a:t> ,דוחות חכמים ועוד) </a:t>
            </a:r>
            <a:endParaRPr sz="1500" b="0" i="0" u="none">
              <a:solidFill>
                <a:srgbClr val="334155"/>
              </a:solidFill>
              <a:latin typeface="Arial"/>
              <a:ea typeface="Arial"/>
              <a:cs typeface="Arial"/>
            </a:endParaRPr>
          </a:p>
        </p:txBody>
      </p:sp>
      <p:sp>
        <p:nvSpPr>
          <p:cNvPr id="16" name="TextBox 15">
            <a:extLst xmlns:a="http://schemas.openxmlformats.org/drawingml/2006/main">
              <a:ext uri="{FF2B5EF4-FFF2-40B4-BE49-F238E27FC236}">
                <a16:creationId xmlns:a16="http://schemas.microsoft.com/office/drawing/2014/main" id="{FF4EDC04-5804-4342-84E4-8315F8A0F4ED}"/>
              </a:ext>
            </a:extLst>
          </p:cNvPr>
          <p:cNvSpPr>
            <a:spLocks xmlns:a="http://schemas.openxmlformats.org/drawingml/2006/main" noGrp="1"/>
          </p:cNvSpPr>
          <p:nvPr/>
        </p:nvSpPr>
        <p:spPr>
          <a:xfrm xmlns:a="http://schemas.openxmlformats.org/drawingml/2006/main">
            <a:off x="654000" y="3258143"/>
            <a:ext cx="2997249" cy="1846659"/>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lnSpc>
                <a:spcPts val="2400"/>
              </a:lnSpc>
              <a:buNone/>
            </a:pPr>
            <a:r>
              <a:rPr sz="1500">
                <a:solidFill>
                  <a:srgbClr val="334155"/>
                </a:solidFill>
                <a:latin typeface="Arial"/>
                <a:ea typeface="Arial"/>
                <a:cs typeface="Arial"/>
              </a:rPr>
              <a:t>העלויות המשמעותיות של המערכת הן שירות ענן (</a:t>
            </a:r>
            <a:r>
              <a:rPr sz="1500">
                <a:solidFill>
                  <a:srgbClr val="334155"/>
                </a:solidFill>
                <a:latin typeface="Arial"/>
                <a:ea typeface="Arial"/>
                <a:cs typeface="Arial"/>
              </a:rPr>
              <a:t>Supabase</a:t>
            </a:r>
            <a:r>
              <a:rPr sz="1500">
                <a:solidFill>
                  <a:srgbClr val="334155"/>
                </a:solidFill>
                <a:latin typeface="Arial"/>
                <a:ea typeface="Arial"/>
                <a:cs typeface="Arial"/>
              </a:rPr>
              <a:t>), משכורות לעובדים ושירותי סוכנים ו</a:t>
            </a:r>
            <a:r>
              <a:rPr sz="1500">
                <a:solidFill>
                  <a:srgbClr val="334155"/>
                </a:solidFill>
                <a:latin typeface="Arial"/>
                <a:ea typeface="Arial"/>
                <a:cs typeface="Arial"/>
              </a:rPr>
              <a:t>AI</a:t>
            </a:r>
            <a:r>
              <a:rPr sz="1500">
                <a:solidFill>
                  <a:srgbClr val="334155"/>
                </a:solidFill>
                <a:latin typeface="Arial"/>
                <a:ea typeface="Arial"/>
                <a:cs typeface="Arial"/>
              </a:rPr>
              <a:t>. אנו צופים שהחזר העלויות והפיכה המודל לעסקי וריווחי יהיו כבר בצעדים הראשונים עם כמות בודדת של לקוחות.</a:t>
            </a:r>
            <a:endParaRPr sz="1500" b="0" i="0" u="none">
              <a:solidFill>
                <a:srgbClr val="334155"/>
              </a:solidFill>
              <a:latin typeface="Arial"/>
              <a:ea typeface="Arial"/>
              <a:cs typeface="Arial"/>
            </a:endParaRPr>
          </a:p>
        </p:txBody>
      </p:sp>
      <p:sp>
        <p:nvSpPr>
          <p:cNvPr id="17" name="TextBox 16">
            <a:extLst xmlns:a="http://schemas.openxmlformats.org/drawingml/2006/main">
              <a:ext uri="{FF2B5EF4-FFF2-40B4-BE49-F238E27FC236}">
                <a16:creationId xmlns:a16="http://schemas.microsoft.com/office/drawing/2014/main" id="{C35E587A-372C-4281-AE82-13EF9DCAC6F1}"/>
              </a:ext>
            </a:extLst>
          </p:cNvPr>
          <p:cNvSpPr>
            <a:spLocks xmlns:a="http://schemas.openxmlformats.org/drawingml/2006/main" noGrp="1"/>
          </p:cNvSpPr>
          <p:nvPr/>
        </p:nvSpPr>
        <p:spPr>
          <a:xfrm xmlns:a="http://schemas.openxmlformats.org/drawingml/2006/main">
            <a:off x="4648514" y="3258143"/>
            <a:ext cx="2997249" cy="1846659"/>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lnSpc>
                <a:spcPts val="2400"/>
              </a:lnSpc>
              <a:buNone/>
            </a:pPr>
            <a:r>
              <a:rPr sz="1500">
                <a:solidFill>
                  <a:srgbClr val="334155"/>
                </a:solidFill>
                <a:latin typeface="Arial"/>
                <a:ea typeface="Arial"/>
                <a:cs typeface="Arial"/>
              </a:rPr>
              <a:t>כל לקוח המגיע למרפאה או לבית החולים יישלם מנוי למרפאה\לבית החולים באופן חודשי. המנוי יכלול ביטוח רפואי וגישה לאפליקציה. מטרתנו היא לגבות גם מלקוחות אלו דרך המרפאה\בית החולים  10\5 אחוז מהעסקה החודשית. </a:t>
            </a:r>
            <a:endParaRPr sz="1500" b="0" i="0" u="none">
              <a:solidFill>
                <a:srgbClr val="334155"/>
              </a:solidFill>
              <a:latin typeface="Arial"/>
              <a:ea typeface="Arial"/>
              <a:cs typeface="Arial"/>
            </a:endParaRPr>
          </a:p>
        </p:txBody>
      </p:sp>
      <p:sp>
        <p:nvSpPr>
          <p:cNvPr id="18" name="TextBox 17">
            <a:extLst xmlns:a="http://schemas.openxmlformats.org/drawingml/2006/main">
              <a:ext uri="{FF2B5EF4-FFF2-40B4-BE49-F238E27FC236}">
                <a16:creationId xmlns:a16="http://schemas.microsoft.com/office/drawing/2014/main" id="{2D566220-B499-4E5C-84C0-FAAE233DA9E6}"/>
              </a:ext>
            </a:extLst>
          </p:cNvPr>
          <p:cNvSpPr>
            <a:spLocks xmlns:a="http://schemas.openxmlformats.org/drawingml/2006/main" noGrp="1"/>
          </p:cNvSpPr>
          <p:nvPr/>
        </p:nvSpPr>
        <p:spPr>
          <a:xfrm xmlns:a="http://schemas.openxmlformats.org/drawingml/2006/main">
            <a:off x="1556359" y="2729207"/>
            <a:ext cx="1375409" cy="253916"/>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1650" b="1">
                <a:solidFill>
                  <a:schemeClr val="bg1"/>
                </a:solidFill>
                <a:latin typeface="Arial"/>
                <a:ea typeface="Arial"/>
                <a:cs typeface="Arial"/>
              </a:rPr>
              <a:t>החזר ההשקעה</a:t>
            </a:r>
            <a:endParaRPr sz="1650" b="1">
              <a:solidFill>
                <a:schemeClr val="bg1"/>
              </a:solidFill>
              <a:latin typeface="Arial"/>
              <a:ea typeface="Arial"/>
              <a:cs typeface="Arial"/>
            </a:endParaRPr>
          </a:p>
        </p:txBody>
      </p:sp>
      <p:sp>
        <p:nvSpPr>
          <p:cNvPr id="19" name="TextBox 18">
            <a:extLst xmlns:a="http://schemas.openxmlformats.org/drawingml/2006/main">
              <a:ext uri="{FF2B5EF4-FFF2-40B4-BE49-F238E27FC236}">
                <a16:creationId xmlns:a16="http://schemas.microsoft.com/office/drawing/2014/main" id="{13FB706B-8334-46AA-8B21-DE20A18D3FF0}"/>
              </a:ext>
            </a:extLst>
          </p:cNvPr>
          <p:cNvSpPr>
            <a:spLocks xmlns:a="http://schemas.openxmlformats.org/drawingml/2006/main" noGrp="1"/>
          </p:cNvSpPr>
          <p:nvPr/>
        </p:nvSpPr>
        <p:spPr>
          <a:xfrm xmlns:a="http://schemas.openxmlformats.org/drawingml/2006/main">
            <a:off x="4901982" y="2730595"/>
            <a:ext cx="2490311" cy="253916"/>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r">
              <a:buNone/>
            </a:pPr>
            <a:r>
              <a:rPr sz="1650" b="1">
                <a:solidFill>
                  <a:schemeClr val="bg1"/>
                </a:solidFill>
                <a:latin typeface="Arial"/>
                <a:ea typeface="Arial"/>
                <a:cs typeface="Arial"/>
              </a:rPr>
              <a:t>מנוי ממשתמשי האפליקציה</a:t>
            </a:r>
            <a:endParaRPr sz="1650" b="1">
              <a:solidFill>
                <a:schemeClr val="bg1"/>
              </a:solidFill>
              <a:latin typeface="Arial"/>
              <a:ea typeface="Arial"/>
              <a:cs typeface="Arial"/>
            </a:endParaRPr>
          </a:p>
        </p:txBody>
      </p:sp>
    </p:spTree>
    <p:extLst>
      <p:ext uri="{BB962C8B-B14F-4D97-AF65-F5344CB8AC3E}">
        <p14:creationId xmlns:p14="http://schemas.microsoft.com/office/powerpoint/2010/main" val="1559417801"/>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A7BFE593-13CF-4981-9E21-8C70F041E309}"/>
              </a:ext>
            </a:extLst>
          </p:cNvPr>
          <p:cNvSpPr>
            <a:spLocks xmlns:a="http://schemas.openxmlformats.org/drawingml/2006/main" noGrp="1"/>
          </p:cNvSpPr>
          <p:nvPr/>
        </p:nvSpPr>
        <p:spPr>
          <a:xfrm xmlns:a="http://schemas.openxmlformats.org/drawingml/2006/main">
            <a:off x="0" y="2056507"/>
            <a:ext cx="12192000" cy="1038746"/>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ctr">
              <a:buNone/>
            </a:pPr>
            <a:r>
              <a:rPr sz="6750">
                <a:solidFill>
                  <a:srgbClr val="1E40AF"/>
                </a:solidFill>
                <a:latin typeface="Heebo ExtraBold"/>
                <a:ea typeface="Heebo ExtraBold"/>
                <a:cs typeface="Heebo ExtraBold"/>
              </a:rPr>
              <a:t>שאלות?</a:t>
            </a:r>
          </a:p>
        </p:txBody>
      </p:sp>
      <p:sp>
        <p:nvSpPr>
          <p:cNvPr id="4" name="TextBox 3">
            <a:extLst xmlns:a="http://schemas.openxmlformats.org/drawingml/2006/main">
              <a:ext uri="{FF2B5EF4-FFF2-40B4-BE49-F238E27FC236}">
                <a16:creationId xmlns:a16="http://schemas.microsoft.com/office/drawing/2014/main" id="{EF4DBE11-CDD2-4C77-A651-0C0F69224581}"/>
              </a:ext>
            </a:extLst>
          </p:cNvPr>
          <p:cNvSpPr>
            <a:spLocks xmlns:a="http://schemas.openxmlformats.org/drawingml/2006/main" noGrp="1"/>
          </p:cNvSpPr>
          <p:nvPr/>
        </p:nvSpPr>
        <p:spPr>
          <a:xfrm xmlns:a="http://schemas.openxmlformats.org/drawingml/2006/main">
            <a:off x="0" y="3518968"/>
            <a:ext cx="12192000" cy="435632"/>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algn="ctr">
              <a:lnSpc>
                <a:spcPts val="3840"/>
              </a:lnSpc>
              <a:buNone/>
            </a:pPr>
            <a:r>
              <a:rPr sz="2400">
                <a:solidFill>
                  <a:srgbClr val="334155"/>
                </a:solidFill>
                <a:latin typeface="Heebo"/>
                <a:ea typeface="Heebo"/>
                <a:cs typeface="Heebo"/>
              </a:rPr>
              <a:t>תודה רבה על ההקשבה </a:t>
            </a:r>
            <a:r>
              <a:rPr sz="2400">
                <a:solidFill>
                  <a:srgbClr val="334155"/>
                </a:solidFill>
                <a:latin typeface="Heebo"/>
                <a:ea typeface="Heebo"/>
                <a:cs typeface="Heebo"/>
              </a:rPr>
              <a:t></a:t>
            </a:r>
            <a:endParaRPr sz="2400">
              <a:solidFill>
                <a:srgbClr val="334155"/>
              </a:solidFill>
              <a:latin typeface="Heebo"/>
              <a:ea typeface="Heebo"/>
              <a:cs typeface="Heebo"/>
            </a:endParaRPr>
          </a:p>
        </p:txBody>
      </p:sp>
      <p:sp>
        <p:nvSpPr>
          <p:cNvPr id="5" name="TextBox 4">
            <a:extLst xmlns:a="http://schemas.openxmlformats.org/drawingml/2006/main">
              <a:ext uri="{FF2B5EF4-FFF2-40B4-BE49-F238E27FC236}">
                <a16:creationId xmlns:a16="http://schemas.microsoft.com/office/drawing/2014/main" id="{5EB5AF17-69C1-44A0-B1CC-64387AA55F6C}"/>
              </a:ext>
            </a:extLst>
          </p:cNvPr>
          <p:cNvSpPr>
            <a:spLocks xmlns:a="http://schemas.openxmlformats.org/drawingml/2006/main" noGrp="1"/>
          </p:cNvSpPr>
          <p:nvPr/>
        </p:nvSpPr>
        <p:spPr>
          <a:xfrm xmlns:a="http://schemas.openxmlformats.org/drawingml/2006/main">
            <a:off x="0" y="4468117"/>
            <a:ext cx="12192000" cy="276999"/>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p xmlns:a="http://schemas.openxmlformats.org/drawingml/2006/main">
            <a:pPr marL="0" algn="ctr" defTabSz="457200">
              <a:buNone/>
            </a:pPr>
            <a:endParaRPr sz="1800" b="0" i="0" u="none">
              <a:solidFill>
                <a:srgbClr val="2563EB"/>
              </a:solidFill>
              <a:latin typeface="Heebo Medium"/>
              <a:ea typeface="Heebo Medium"/>
              <a:cs typeface="Heebo Medium"/>
            </a:endParaRPr>
          </a:p>
        </p:txBody>
      </p:sp>
    </p:spTree>
    <p:extLst>
      <p:ext uri="{BB962C8B-B14F-4D97-AF65-F5344CB8AC3E}">
        <p14:creationId xmlns:p14="http://schemas.microsoft.com/office/powerpoint/2010/main" val="244300517"/>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2026-08-10T15:32:23.6420000Z</dcterms:created>
  <dcterms:modified xsi:type="dcterms:W3CDTF">2026-08-10T15:32:23.6420000Z</dcterms:modified>
</coreProperties>
</file>