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58" r:id="rId5"/>
    <p:sldId id="259" r:id="rId6"/>
    <p:sldId id="260" r:id="rId7"/>
    <p:sldId id="261" r:id="rId8"/>
    <p:sldId id="262" r:id="rId9"/>
    <p:sldId id="263" r:id="rId10"/>
    <p:sldId id="264" r:id="rId11"/>
    <p:sldId id="265" r:id="rId12"/>
    <p:sldId id="267" r:id="rId13"/>
    <p:sldId id="269"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7E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6"/>
    <p:restoredTop sz="94658"/>
  </p:normalViewPr>
  <p:slideViewPr>
    <p:cSldViewPr snapToGrid="0" snapToObjects="1">
      <p:cViewPr varScale="1">
        <p:scale>
          <a:sx n="83" d="100"/>
          <a:sy n="83" d="100"/>
        </p:scale>
        <p:origin x="52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60000"/>
                <a:lumOff val="40000"/>
              </a:schemeClr>
            </a:gs>
            <a:gs pos="37000">
              <a:schemeClr val="tx2">
                <a:lumMod val="60000"/>
                <a:lumOff val="40000"/>
              </a:schemeClr>
            </a:gs>
            <a:gs pos="21000">
              <a:schemeClr val="tx2">
                <a:lumMod val="40000"/>
                <a:lumOff val="60000"/>
              </a:schemeClr>
            </a:gs>
          </a:gsLst>
          <a:lin ang="162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71849" y="4922166"/>
            <a:ext cx="5448300" cy="517449"/>
          </a:xfrm>
          <a:prstGeom prst="rect">
            <a:avLst/>
          </a:prstGeom>
          <a:noFill/>
        </p:spPr>
        <p:txBody>
          <a:bodyPr wrap="square" lIns="0" tIns="0" rIns="0" bIns="0" anchor="t">
            <a:spAutoFit/>
          </a:bodyPr>
          <a:lstStyle/>
          <a:p>
            <a:pPr algn="ctr">
              <a:lnSpc>
                <a:spcPts val="4320"/>
              </a:lnSpc>
            </a:pPr>
            <a:r>
              <a:rPr lang="he-IL" sz="2700" dirty="0">
                <a:solidFill>
                  <a:schemeClr val="tx1">
                    <a:lumMod val="95000"/>
                    <a:lumOff val="5000"/>
                  </a:schemeClr>
                </a:solidFill>
                <a:latin typeface="Heebo"/>
              </a:rPr>
              <a:t>מערכת מידע חכמה לניהול בעלי החיים</a:t>
            </a:r>
            <a:endParaRPr sz="2700" b="0" i="0" u="none" dirty="0">
              <a:solidFill>
                <a:schemeClr val="tx1">
                  <a:lumMod val="95000"/>
                  <a:lumOff val="5000"/>
                </a:schemeClr>
              </a:solidFill>
              <a:latin typeface="Heebo"/>
            </a:endParaRPr>
          </a:p>
        </p:txBody>
      </p:sp>
      <p:pic>
        <p:nvPicPr>
          <p:cNvPr id="10" name="תמונה 9">
            <a:extLst>
              <a:ext uri="{FF2B5EF4-FFF2-40B4-BE49-F238E27FC236}">
                <a16:creationId xmlns:a16="http://schemas.microsoft.com/office/drawing/2014/main" xmlns="" id="{0C0AAE9C-C5D0-FEFE-16B3-475E3097E4FA}"/>
              </a:ext>
            </a:extLst>
          </p:cNvPr>
          <p:cNvPicPr>
            <a:picLocks noChangeAspect="1"/>
          </p:cNvPicPr>
          <p:nvPr/>
        </p:nvPicPr>
        <p:blipFill>
          <a:blip r:embed="rId2"/>
          <a:stretch>
            <a:fillRect/>
          </a:stretch>
        </p:blipFill>
        <p:spPr>
          <a:xfrm>
            <a:off x="4411657" y="1201631"/>
            <a:ext cx="3368685" cy="3979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79808" y="2443217"/>
            <a:ext cx="2668302" cy="307777"/>
          </a:xfrm>
          <a:prstGeom prst="rect">
            <a:avLst/>
          </a:prstGeom>
          <a:noFill/>
        </p:spPr>
        <p:txBody>
          <a:bodyPr wrap="square" lIns="0" tIns="0" rIns="0" bIns="0" anchor="t">
            <a:spAutoFit/>
          </a:bodyPr>
          <a:lstStyle/>
          <a:p>
            <a:pPr algn="ctr"/>
            <a:r>
              <a:rPr lang="he-IL" sz="2000" b="1" dirty="0">
                <a:solidFill>
                  <a:schemeClr val="bg1"/>
                </a:solidFill>
                <a:latin typeface="Arial" panose="020B0604020202020204" pitchFamily="34" charset="0"/>
                <a:cs typeface="Arial" panose="020B0604020202020204" pitchFamily="34" charset="0"/>
              </a:rPr>
              <a:t>הבנת דרישת המשתמשים</a:t>
            </a:r>
            <a:endParaRPr sz="2000" b="1"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a:off x="571500" y="4238625"/>
            <a:ext cx="11049000" cy="571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1" eaLnBrk="1" latinLnBrk="0" hangingPunct="1"/>
            <a:endParaRPr dirty="0">
              <a:latin typeface="Arial" panose="020B0604020202020204" pitchFamily="34" charset="0"/>
              <a:cs typeface="Arial" panose="020B0604020202020204" pitchFamily="34" charset="0"/>
            </a:endParaRPr>
          </a:p>
        </p:txBody>
      </p:sp>
      <p:sp>
        <p:nvSpPr>
          <p:cNvPr id="9" name="TextBox 8"/>
          <p:cNvSpPr txBox="1"/>
          <p:nvPr/>
        </p:nvSpPr>
        <p:spPr>
          <a:xfrm>
            <a:off x="6241602" y="2856527"/>
            <a:ext cx="2541240" cy="1461939"/>
          </a:xfrm>
          <a:prstGeom prst="rect">
            <a:avLst/>
          </a:prstGeom>
          <a:noFill/>
        </p:spPr>
        <p:txBody>
          <a:bodyPr wrap="square" lIns="0" tIns="0" rIns="0" bIns="0" anchor="t">
            <a:spAutoFit/>
          </a:bodyPr>
          <a:lstStyle/>
          <a:p>
            <a:pPr algn="ctr" rtl="1">
              <a:lnSpc>
                <a:spcPts val="1920"/>
              </a:lnSpc>
            </a:pPr>
            <a:r>
              <a:rPr lang="he-IL" sz="1600" dirty="0">
                <a:solidFill>
                  <a:schemeClr val="tx1">
                    <a:lumMod val="95000"/>
                    <a:lumOff val="5000"/>
                  </a:schemeClr>
                </a:solidFill>
                <a:latin typeface="Arial" panose="020B0604020202020204" pitchFamily="34" charset="0"/>
              </a:rPr>
              <a:t>נפגשנו עם וטרינר ואחות וטרינרית בבית החולים "חוות דעת" כדי להבין מקרוב את יום העבודה העמוס ושימוש במערכות המידע.</a:t>
            </a:r>
          </a:p>
          <a:p>
            <a:pPr algn="ctr" rtl="1">
              <a:lnSpc>
                <a:spcPts val="1920"/>
              </a:lnSpc>
            </a:pPr>
            <a:endParaRPr sz="1600" b="0" i="0" u="none"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0" name="TextBox 9"/>
          <p:cNvSpPr txBox="1"/>
          <p:nvPr/>
        </p:nvSpPr>
        <p:spPr>
          <a:xfrm>
            <a:off x="8901428" y="4473232"/>
            <a:ext cx="2668302" cy="307777"/>
          </a:xfrm>
          <a:prstGeom prst="rect">
            <a:avLst/>
          </a:prstGeom>
          <a:noFill/>
        </p:spPr>
        <p:txBody>
          <a:bodyPr wrap="square" lIns="0" tIns="0" rIns="0" bIns="0" anchor="t">
            <a:spAutoFit/>
          </a:bodyPr>
          <a:lstStyle/>
          <a:p>
            <a:pPr algn="ctr"/>
            <a:r>
              <a:rPr lang="he-IL" sz="2000" b="1" dirty="0">
                <a:solidFill>
                  <a:srgbClr val="1E40AF"/>
                </a:solidFill>
                <a:latin typeface="Arial" panose="020B0604020202020204" pitchFamily="34" charset="0"/>
              </a:rPr>
              <a:t>זיהוי הבעיה</a:t>
            </a:r>
          </a:p>
        </p:txBody>
      </p:sp>
      <p:sp>
        <p:nvSpPr>
          <p:cNvPr id="11" name="TextBox 10"/>
          <p:cNvSpPr txBox="1"/>
          <p:nvPr/>
        </p:nvSpPr>
        <p:spPr>
          <a:xfrm>
            <a:off x="8964959" y="4872741"/>
            <a:ext cx="2541240" cy="1218282"/>
          </a:xfrm>
          <a:prstGeom prst="rect">
            <a:avLst/>
          </a:prstGeom>
          <a:noFill/>
        </p:spPr>
        <p:txBody>
          <a:bodyPr wrap="square" lIns="0" tIns="0" rIns="0" bIns="0" anchor="t">
            <a:spAutoFit/>
          </a:bodyPr>
          <a:lstStyle/>
          <a:p>
            <a:pPr algn="ctr">
              <a:lnSpc>
                <a:spcPts val="1920"/>
              </a:lnSpc>
            </a:pPr>
            <a:r>
              <a:rPr lang="he-IL" sz="1600" dirty="0">
                <a:solidFill>
                  <a:schemeClr val="tx1">
                    <a:lumMod val="95000"/>
                    <a:lumOff val="5000"/>
                  </a:schemeClr>
                </a:solidFill>
                <a:latin typeface="Arial" panose="020B0604020202020204" pitchFamily="34" charset="0"/>
              </a:rPr>
              <a:t>שיחות עומק עם וטרינר פרטי חשפו את הכאב: תוכנות מפוצלות, עומס קוגניטיבי, וחוסר בסנכרון דיגיטלי מול הלקוח.</a:t>
            </a:r>
          </a:p>
          <a:p>
            <a:pPr algn="ctr">
              <a:lnSpc>
                <a:spcPts val="1920"/>
              </a:lnSpc>
            </a:pPr>
            <a:endParaRPr sz="1600" b="0" i="0" u="none"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2" name="TextBox 11"/>
          <p:cNvSpPr txBox="1"/>
          <p:nvPr/>
        </p:nvSpPr>
        <p:spPr>
          <a:xfrm>
            <a:off x="3343888" y="4600575"/>
            <a:ext cx="2668302" cy="307777"/>
          </a:xfrm>
          <a:prstGeom prst="rect">
            <a:avLst/>
          </a:prstGeom>
          <a:noFill/>
        </p:spPr>
        <p:txBody>
          <a:bodyPr wrap="square" lIns="0" tIns="0" rIns="0" bIns="0" anchor="t">
            <a:spAutoFit/>
          </a:bodyPr>
          <a:lstStyle/>
          <a:p>
            <a:pPr algn="ctr"/>
            <a:r>
              <a:rPr lang="he-IL" sz="2000" b="1" dirty="0">
                <a:solidFill>
                  <a:srgbClr val="1E40AF"/>
                </a:solidFill>
                <a:latin typeface="Arial" panose="020B0604020202020204" pitchFamily="34" charset="0"/>
              </a:rPr>
              <a:t>אפיון ופיתוח</a:t>
            </a:r>
          </a:p>
        </p:txBody>
      </p:sp>
      <p:sp>
        <p:nvSpPr>
          <p:cNvPr id="13" name="TextBox 12"/>
          <p:cNvSpPr txBox="1"/>
          <p:nvPr/>
        </p:nvSpPr>
        <p:spPr>
          <a:xfrm>
            <a:off x="3407419" y="5048250"/>
            <a:ext cx="2541240" cy="1218282"/>
          </a:xfrm>
          <a:prstGeom prst="rect">
            <a:avLst/>
          </a:prstGeom>
          <a:noFill/>
        </p:spPr>
        <p:txBody>
          <a:bodyPr wrap="square" lIns="0" tIns="0" rIns="0" bIns="0" anchor="t">
            <a:spAutoFit/>
          </a:bodyPr>
          <a:lstStyle/>
          <a:p>
            <a:pPr algn="ctr">
              <a:lnSpc>
                <a:spcPts val="1920"/>
              </a:lnSpc>
            </a:pPr>
            <a:r>
              <a:rPr lang="he-IL" sz="1600" dirty="0">
                <a:solidFill>
                  <a:schemeClr val="tx1">
                    <a:lumMod val="95000"/>
                    <a:lumOff val="5000"/>
                  </a:schemeClr>
                </a:solidFill>
                <a:latin typeface="Arial" panose="020B0604020202020204" pitchFamily="34" charset="0"/>
              </a:rPr>
              <a:t>תרגמנו את הצרכים לארכיטקטורת תוכנה מודרנית: פורטל כפול (צוות ולקוח) העובד על הנתונים בזמן אמת.</a:t>
            </a:r>
          </a:p>
          <a:p>
            <a:pPr algn="ctr">
              <a:lnSpc>
                <a:spcPts val="1920"/>
              </a:lnSpc>
            </a:pPr>
            <a:endParaRPr sz="1600" b="0" i="0" u="none"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4" name="TextBox 13"/>
          <p:cNvSpPr txBox="1"/>
          <p:nvPr/>
        </p:nvSpPr>
        <p:spPr>
          <a:xfrm>
            <a:off x="507968" y="2368153"/>
            <a:ext cx="2668302" cy="307777"/>
          </a:xfrm>
          <a:prstGeom prst="rect">
            <a:avLst/>
          </a:prstGeom>
          <a:noFill/>
        </p:spPr>
        <p:txBody>
          <a:bodyPr wrap="square" lIns="0" tIns="0" rIns="0" bIns="0" anchor="t">
            <a:spAutoFit/>
          </a:bodyPr>
          <a:lstStyle/>
          <a:p>
            <a:pPr algn="ctr"/>
            <a:r>
              <a:rPr lang="he-IL" sz="2000" b="1" dirty="0">
                <a:solidFill>
                  <a:schemeClr val="bg1"/>
                </a:solidFill>
                <a:latin typeface="Arial" panose="020B0604020202020204" pitchFamily="34" charset="0"/>
              </a:rPr>
              <a:t>סגירת מעגל ומשוב</a:t>
            </a:r>
          </a:p>
        </p:txBody>
      </p:sp>
      <p:sp>
        <p:nvSpPr>
          <p:cNvPr id="15" name="TextBox 14"/>
          <p:cNvSpPr txBox="1"/>
          <p:nvPr/>
        </p:nvSpPr>
        <p:spPr>
          <a:xfrm>
            <a:off x="571500" y="2815828"/>
            <a:ext cx="2541240" cy="974626"/>
          </a:xfrm>
          <a:prstGeom prst="rect">
            <a:avLst/>
          </a:prstGeom>
          <a:noFill/>
        </p:spPr>
        <p:txBody>
          <a:bodyPr wrap="square" lIns="0" tIns="0" rIns="0" bIns="0" anchor="t">
            <a:spAutoFit/>
          </a:bodyPr>
          <a:lstStyle/>
          <a:p>
            <a:pPr algn="ctr">
              <a:lnSpc>
                <a:spcPts val="1920"/>
              </a:lnSpc>
            </a:pPr>
            <a:r>
              <a:rPr lang="he-IL" sz="1600" dirty="0">
                <a:solidFill>
                  <a:schemeClr val="tx1">
                    <a:lumMod val="95000"/>
                    <a:lumOff val="5000"/>
                  </a:schemeClr>
                </a:solidFill>
                <a:latin typeface="Arial" panose="020B0604020202020204" pitchFamily="34" charset="0"/>
              </a:rPr>
              <a:t>לקראת סיום, הצגנו שוב </a:t>
            </a:r>
            <a:r>
              <a:rPr lang="he-IL" sz="1600" dirty="0" err="1">
                <a:solidFill>
                  <a:schemeClr val="tx1">
                    <a:lumMod val="95000"/>
                    <a:lumOff val="5000"/>
                  </a:schemeClr>
                </a:solidFill>
                <a:latin typeface="Arial" panose="020B0604020202020204" pitchFamily="34" charset="0"/>
              </a:rPr>
              <a:t>לוטרינר</a:t>
            </a:r>
            <a:r>
              <a:rPr lang="he-IL" sz="1600" dirty="0">
                <a:solidFill>
                  <a:schemeClr val="tx1">
                    <a:lumMod val="95000"/>
                    <a:lumOff val="5000"/>
                  </a:schemeClr>
                </a:solidFill>
                <a:latin typeface="Arial" panose="020B0604020202020204" pitchFamily="34" charset="0"/>
              </a:rPr>
              <a:t>, ההתרשמות הייתה מדהימה, וקיבלנו דגשים סופיים לחוויית המשתמש.</a:t>
            </a:r>
          </a:p>
        </p:txBody>
      </p:sp>
      <p:sp>
        <p:nvSpPr>
          <p:cNvPr id="16" name="TextBox 15"/>
          <p:cNvSpPr txBox="1"/>
          <p:nvPr/>
        </p:nvSpPr>
        <p:spPr>
          <a:xfrm>
            <a:off x="19050" y="476250"/>
            <a:ext cx="11601450" cy="600164"/>
          </a:xfrm>
          <a:prstGeom prst="rect">
            <a:avLst/>
          </a:prstGeom>
          <a:noFill/>
        </p:spPr>
        <p:txBody>
          <a:bodyPr wrap="square" lIns="0" tIns="0" rIns="0" bIns="0" anchor="t">
            <a:spAutoFit/>
          </a:bodyPr>
          <a:lstStyle/>
          <a:p>
            <a:pPr algn="ctr"/>
            <a:r>
              <a:rPr lang="he-IL" sz="3900" b="1" dirty="0">
                <a:solidFill>
                  <a:schemeClr val="bg1"/>
                </a:solidFill>
                <a:latin typeface="Arial" panose="020B0604020202020204" pitchFamily="34" charset="0"/>
              </a:rPr>
              <a:t>המסע שלנו: מהשטח אל הקוד</a:t>
            </a:r>
          </a:p>
        </p:txBody>
      </p:sp>
      <p:sp>
        <p:nvSpPr>
          <p:cNvPr id="2" name="משולש 1">
            <a:extLst>
              <a:ext uri="{FF2B5EF4-FFF2-40B4-BE49-F238E27FC236}">
                <a16:creationId xmlns:a16="http://schemas.microsoft.com/office/drawing/2014/main" xmlns="" id="{D26C524B-2DAF-D32B-1AC3-B1F1713ACC24}"/>
              </a:ext>
            </a:extLst>
          </p:cNvPr>
          <p:cNvSpPr/>
          <p:nvPr/>
        </p:nvSpPr>
        <p:spPr>
          <a:xfrm rot="16200000">
            <a:off x="174934" y="3982933"/>
            <a:ext cx="584776" cy="520112"/>
          </a:xfrm>
          <a:prstGeom prst="triangle">
            <a:avLst/>
          </a:prstGeom>
        </p:spPr>
        <p:style>
          <a:lnRef idx="1">
            <a:schemeClr val="accent1"/>
          </a:lnRef>
          <a:fillRef idx="3">
            <a:schemeClr val="accent1"/>
          </a:fillRef>
          <a:effectRef idx="2">
            <a:schemeClr val="accent1"/>
          </a:effectRef>
          <a:fontRef idx="minor">
            <a:schemeClr val="lt1"/>
          </a:fontRef>
        </p:style>
        <p:txBody>
          <a:bodyPr rtlCol="1" anchor="ctr"/>
          <a:lstStyle/>
          <a:p>
            <a:pPr marL="0" algn="ctr" defTabSz="457200" rtl="1" eaLnBrk="1" latinLnBrk="0" hangingPunct="1"/>
            <a:endParaRPr lang="he-IL"/>
          </a:p>
        </p:txBody>
      </p:sp>
      <p:sp>
        <p:nvSpPr>
          <p:cNvPr id="3" name="Rounded Rectangle 2"/>
          <p:cNvSpPr/>
          <p:nvPr/>
        </p:nvSpPr>
        <p:spPr>
          <a:xfrm>
            <a:off x="10235579" y="4152900"/>
            <a:ext cx="228600" cy="228600"/>
          </a:xfrm>
          <a:prstGeom prst="roundRect">
            <a:avLst>
              <a:gd name="adj" fmla="val 50000"/>
            </a:avLst>
          </a:prstGeom>
          <a:solidFill>
            <a:srgbClr val="FFFFFF"/>
          </a:solidFill>
          <a:ln w="476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rial" panose="020B0604020202020204" pitchFamily="34" charset="0"/>
              <a:cs typeface="Arial" panose="020B0604020202020204" pitchFamily="34" charset="0"/>
            </a:endParaRPr>
          </a:p>
        </p:txBody>
      </p:sp>
      <p:sp>
        <p:nvSpPr>
          <p:cNvPr id="4" name="Rounded Rectangle 3"/>
          <p:cNvSpPr/>
          <p:nvPr/>
        </p:nvSpPr>
        <p:spPr>
          <a:xfrm>
            <a:off x="7399659" y="4152900"/>
            <a:ext cx="228600" cy="228600"/>
          </a:xfrm>
          <a:prstGeom prst="roundRect">
            <a:avLst>
              <a:gd name="adj" fmla="val 50000"/>
            </a:avLst>
          </a:prstGeom>
          <a:solidFill>
            <a:srgbClr val="FFFFFF"/>
          </a:solidFill>
          <a:ln w="476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1" eaLnBrk="1" latinLnBrk="0" hangingPunct="1"/>
            <a:endParaRPr dirty="0">
              <a:latin typeface="Arial" panose="020B0604020202020204" pitchFamily="34" charset="0"/>
              <a:cs typeface="Arial" panose="020B0604020202020204" pitchFamily="34" charset="0"/>
            </a:endParaRPr>
          </a:p>
        </p:txBody>
      </p:sp>
      <p:sp>
        <p:nvSpPr>
          <p:cNvPr id="5" name="Rounded Rectangle 4"/>
          <p:cNvSpPr/>
          <p:nvPr/>
        </p:nvSpPr>
        <p:spPr>
          <a:xfrm>
            <a:off x="4563740" y="4152900"/>
            <a:ext cx="228600" cy="228600"/>
          </a:xfrm>
          <a:prstGeom prst="roundRect">
            <a:avLst>
              <a:gd name="adj" fmla="val 50000"/>
            </a:avLst>
          </a:prstGeom>
          <a:solidFill>
            <a:srgbClr val="FFFFFF"/>
          </a:solidFill>
          <a:ln w="476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rial" panose="020B0604020202020204" pitchFamily="34" charset="0"/>
              <a:cs typeface="Arial" panose="020B0604020202020204" pitchFamily="34" charset="0"/>
            </a:endParaRPr>
          </a:p>
        </p:txBody>
      </p:sp>
      <p:sp>
        <p:nvSpPr>
          <p:cNvPr id="6" name="Rounded Rectangle 5"/>
          <p:cNvSpPr/>
          <p:nvPr/>
        </p:nvSpPr>
        <p:spPr>
          <a:xfrm>
            <a:off x="1727820" y="4152900"/>
            <a:ext cx="228600" cy="228600"/>
          </a:xfrm>
          <a:prstGeom prst="roundRect">
            <a:avLst>
              <a:gd name="adj" fmla="val 50000"/>
            </a:avLst>
          </a:prstGeom>
          <a:solidFill>
            <a:srgbClr val="FFFFFF"/>
          </a:solidFill>
          <a:ln w="476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1" eaLnBrk="1" latinLnBrk="0" hangingPunct="1"/>
            <a:endParaRPr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09241" y="1670872"/>
            <a:ext cx="6872654" cy="1514454"/>
          </a:xfrm>
          <a:prstGeom prst="rect">
            <a:avLst/>
          </a:prstGeom>
          <a:noFill/>
        </p:spPr>
        <p:txBody>
          <a:bodyPr wrap="square" lIns="66675" tIns="0" rIns="0" bIns="0" anchor="t">
            <a:spAutoFit/>
          </a:bodyPr>
          <a:lstStyle/>
          <a:p>
            <a:pPr algn="r" rtl="1">
              <a:lnSpc>
                <a:spcPts val="2400"/>
              </a:lnSpc>
            </a:pPr>
            <a:r>
              <a:rPr lang="en-US" b="1" dirty="0" err="1">
                <a:solidFill>
                  <a:srgbClr val="334155"/>
                </a:solidFill>
                <a:latin typeface="Arial" panose="020B0604020202020204" pitchFamily="34" charset="0"/>
              </a:rPr>
              <a:t>ClinicOnline</a:t>
            </a:r>
            <a:r>
              <a:rPr lang="he-IL" b="1" dirty="0">
                <a:solidFill>
                  <a:srgbClr val="334155"/>
                </a:solidFill>
                <a:latin typeface="Arial" panose="020B0604020202020204" pitchFamily="34" charset="0"/>
              </a:rPr>
              <a:t>:</a:t>
            </a:r>
            <a:endParaRPr lang="en-US" dirty="0">
              <a:solidFill>
                <a:srgbClr val="334155"/>
              </a:solidFill>
              <a:latin typeface="Arial" panose="020B0604020202020204" pitchFamily="34" charset="0"/>
            </a:endParaRPr>
          </a:p>
          <a:p>
            <a:pPr algn="r" rtl="1">
              <a:lnSpc>
                <a:spcPts val="2400"/>
              </a:lnSpc>
            </a:pPr>
            <a:r>
              <a:rPr lang="he-IL" dirty="0" err="1">
                <a:solidFill>
                  <a:srgbClr val="334155"/>
                </a:solidFill>
                <a:latin typeface="Arial" panose="020B0604020202020204" pitchFamily="34" charset="0"/>
              </a:rPr>
              <a:t>קליניק</a:t>
            </a:r>
            <a:r>
              <a:rPr lang="he-IL" dirty="0">
                <a:solidFill>
                  <a:srgbClr val="334155"/>
                </a:solidFill>
                <a:latin typeface="Arial" panose="020B0604020202020204" pitchFamily="34" charset="0"/>
              </a:rPr>
              <a:t> אונליין היא המערכת הוותיקה והדומיננטית ביותר היום בשוק הישראלי, המספקת פתרון ענן בסיסי לניהול התיק הרפואי, יומן התורים ושליחת </a:t>
            </a:r>
            <a:r>
              <a:rPr lang="he-IL" dirty="0" err="1">
                <a:solidFill>
                  <a:srgbClr val="334155"/>
                </a:solidFill>
                <a:latin typeface="Arial" panose="020B0604020202020204" pitchFamily="34" charset="0"/>
              </a:rPr>
              <a:t>סמסים</a:t>
            </a:r>
            <a:r>
              <a:rPr lang="he-IL" dirty="0">
                <a:solidFill>
                  <a:srgbClr val="334155"/>
                </a:solidFill>
                <a:latin typeface="Arial" panose="020B0604020202020204" pitchFamily="34" charset="0"/>
              </a:rPr>
              <a:t>. הבעיה המרכזית שלה היא שממשק המשתמש שלה נחשב למיושן ופסיבי, והיא אינה מספקת חווית לקוח דיגיטלית מתקדמת (כמו אזור אישי שקוף).</a:t>
            </a:r>
          </a:p>
        </p:txBody>
      </p:sp>
      <p:sp>
        <p:nvSpPr>
          <p:cNvPr id="8" name="TextBox 7"/>
          <p:cNvSpPr txBox="1"/>
          <p:nvPr/>
        </p:nvSpPr>
        <p:spPr>
          <a:xfrm>
            <a:off x="3877457" y="3776040"/>
            <a:ext cx="6204438" cy="1822230"/>
          </a:xfrm>
          <a:prstGeom prst="rect">
            <a:avLst/>
          </a:prstGeom>
          <a:noFill/>
        </p:spPr>
        <p:txBody>
          <a:bodyPr wrap="square" lIns="66675" tIns="0" rIns="0" bIns="0" anchor="t">
            <a:spAutoFit/>
          </a:bodyPr>
          <a:lstStyle/>
          <a:p>
            <a:pPr algn="r" rtl="1">
              <a:lnSpc>
                <a:spcPts val="2400"/>
              </a:lnSpc>
            </a:pPr>
            <a:r>
              <a:rPr lang="en-US" b="1" dirty="0" err="1">
                <a:solidFill>
                  <a:srgbClr val="334155"/>
                </a:solidFill>
                <a:latin typeface="Arial" panose="020B0604020202020204" pitchFamily="34" charset="0"/>
              </a:rPr>
              <a:t>Provet</a:t>
            </a:r>
            <a:r>
              <a:rPr lang="en-US" b="1" dirty="0">
                <a:solidFill>
                  <a:srgbClr val="334155"/>
                </a:solidFill>
                <a:latin typeface="Arial" panose="020B0604020202020204" pitchFamily="34" charset="0"/>
              </a:rPr>
              <a:t> Cloud</a:t>
            </a:r>
            <a:r>
              <a:rPr lang="he-IL" b="1" dirty="0">
                <a:solidFill>
                  <a:srgbClr val="334155"/>
                </a:solidFill>
                <a:latin typeface="Arial" panose="020B0604020202020204" pitchFamily="34" charset="0"/>
              </a:rPr>
              <a:t>:</a:t>
            </a:r>
            <a:endParaRPr lang="en-US" b="1" dirty="0">
              <a:solidFill>
                <a:srgbClr val="334155"/>
              </a:solidFill>
              <a:latin typeface="Arial" panose="020B0604020202020204" pitchFamily="34" charset="0"/>
            </a:endParaRPr>
          </a:p>
          <a:p>
            <a:pPr algn="r" rtl="1">
              <a:lnSpc>
                <a:spcPts val="2400"/>
              </a:lnSpc>
            </a:pPr>
            <a:r>
              <a:rPr lang="he-IL" dirty="0" err="1">
                <a:solidFill>
                  <a:srgbClr val="334155"/>
                </a:solidFill>
                <a:latin typeface="Arial" panose="020B0604020202020204" pitchFamily="34" charset="0"/>
              </a:rPr>
              <a:t>פרובט</a:t>
            </a:r>
            <a:r>
              <a:rPr lang="he-IL" dirty="0">
                <a:solidFill>
                  <a:srgbClr val="334155"/>
                </a:solidFill>
                <a:latin typeface="Arial" panose="020B0604020202020204" pitchFamily="34" charset="0"/>
              </a:rPr>
              <a:t> </a:t>
            </a:r>
            <a:r>
              <a:rPr lang="he-IL" dirty="0" err="1">
                <a:solidFill>
                  <a:srgbClr val="334155"/>
                </a:solidFill>
                <a:latin typeface="Arial" panose="020B0604020202020204" pitchFamily="34" charset="0"/>
              </a:rPr>
              <a:t>קלאוד</a:t>
            </a:r>
            <a:r>
              <a:rPr lang="he-IL" dirty="0">
                <a:solidFill>
                  <a:srgbClr val="334155"/>
                </a:solidFill>
                <a:latin typeface="Arial" panose="020B0604020202020204" pitchFamily="34" charset="0"/>
              </a:rPr>
              <a:t> היא מערכת </a:t>
            </a:r>
            <a:r>
              <a:rPr lang="en-US" dirty="0">
                <a:solidFill>
                  <a:srgbClr val="334155"/>
                </a:solidFill>
                <a:latin typeface="Arial" panose="020B0604020202020204" pitchFamily="34" charset="0"/>
              </a:rPr>
              <a:t> SaaS </a:t>
            </a:r>
            <a:r>
              <a:rPr lang="he-IL" dirty="0">
                <a:solidFill>
                  <a:srgbClr val="334155"/>
                </a:solidFill>
                <a:latin typeface="Arial" panose="020B0604020202020204" pitchFamily="34" charset="0"/>
              </a:rPr>
              <a:t>בינלאומית מודרנית, חזקה ועמוסה בפיצ'רים שנועדה לנהל בתי חולים וטרינריים גדולים ברחבי העולם. למרות שהיא מספקת פתרון מקיף ופורטל לקוחות, היא נחשבת למערכת כבדה, יקרה לרוב עבור מרפאה ישראלית ממוצעת, ואינה תומכת באופן טבעי בעבודה בעברית מימין לשמאל.</a:t>
            </a:r>
          </a:p>
        </p:txBody>
      </p:sp>
      <p:sp>
        <p:nvSpPr>
          <p:cNvPr id="14" name="TextBox 13"/>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chemeClr val="bg1"/>
                </a:solidFill>
                <a:latin typeface="Arial" panose="020B0604020202020204" pitchFamily="34" charset="0"/>
              </a:rPr>
              <a:t>המערכות המתחרות</a:t>
            </a:r>
          </a:p>
        </p:txBody>
      </p:sp>
    </p:spTree>
    <p:extLst>
      <p:ext uri="{BB962C8B-B14F-4D97-AF65-F5344CB8AC3E}">
        <p14:creationId xmlns:p14="http://schemas.microsoft.com/office/powerpoint/2010/main" val="2089092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99384" y="2033588"/>
            <a:ext cx="4730591" cy="369332"/>
          </a:xfrm>
          <a:prstGeom prst="rect">
            <a:avLst/>
          </a:prstGeom>
          <a:noFill/>
        </p:spPr>
        <p:txBody>
          <a:bodyPr wrap="square" lIns="400050" tIns="0" rIns="0" bIns="0" anchor="t">
            <a:spAutoFit/>
          </a:bodyPr>
          <a:lstStyle/>
          <a:p>
            <a:pPr algn="r" rtl="1"/>
            <a:r>
              <a:rPr lang="he-IL" sz="2400" b="1" dirty="0">
                <a:solidFill>
                  <a:srgbClr val="1E40AF"/>
                </a:solidFill>
                <a:latin typeface="Arial" panose="020B0604020202020204" pitchFamily="34" charset="0"/>
              </a:rPr>
              <a:t>מערכות השוק היום</a:t>
            </a:r>
            <a:endParaRPr lang="en-US" sz="1400" dirty="0">
              <a:solidFill>
                <a:srgbClr val="EF4444"/>
              </a:solidFill>
              <a:latin typeface="Arial" panose="020B0604020202020204" pitchFamily="34" charset="0"/>
              <a:cs typeface="Arial" panose="020B0604020202020204" pitchFamily="34" charset="0"/>
            </a:endParaRPr>
          </a:p>
        </p:txBody>
      </p:sp>
      <p:sp>
        <p:nvSpPr>
          <p:cNvPr id="6" name="TextBox 5"/>
          <p:cNvSpPr txBox="1"/>
          <p:nvPr/>
        </p:nvSpPr>
        <p:spPr>
          <a:xfrm>
            <a:off x="6724650" y="2709862"/>
            <a:ext cx="4505325" cy="890115"/>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rPr>
              <a:t>פיצול מערכות:</a:t>
            </a:r>
            <a:r>
              <a:rPr lang="he-IL" sz="1500" dirty="0">
                <a:solidFill>
                  <a:srgbClr val="334155"/>
                </a:solidFill>
                <a:latin typeface="Arial" panose="020B0604020202020204" pitchFamily="34" charset="0"/>
              </a:rPr>
              <a:t> מרפאות בישראל ובעולם משתמשות לרוב בתוכנות שולחניות מיושנות. יומן התורים נפרד מהתיק הרפואי וממערכת החיובים.</a:t>
            </a:r>
          </a:p>
        </p:txBody>
      </p:sp>
      <p:sp>
        <p:nvSpPr>
          <p:cNvPr id="7" name="TextBox 6"/>
          <p:cNvSpPr txBox="1"/>
          <p:nvPr/>
        </p:nvSpPr>
        <p:spPr>
          <a:xfrm>
            <a:off x="6724650" y="3767137"/>
            <a:ext cx="4505325" cy="890115"/>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rPr>
              <a:t>חווית לקוח חסרה:</a:t>
            </a:r>
            <a:r>
              <a:rPr lang="he-IL" sz="1500" dirty="0">
                <a:solidFill>
                  <a:srgbClr val="334155"/>
                </a:solidFill>
                <a:latin typeface="Arial" panose="020B0604020202020204" pitchFamily="34" charset="0"/>
              </a:rPr>
              <a:t> אין שקיפות ללקוח. כל קביעת תור, צפייה בבדיקת דם או קבלת מסמך דורשת שיחת טלפון או התכתבות ארוכה מול המזכירות.</a:t>
            </a:r>
          </a:p>
        </p:txBody>
      </p:sp>
      <p:sp>
        <p:nvSpPr>
          <p:cNvPr id="8" name="TextBox 7"/>
          <p:cNvSpPr txBox="1"/>
          <p:nvPr/>
        </p:nvSpPr>
        <p:spPr>
          <a:xfrm>
            <a:off x="6724650" y="4824412"/>
            <a:ext cx="4505325" cy="582339"/>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rPr>
              <a:t>אין אינטגרציית </a:t>
            </a:r>
            <a:r>
              <a:rPr lang="en-US" sz="1500" b="1" dirty="0">
                <a:solidFill>
                  <a:srgbClr val="334155"/>
                </a:solidFill>
                <a:latin typeface="Arial" panose="020B0604020202020204" pitchFamily="34" charset="0"/>
              </a:rPr>
              <a:t>AI</a:t>
            </a:r>
            <a:r>
              <a:rPr lang="he-IL" sz="1500" b="1" dirty="0">
                <a:solidFill>
                  <a:srgbClr val="334155"/>
                </a:solidFill>
                <a:latin typeface="Arial" panose="020B0604020202020204" pitchFamily="34" charset="0"/>
              </a:rPr>
              <a:t>: </a:t>
            </a:r>
            <a:r>
              <a:rPr lang="he-IL" sz="1500" dirty="0">
                <a:solidFill>
                  <a:srgbClr val="334155"/>
                </a:solidFill>
                <a:latin typeface="Arial" panose="020B0604020202020204" pitchFamily="34" charset="0"/>
              </a:rPr>
              <a:t>העומס נופל כולו על הווטרינר. אין מערכות חכמות המסייעות </a:t>
            </a:r>
            <a:r>
              <a:rPr lang="he-IL" sz="1500" dirty="0" err="1">
                <a:solidFill>
                  <a:srgbClr val="334155"/>
                </a:solidFill>
                <a:latin typeface="Arial" panose="020B0604020202020204" pitchFamily="34" charset="0"/>
              </a:rPr>
              <a:t>בתעדוף</a:t>
            </a:r>
            <a:r>
              <a:rPr lang="he-IL" sz="1500" dirty="0">
                <a:solidFill>
                  <a:srgbClr val="334155"/>
                </a:solidFill>
                <a:latin typeface="Arial" panose="020B0604020202020204" pitchFamily="34" charset="0"/>
              </a:rPr>
              <a:t> או בניתוח נתונים אוטומטי.</a:t>
            </a:r>
          </a:p>
        </p:txBody>
      </p:sp>
      <p:sp>
        <p:nvSpPr>
          <p:cNvPr id="9" name="TextBox 8"/>
          <p:cNvSpPr txBox="1"/>
          <p:nvPr/>
        </p:nvSpPr>
        <p:spPr>
          <a:xfrm>
            <a:off x="736759" y="2037962"/>
            <a:ext cx="4730591" cy="369332"/>
          </a:xfrm>
          <a:prstGeom prst="rect">
            <a:avLst/>
          </a:prstGeom>
          <a:noFill/>
        </p:spPr>
        <p:txBody>
          <a:bodyPr wrap="square" lIns="361950" tIns="0" rIns="0" bIns="0" anchor="t">
            <a:spAutoFit/>
          </a:bodyPr>
          <a:lstStyle/>
          <a:p>
            <a:pPr algn="r" rtl="1"/>
            <a:r>
              <a:rPr lang="he-IL" sz="2400" b="1" dirty="0">
                <a:solidFill>
                  <a:srgbClr val="1E40AF"/>
                </a:solidFill>
                <a:latin typeface="Arial" panose="020B0604020202020204" pitchFamily="34" charset="0"/>
              </a:rPr>
              <a:t>היתרון התחרותי של </a:t>
            </a:r>
            <a:r>
              <a:rPr lang="en-US" sz="2400" b="1" dirty="0" err="1">
                <a:solidFill>
                  <a:srgbClr val="1E40AF"/>
                </a:solidFill>
                <a:latin typeface="Arial" panose="020B0604020202020204" pitchFamily="34" charset="0"/>
              </a:rPr>
              <a:t>Myvet</a:t>
            </a:r>
            <a:endParaRPr lang="en-US" sz="1400" dirty="0">
              <a:solidFill>
                <a:srgbClr val="10B981"/>
              </a:solidFill>
              <a:latin typeface="Arial" panose="020B0604020202020204" pitchFamily="34" charset="0"/>
              <a:cs typeface="Arial" panose="020B0604020202020204" pitchFamily="34" charset="0"/>
            </a:endParaRPr>
          </a:p>
        </p:txBody>
      </p:sp>
      <p:sp>
        <p:nvSpPr>
          <p:cNvPr id="10" name="TextBox 9"/>
          <p:cNvSpPr txBox="1"/>
          <p:nvPr/>
        </p:nvSpPr>
        <p:spPr>
          <a:xfrm>
            <a:off x="962025" y="2709862"/>
            <a:ext cx="4505325" cy="923330"/>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cs typeface="Arial" panose="020B0604020202020204" pitchFamily="34" charset="0"/>
              </a:rPr>
              <a:t>ממשק משתמש מודרני</a:t>
            </a:r>
            <a:r>
              <a:rPr lang="he-IL" sz="1500" b="1" dirty="0">
                <a:solidFill>
                  <a:srgbClr val="334155"/>
                </a:solidFill>
                <a:latin typeface="Arial" panose="020B0604020202020204" pitchFamily="34" charset="0"/>
              </a:rPr>
              <a:t>:</a:t>
            </a:r>
            <a:r>
              <a:rPr lang="he-IL" sz="1500" dirty="0">
                <a:solidFill>
                  <a:srgbClr val="334155"/>
                </a:solidFill>
                <a:latin typeface="Arial" panose="020B0604020202020204" pitchFamily="34" charset="0"/>
              </a:rPr>
              <a:t> ממשק משתמש העונה על צרכי הצוות הרפואי ומאפשר תפעול אינטואיטיבי וחווית משתמש קלה ונוחה לשימוש.</a:t>
            </a:r>
          </a:p>
        </p:txBody>
      </p:sp>
      <p:sp>
        <p:nvSpPr>
          <p:cNvPr id="11" name="TextBox 10"/>
          <p:cNvSpPr txBox="1"/>
          <p:nvPr/>
        </p:nvSpPr>
        <p:spPr>
          <a:xfrm>
            <a:off x="962025" y="3767137"/>
            <a:ext cx="4505325" cy="890115"/>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rPr>
              <a:t>חוויית </a:t>
            </a:r>
            <a:r>
              <a:rPr lang="en-US" sz="1500" b="1" dirty="0">
                <a:solidFill>
                  <a:srgbClr val="334155"/>
                </a:solidFill>
                <a:latin typeface="Arial" panose="020B0604020202020204" pitchFamily="34" charset="0"/>
                <a:cs typeface="Arial" panose="020B0604020202020204" pitchFamily="34" charset="0"/>
              </a:rPr>
              <a:t>Mobile-First</a:t>
            </a:r>
            <a:r>
              <a:rPr lang="he-IL" sz="1500" b="1" dirty="0">
                <a:solidFill>
                  <a:srgbClr val="334155"/>
                </a:solidFill>
                <a:latin typeface="Arial" panose="020B0604020202020204" pitchFamily="34" charset="0"/>
                <a:cs typeface="Arial" panose="020B0604020202020204" pitchFamily="34" charset="0"/>
              </a:rPr>
              <a:t>:</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cs typeface="Arial" panose="020B0604020202020204" pitchFamily="34" charset="0"/>
              </a:rPr>
              <a:t>פ</a:t>
            </a:r>
            <a:r>
              <a:rPr lang="he-IL" sz="1500" dirty="0">
                <a:solidFill>
                  <a:srgbClr val="334155"/>
                </a:solidFill>
                <a:latin typeface="Arial" panose="020B0604020202020204" pitchFamily="34" charset="0"/>
              </a:rPr>
              <a:t>ורטל לקוחות מתקדם המאפשר שירות עצמי (</a:t>
            </a:r>
            <a:r>
              <a:rPr lang="en-US" sz="1500" dirty="0">
                <a:solidFill>
                  <a:srgbClr val="334155"/>
                </a:solidFill>
                <a:latin typeface="Arial" panose="020B0604020202020204" pitchFamily="34" charset="0"/>
                <a:cs typeface="Arial" panose="020B0604020202020204" pitchFamily="34" charset="0"/>
              </a:rPr>
              <a:t>Self-Service</a:t>
            </a:r>
            <a:r>
              <a:rPr lang="he-IL" sz="1500" dirty="0">
                <a:solidFill>
                  <a:srgbClr val="334155"/>
                </a:solidFill>
                <a:latin typeface="Arial" panose="020B0604020202020204" pitchFamily="34" charset="0"/>
              </a:rPr>
              <a:t>) וקביעת תורים באלגוריתם אטומי המונע כפילויות.</a:t>
            </a:r>
          </a:p>
        </p:txBody>
      </p:sp>
      <p:sp>
        <p:nvSpPr>
          <p:cNvPr id="12" name="TextBox 11"/>
          <p:cNvSpPr txBox="1"/>
          <p:nvPr/>
        </p:nvSpPr>
        <p:spPr>
          <a:xfrm>
            <a:off x="962025" y="4824412"/>
            <a:ext cx="4505325" cy="1197892"/>
          </a:xfrm>
          <a:prstGeom prst="rect">
            <a:avLst/>
          </a:prstGeom>
          <a:noFill/>
        </p:spPr>
        <p:txBody>
          <a:bodyPr wrap="square" lIns="0" tIns="0" rIns="0" bIns="0" anchor="t">
            <a:spAutoFit/>
          </a:bodyPr>
          <a:lstStyle/>
          <a:p>
            <a:pPr algn="r" rtl="1">
              <a:lnSpc>
                <a:spcPts val="2400"/>
              </a:lnSpc>
            </a:pPr>
            <a:r>
              <a:rPr lang="he-IL" sz="1500" b="1" dirty="0">
                <a:solidFill>
                  <a:srgbClr val="334155"/>
                </a:solidFill>
                <a:latin typeface="Arial" panose="020B0604020202020204" pitchFamily="34" charset="0"/>
              </a:rPr>
              <a:t>מובנה ואחראי </a:t>
            </a:r>
            <a:r>
              <a:rPr lang="en-US" sz="1500" b="1" dirty="0">
                <a:solidFill>
                  <a:srgbClr val="334155"/>
                </a:solidFill>
                <a:latin typeface="Arial" panose="020B0604020202020204" pitchFamily="34" charset="0"/>
              </a:rPr>
              <a:t>AI</a:t>
            </a:r>
            <a:r>
              <a:rPr lang="he-IL" sz="1500" b="1" dirty="0">
                <a:solidFill>
                  <a:srgbClr val="334155"/>
                </a:solidFill>
                <a:latin typeface="Arial" panose="020B0604020202020204" pitchFamily="34" charset="0"/>
              </a:rPr>
              <a:t>:</a:t>
            </a:r>
            <a:r>
              <a:rPr lang="en-US" sz="1500" dirty="0">
                <a:solidFill>
                  <a:srgbClr val="334155"/>
                </a:solidFill>
                <a:latin typeface="Arial" panose="020B0604020202020204" pitchFamily="34" charset="0"/>
                <a:cs typeface="Arial" panose="020B0604020202020204" pitchFamily="34" charset="0"/>
              </a:rPr>
              <a:t>VetBot </a:t>
            </a:r>
            <a:r>
              <a:rPr lang="he-IL" sz="1500" dirty="0">
                <a:solidFill>
                  <a:srgbClr val="334155"/>
                </a:solidFill>
                <a:latin typeface="Arial" panose="020B0604020202020204" pitchFamily="34" charset="0"/>
              </a:rPr>
              <a:t>חוסך זמן לצוות על ידי ניווט טקסטואלי במערכת והכנת טיוטות, אך תמיד דורש</a:t>
            </a:r>
            <a:endParaRPr lang="en-US" sz="1500" dirty="0">
              <a:solidFill>
                <a:srgbClr val="334155"/>
              </a:solidFill>
              <a:latin typeface="Arial" panose="020B0604020202020204" pitchFamily="34" charset="0"/>
            </a:endParaRPr>
          </a:p>
          <a:p>
            <a:pPr algn="r" rtl="1">
              <a:lnSpc>
                <a:spcPts val="2400"/>
              </a:lnSpc>
            </a:pPr>
            <a:r>
              <a:rPr lang="he-IL" sz="1500" dirty="0">
                <a:solidFill>
                  <a:srgbClr val="334155"/>
                </a:solidFill>
                <a:latin typeface="Arial" panose="020B0604020202020204" pitchFamily="34" charset="0"/>
              </a:rPr>
              <a:t> </a:t>
            </a:r>
            <a:r>
              <a:rPr lang="en-US" sz="1500" dirty="0">
                <a:solidFill>
                  <a:srgbClr val="334155"/>
                </a:solidFill>
                <a:latin typeface="Arial" panose="020B0604020202020204" pitchFamily="34" charset="0"/>
                <a:cs typeface="Arial" panose="020B0604020202020204" pitchFamily="34" charset="0"/>
              </a:rPr>
              <a:t>Human-in-the-Loop</a:t>
            </a:r>
            <a:r>
              <a:rPr lang="he-IL" sz="1500" dirty="0">
                <a:solidFill>
                  <a:srgbClr val="334155"/>
                </a:solidFill>
                <a:latin typeface="Arial" panose="020B0604020202020204" pitchFamily="34" charset="0"/>
                <a:cs typeface="Arial" panose="020B0604020202020204" pitchFamily="34" charset="0"/>
              </a:rPr>
              <a:t>.</a:t>
            </a:r>
            <a:endParaRPr lang="en-US" sz="1500" dirty="0">
              <a:solidFill>
                <a:srgbClr val="334155"/>
              </a:solidFill>
              <a:latin typeface="Arial" panose="020B0604020202020204" pitchFamily="34" charset="0"/>
              <a:cs typeface="Arial" panose="020B0604020202020204" pitchFamily="34" charset="0"/>
            </a:endParaRPr>
          </a:p>
          <a:p>
            <a:pPr algn="r" rtl="1">
              <a:lnSpc>
                <a:spcPts val="2400"/>
              </a:lnSpc>
            </a:pPr>
            <a:endParaRPr sz="1500" b="0" i="0" u="none" dirty="0">
              <a:solidFill>
                <a:srgbClr val="334155"/>
              </a:solidFill>
              <a:latin typeface="Arial" panose="020B0604020202020204" pitchFamily="34" charset="0"/>
              <a:cs typeface="Arial" panose="020B0604020202020204" pitchFamily="34" charset="0"/>
            </a:endParaRPr>
          </a:p>
        </p:txBody>
      </p:sp>
      <p:sp>
        <p:nvSpPr>
          <p:cNvPr id="15" name="TextBox 14"/>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chemeClr val="bg1"/>
                </a:solidFill>
                <a:latin typeface="Arial" panose="020B0604020202020204" pitchFamily="34" charset="0"/>
              </a:rPr>
              <a:t>מצב השוק והפער הטכנולוגי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8127950" y="2190750"/>
            <a:ext cx="3492549" cy="3676650"/>
          </a:xfrm>
          <a:prstGeom prst="rect">
            <a:avLst/>
          </a:prstGeom>
        </p:spPr>
      </p:pic>
      <p:pic>
        <p:nvPicPr>
          <p:cNvPr id="4" name="Picture 3" descr="image.png"/>
          <p:cNvPicPr>
            <a:picLocks noChangeAspect="1"/>
          </p:cNvPicPr>
          <p:nvPr/>
        </p:nvPicPr>
        <p:blipFill>
          <a:blip r:embed="rId4">
            <a:duotone>
              <a:prstClr val="black"/>
              <a:schemeClr val="tx2">
                <a:tint val="45000"/>
                <a:satMod val="400000"/>
              </a:schemeClr>
            </a:duotone>
          </a:blip>
          <a:stretch>
            <a:fillRect/>
          </a:stretch>
        </p:blipFill>
        <p:spPr>
          <a:xfrm>
            <a:off x="4349650" y="2190750"/>
            <a:ext cx="3492549" cy="3676650"/>
          </a:xfrm>
          <a:prstGeom prst="rect">
            <a:avLst/>
          </a:prstGeom>
        </p:spPr>
      </p:pic>
      <p:pic>
        <p:nvPicPr>
          <p:cNvPr id="5" name="Picture 4" descr="image.png"/>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rightnessContrast contrast="-40000"/>
                    </a14:imgEffect>
                  </a14:imgLayer>
                </a14:imgProps>
              </a:ext>
            </a:extLst>
          </a:blip>
          <a:stretch>
            <a:fillRect/>
          </a:stretch>
        </p:blipFill>
        <p:spPr>
          <a:xfrm>
            <a:off x="497608" y="2189018"/>
            <a:ext cx="3492549" cy="3676650"/>
          </a:xfrm>
          <a:prstGeom prst="rect">
            <a:avLst/>
          </a:prstGeom>
          <a:noFill/>
        </p:spPr>
      </p:pic>
      <p:pic>
        <p:nvPicPr>
          <p:cNvPr id="6" name="Picture 5" descr="image.png"/>
          <p:cNvPicPr>
            <a:picLocks noChangeAspect="1"/>
          </p:cNvPicPr>
          <p:nvPr/>
        </p:nvPicPr>
        <p:blipFill>
          <a:blip r:embed="rId7"/>
          <a:stretch>
            <a:fillRect/>
          </a:stretch>
        </p:blipFill>
        <p:spPr>
          <a:xfrm>
            <a:off x="9445674" y="2533650"/>
            <a:ext cx="857250" cy="857250"/>
          </a:xfrm>
          <a:prstGeom prst="rect">
            <a:avLst/>
          </a:prstGeom>
        </p:spPr>
      </p:pic>
      <p:sp>
        <p:nvSpPr>
          <p:cNvPr id="7" name="TextBox 6"/>
          <p:cNvSpPr txBox="1"/>
          <p:nvPr/>
        </p:nvSpPr>
        <p:spPr>
          <a:xfrm>
            <a:off x="8290560" y="3629025"/>
            <a:ext cx="3082289" cy="323165"/>
          </a:xfrm>
          <a:prstGeom prst="rect">
            <a:avLst/>
          </a:prstGeom>
          <a:noFill/>
        </p:spPr>
        <p:txBody>
          <a:bodyPr wrap="square" lIns="0" tIns="0" rIns="0" bIns="0" anchor="t">
            <a:spAutoFit/>
          </a:bodyPr>
          <a:lstStyle/>
          <a:p>
            <a:pPr algn="r" rtl="1"/>
            <a:r>
              <a:rPr lang="he-IL" sz="2100" dirty="0">
                <a:solidFill>
                  <a:srgbClr val="2563EB"/>
                </a:solidFill>
                <a:latin typeface="Heebo ExtraBold"/>
              </a:rPr>
              <a:t>מערכת מודרנית קלה לשימוש</a:t>
            </a:r>
          </a:p>
        </p:txBody>
      </p:sp>
      <p:sp>
        <p:nvSpPr>
          <p:cNvPr id="8" name="TextBox 7"/>
          <p:cNvSpPr txBox="1"/>
          <p:nvPr/>
        </p:nvSpPr>
        <p:spPr>
          <a:xfrm>
            <a:off x="8375600" y="4162425"/>
            <a:ext cx="2997249" cy="923330"/>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Heebo"/>
              </a:rPr>
              <a:t>מערכת עם </a:t>
            </a:r>
            <a:r>
              <a:rPr lang="en-US" sz="1500" dirty="0">
                <a:solidFill>
                  <a:srgbClr val="334155"/>
                </a:solidFill>
                <a:latin typeface="Heebo"/>
              </a:rPr>
              <a:t>UI</a:t>
            </a:r>
            <a:r>
              <a:rPr lang="he-IL" sz="1500" dirty="0">
                <a:solidFill>
                  <a:srgbClr val="334155"/>
                </a:solidFill>
                <a:latin typeface="Heebo"/>
              </a:rPr>
              <a:t>\</a:t>
            </a:r>
            <a:r>
              <a:rPr lang="en-US" sz="1500" dirty="0">
                <a:solidFill>
                  <a:srgbClr val="334155"/>
                </a:solidFill>
                <a:latin typeface="Heebo"/>
              </a:rPr>
              <a:t>UX</a:t>
            </a:r>
            <a:r>
              <a:rPr lang="he-IL" sz="1500" dirty="0">
                <a:solidFill>
                  <a:srgbClr val="334155"/>
                </a:solidFill>
                <a:latin typeface="Heebo"/>
              </a:rPr>
              <a:t> מודרני המתאימה לצרכי המשתמשים (גם הצוות וגם הלקוחות).</a:t>
            </a:r>
          </a:p>
        </p:txBody>
      </p:sp>
      <p:pic>
        <p:nvPicPr>
          <p:cNvPr id="9" name="Picture 8" descr="image.png"/>
          <p:cNvPicPr>
            <a:picLocks noChangeAspect="1"/>
          </p:cNvPicPr>
          <p:nvPr/>
        </p:nvPicPr>
        <p:blipFill>
          <a:blip r:embed="rId8"/>
          <a:stretch>
            <a:fillRect/>
          </a:stretch>
        </p:blipFill>
        <p:spPr>
          <a:xfrm>
            <a:off x="5667375" y="2533650"/>
            <a:ext cx="857250" cy="857250"/>
          </a:xfrm>
          <a:prstGeom prst="rect">
            <a:avLst/>
          </a:prstGeom>
        </p:spPr>
      </p:pic>
      <p:sp>
        <p:nvSpPr>
          <p:cNvPr id="10" name="TextBox 9"/>
          <p:cNvSpPr txBox="1"/>
          <p:nvPr/>
        </p:nvSpPr>
        <p:spPr>
          <a:xfrm>
            <a:off x="5229860" y="3605212"/>
            <a:ext cx="1736883" cy="323165"/>
          </a:xfrm>
          <a:prstGeom prst="rect">
            <a:avLst/>
          </a:prstGeom>
          <a:noFill/>
        </p:spPr>
        <p:txBody>
          <a:bodyPr wrap="square" lIns="0" tIns="0" rIns="0" bIns="0" anchor="t">
            <a:spAutoFit/>
          </a:bodyPr>
          <a:lstStyle/>
          <a:p>
            <a:pPr algn="r" rtl="1"/>
            <a:r>
              <a:rPr lang="he-IL" sz="2100" dirty="0">
                <a:solidFill>
                  <a:srgbClr val="2563EB"/>
                </a:solidFill>
                <a:latin typeface="Heebo ExtraBold"/>
              </a:rPr>
              <a:t>הפרדת הרשאות</a:t>
            </a:r>
          </a:p>
        </p:txBody>
      </p:sp>
      <p:sp>
        <p:nvSpPr>
          <p:cNvPr id="11" name="TextBox 10"/>
          <p:cNvSpPr txBox="1"/>
          <p:nvPr/>
        </p:nvSpPr>
        <p:spPr>
          <a:xfrm>
            <a:off x="4597300" y="4162425"/>
            <a:ext cx="2997249" cy="1197892"/>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Heebo"/>
              </a:rPr>
              <a:t>כל משתמש, מצוות המרפאה ועד בעל החיה, נחשף ומורשה לבצע רק פעולות התואמות את תפקידו, עם אכיפה מלאה בשרת.</a:t>
            </a:r>
          </a:p>
        </p:txBody>
      </p:sp>
      <p:pic>
        <p:nvPicPr>
          <p:cNvPr id="12" name="Picture 11" descr="image.png"/>
          <p:cNvPicPr>
            <a:picLocks noChangeAspect="1"/>
          </p:cNvPicPr>
          <p:nvPr/>
        </p:nvPicPr>
        <p:blipFill>
          <a:blip r:embed="rId9"/>
          <a:stretch>
            <a:fillRect/>
          </a:stretch>
        </p:blipFill>
        <p:spPr>
          <a:xfrm>
            <a:off x="1889075" y="2533650"/>
            <a:ext cx="857250" cy="857250"/>
          </a:xfrm>
          <a:prstGeom prst="rect">
            <a:avLst/>
          </a:prstGeom>
        </p:spPr>
      </p:pic>
      <p:sp>
        <p:nvSpPr>
          <p:cNvPr id="13" name="TextBox 12"/>
          <p:cNvSpPr txBox="1"/>
          <p:nvPr/>
        </p:nvSpPr>
        <p:spPr>
          <a:xfrm>
            <a:off x="1292572" y="3629025"/>
            <a:ext cx="2050256" cy="323165"/>
          </a:xfrm>
          <a:prstGeom prst="rect">
            <a:avLst/>
          </a:prstGeom>
          <a:noFill/>
        </p:spPr>
        <p:txBody>
          <a:bodyPr wrap="square" lIns="0" tIns="0" rIns="0" bIns="0" anchor="t">
            <a:spAutoFit/>
          </a:bodyPr>
          <a:lstStyle/>
          <a:p>
            <a:pPr algn="r" rtl="1"/>
            <a:r>
              <a:rPr lang="he-IL" sz="2100" dirty="0">
                <a:solidFill>
                  <a:srgbClr val="2563EB"/>
                </a:solidFill>
                <a:latin typeface="Heebo ExtraBold"/>
              </a:rPr>
              <a:t>אחראי ומבוקר </a:t>
            </a:r>
            <a:r>
              <a:rPr lang="en-US" sz="2100" dirty="0">
                <a:solidFill>
                  <a:srgbClr val="2563EB"/>
                </a:solidFill>
                <a:latin typeface="Heebo ExtraBold"/>
              </a:rPr>
              <a:t>AI</a:t>
            </a:r>
            <a:endParaRPr lang="he-IL" sz="2100" dirty="0">
              <a:solidFill>
                <a:srgbClr val="2563EB"/>
              </a:solidFill>
              <a:latin typeface="Heebo ExtraBold"/>
            </a:endParaRPr>
          </a:p>
        </p:txBody>
      </p:sp>
      <p:sp>
        <p:nvSpPr>
          <p:cNvPr id="14" name="TextBox 13"/>
          <p:cNvSpPr txBox="1"/>
          <p:nvPr/>
        </p:nvSpPr>
        <p:spPr>
          <a:xfrm>
            <a:off x="819001" y="4162425"/>
            <a:ext cx="2997249" cy="890115"/>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Heebo"/>
              </a:rPr>
              <a:t>שילוב מערכת </a:t>
            </a:r>
            <a:r>
              <a:rPr lang="en-US" sz="1500" dirty="0">
                <a:solidFill>
                  <a:srgbClr val="334155"/>
                </a:solidFill>
                <a:latin typeface="Heebo"/>
              </a:rPr>
              <a:t>VetBot</a:t>
            </a:r>
            <a:r>
              <a:rPr lang="he-IL" sz="1500" dirty="0">
                <a:solidFill>
                  <a:srgbClr val="334155"/>
                </a:solidFill>
                <a:latin typeface="Heebo"/>
              </a:rPr>
              <a:t> כעוזר חכם התומך בצוות ומונע עומס קוגניטיבי, תוך דרישת אישור אנושי לכל פעולה.</a:t>
            </a:r>
          </a:p>
        </p:txBody>
      </p:sp>
      <p:pic>
        <p:nvPicPr>
          <p:cNvPr id="15" name="Picture 14" descr="image.png"/>
          <p:cNvPicPr>
            <a:picLocks noChangeAspect="1"/>
          </p:cNvPicPr>
          <p:nvPr/>
        </p:nvPicPr>
        <p:blipFill>
          <a:blip r:embed="rId10"/>
          <a:stretch>
            <a:fillRect/>
          </a:stretch>
        </p:blipFill>
        <p:spPr>
          <a:xfrm>
            <a:off x="9631412" y="2747962"/>
            <a:ext cx="485775" cy="428625"/>
          </a:xfrm>
          <a:prstGeom prst="rect">
            <a:avLst/>
          </a:prstGeom>
        </p:spPr>
      </p:pic>
      <p:pic>
        <p:nvPicPr>
          <p:cNvPr id="16" name="Picture 15" descr="image.png"/>
          <p:cNvPicPr>
            <a:picLocks noChangeAspect="1"/>
          </p:cNvPicPr>
          <p:nvPr/>
        </p:nvPicPr>
        <p:blipFill>
          <a:blip r:embed="rId11"/>
          <a:stretch>
            <a:fillRect/>
          </a:stretch>
        </p:blipFill>
        <p:spPr>
          <a:xfrm>
            <a:off x="5829300" y="2747962"/>
            <a:ext cx="533400" cy="428625"/>
          </a:xfrm>
          <a:prstGeom prst="rect">
            <a:avLst/>
          </a:prstGeom>
        </p:spPr>
      </p:pic>
      <p:pic>
        <p:nvPicPr>
          <p:cNvPr id="17" name="Picture 16" descr="image.png"/>
          <p:cNvPicPr>
            <a:picLocks noChangeAspect="1"/>
          </p:cNvPicPr>
          <p:nvPr/>
        </p:nvPicPr>
        <p:blipFill>
          <a:blip r:embed="rId12"/>
          <a:stretch>
            <a:fillRect/>
          </a:stretch>
        </p:blipFill>
        <p:spPr>
          <a:xfrm>
            <a:off x="2051000" y="2747962"/>
            <a:ext cx="533400" cy="428625"/>
          </a:xfrm>
          <a:prstGeom prst="rect">
            <a:avLst/>
          </a:prstGeom>
        </p:spPr>
      </p:pic>
      <p:sp>
        <p:nvSpPr>
          <p:cNvPr id="18" name="TextBox 17"/>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chemeClr val="bg1"/>
                </a:solidFill>
                <a:latin typeface="Heebo"/>
              </a:rPr>
              <a:t>מטרת המערכת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24946" y="1980580"/>
            <a:ext cx="5286375" cy="283347"/>
          </a:xfrm>
          <a:prstGeom prst="rect">
            <a:avLst/>
          </a:prstGeom>
          <a:noFill/>
        </p:spPr>
        <p:txBody>
          <a:bodyPr wrap="square" lIns="0" tIns="0" rIns="0" bIns="0" anchor="t">
            <a:spAutoFit/>
          </a:bodyPr>
          <a:lstStyle/>
          <a:p>
            <a:pPr algn="r" rtl="1">
              <a:lnSpc>
                <a:spcPts val="2400"/>
              </a:lnSpc>
            </a:pPr>
            <a:r>
              <a:rPr lang="he-IL" dirty="0">
                <a:solidFill>
                  <a:schemeClr val="bg1"/>
                </a:solidFill>
                <a:latin typeface="Arial" panose="020B0604020202020204" pitchFamily="34" charset="0"/>
              </a:rPr>
              <a:t>המערכת משרתת מספר פונקציות מרכזיות במרפאה:</a:t>
            </a:r>
          </a:p>
        </p:txBody>
      </p:sp>
      <p:sp>
        <p:nvSpPr>
          <p:cNvPr id="5" name="TextBox 4"/>
          <p:cNvSpPr txBox="1"/>
          <p:nvPr/>
        </p:nvSpPr>
        <p:spPr>
          <a:xfrm>
            <a:off x="11082771" y="2615845"/>
            <a:ext cx="66675" cy="230832"/>
          </a:xfrm>
          <a:prstGeom prst="rect">
            <a:avLst/>
          </a:prstGeom>
          <a:noFill/>
        </p:spPr>
        <p:txBody>
          <a:bodyPr wrap="square" lIns="0" tIns="0" rIns="0" bIns="0" anchor="t">
            <a:spAutoFit/>
          </a:bodyPr>
          <a:lstStyle/>
          <a:p>
            <a:pPr algn="r" rtl="1"/>
            <a:r>
              <a:rPr sz="1500" b="0" i="0" u="none">
                <a:solidFill>
                  <a:srgbClr val="334155"/>
                </a:solidFill>
                <a:latin typeface="Arial" panose="020B0604020202020204" pitchFamily="34" charset="0"/>
                <a:cs typeface="Arial" panose="020B0604020202020204" pitchFamily="34" charset="0"/>
              </a:rPr>
              <a:t>•</a:t>
            </a:r>
          </a:p>
        </p:txBody>
      </p:sp>
      <p:sp>
        <p:nvSpPr>
          <p:cNvPr id="6" name="TextBox 5"/>
          <p:cNvSpPr txBox="1"/>
          <p:nvPr/>
        </p:nvSpPr>
        <p:spPr>
          <a:xfrm>
            <a:off x="4038667" y="2555507"/>
            <a:ext cx="6872654" cy="283411"/>
          </a:xfrm>
          <a:prstGeom prst="rect">
            <a:avLst/>
          </a:prstGeom>
          <a:noFill/>
        </p:spPr>
        <p:txBody>
          <a:bodyPr wrap="square" lIns="66675" tIns="0" rIns="0" bIns="0" anchor="t">
            <a:spAutoFit/>
          </a:bodyPr>
          <a:lstStyle/>
          <a:p>
            <a:pPr algn="r" rtl="1">
              <a:lnSpc>
                <a:spcPts val="2400"/>
              </a:lnSpc>
            </a:pPr>
            <a:r>
              <a:rPr lang="he-IL" b="1" dirty="0">
                <a:solidFill>
                  <a:srgbClr val="334155"/>
                </a:solidFill>
                <a:latin typeface="Arial" panose="020B0604020202020204" pitchFamily="34" charset="0"/>
              </a:rPr>
              <a:t>מנהל המרפאה:</a:t>
            </a:r>
            <a:r>
              <a:rPr lang="he-IL" dirty="0">
                <a:solidFill>
                  <a:srgbClr val="334155"/>
                </a:solidFill>
                <a:latin typeface="Arial" panose="020B0604020202020204" pitchFamily="34" charset="0"/>
              </a:rPr>
              <a:t> צרכי תפעול, דוחות פיננסיים, ניהול צוות ובקרה כוללת.</a:t>
            </a:r>
          </a:p>
        </p:txBody>
      </p:sp>
      <p:sp>
        <p:nvSpPr>
          <p:cNvPr id="7" name="TextBox 6"/>
          <p:cNvSpPr txBox="1"/>
          <p:nvPr/>
        </p:nvSpPr>
        <p:spPr>
          <a:xfrm>
            <a:off x="11082771" y="3175623"/>
            <a:ext cx="66675" cy="230832"/>
          </a:xfrm>
          <a:prstGeom prst="rect">
            <a:avLst/>
          </a:prstGeom>
          <a:noFill/>
        </p:spPr>
        <p:txBody>
          <a:bodyPr wrap="square" lIns="0" tIns="0" rIns="0" bIns="0" anchor="t">
            <a:spAutoFit/>
          </a:bodyPr>
          <a:lstStyle/>
          <a:p>
            <a:pPr algn="r" rtl="1"/>
            <a:r>
              <a:rPr sz="1500" b="0" i="0" u="none">
                <a:solidFill>
                  <a:srgbClr val="334155"/>
                </a:solidFill>
                <a:latin typeface="Arial" panose="020B0604020202020204" pitchFamily="34" charset="0"/>
                <a:cs typeface="Arial" panose="020B0604020202020204" pitchFamily="34" charset="0"/>
              </a:rPr>
              <a:t>•</a:t>
            </a:r>
          </a:p>
        </p:txBody>
      </p:sp>
      <p:sp>
        <p:nvSpPr>
          <p:cNvPr id="8" name="TextBox 7"/>
          <p:cNvSpPr txBox="1"/>
          <p:nvPr/>
        </p:nvSpPr>
        <p:spPr>
          <a:xfrm>
            <a:off x="4706883" y="3138731"/>
            <a:ext cx="6204438" cy="591124"/>
          </a:xfrm>
          <a:prstGeom prst="rect">
            <a:avLst/>
          </a:prstGeom>
          <a:noFill/>
        </p:spPr>
        <p:txBody>
          <a:bodyPr wrap="square" lIns="66675" tIns="0" rIns="0" bIns="0" anchor="t">
            <a:spAutoFit/>
          </a:bodyPr>
          <a:lstStyle/>
          <a:p>
            <a:pPr algn="r" rtl="1">
              <a:lnSpc>
                <a:spcPts val="2400"/>
              </a:lnSpc>
            </a:pPr>
            <a:r>
              <a:rPr lang="he-IL" b="1" dirty="0">
                <a:solidFill>
                  <a:srgbClr val="334155"/>
                </a:solidFill>
                <a:latin typeface="Arial" panose="020B0604020202020204" pitchFamily="34" charset="0"/>
              </a:rPr>
              <a:t>הווטרינר המטפל:</a:t>
            </a:r>
            <a:r>
              <a:rPr lang="he-IL" dirty="0">
                <a:solidFill>
                  <a:srgbClr val="334155"/>
                </a:solidFill>
                <a:latin typeface="Arial" panose="020B0604020202020204" pitchFamily="34" charset="0"/>
              </a:rPr>
              <a:t> התמקדות בתיק הרפואי, אבחנות, מעבדה ואשפוזים עם ממשק נקי ומהיר להחלטות רפואיות.</a:t>
            </a:r>
          </a:p>
        </p:txBody>
      </p:sp>
      <p:sp>
        <p:nvSpPr>
          <p:cNvPr id="9" name="TextBox 8"/>
          <p:cNvSpPr txBox="1"/>
          <p:nvPr/>
        </p:nvSpPr>
        <p:spPr>
          <a:xfrm>
            <a:off x="11082771" y="4016753"/>
            <a:ext cx="66675" cy="230832"/>
          </a:xfrm>
          <a:prstGeom prst="rect">
            <a:avLst/>
          </a:prstGeom>
          <a:noFill/>
        </p:spPr>
        <p:txBody>
          <a:bodyPr wrap="square" lIns="0" tIns="0" rIns="0" bIns="0" anchor="t">
            <a:spAutoFit/>
          </a:bodyPr>
          <a:lstStyle/>
          <a:p>
            <a:pPr algn="r" rtl="1"/>
            <a:r>
              <a:rPr sz="1500" b="0" i="0" u="none" dirty="0">
                <a:solidFill>
                  <a:srgbClr val="334155"/>
                </a:solidFill>
                <a:latin typeface="Arial" panose="020B0604020202020204" pitchFamily="34" charset="0"/>
                <a:cs typeface="Arial" panose="020B0604020202020204" pitchFamily="34" charset="0"/>
              </a:rPr>
              <a:t>•</a:t>
            </a:r>
          </a:p>
        </p:txBody>
      </p:sp>
      <p:sp>
        <p:nvSpPr>
          <p:cNvPr id="10" name="TextBox 9"/>
          <p:cNvSpPr txBox="1"/>
          <p:nvPr/>
        </p:nvSpPr>
        <p:spPr>
          <a:xfrm>
            <a:off x="5863071" y="3956415"/>
            <a:ext cx="5048250" cy="923330"/>
          </a:xfrm>
          <a:prstGeom prst="rect">
            <a:avLst/>
          </a:prstGeom>
          <a:noFill/>
        </p:spPr>
        <p:txBody>
          <a:bodyPr wrap="square" lIns="66675" tIns="0" rIns="0" bIns="0" anchor="t">
            <a:spAutoFit/>
          </a:bodyPr>
          <a:lstStyle/>
          <a:p>
            <a:pPr algn="r" rtl="1">
              <a:lnSpc>
                <a:spcPts val="2400"/>
              </a:lnSpc>
            </a:pPr>
            <a:r>
              <a:rPr lang="he-IL" b="1" dirty="0">
                <a:solidFill>
                  <a:srgbClr val="334155"/>
                </a:solidFill>
                <a:latin typeface="Arial" panose="020B0604020202020204" pitchFamily="34" charset="0"/>
              </a:rPr>
              <a:t>צוות מסייע ומזכירות:</a:t>
            </a:r>
            <a:r>
              <a:rPr lang="he-IL" dirty="0">
                <a:solidFill>
                  <a:srgbClr val="334155"/>
                </a:solidFill>
                <a:latin typeface="Arial" panose="020B0604020202020204" pitchFamily="34" charset="0"/>
              </a:rPr>
              <a:t> ניהול תורים, קבלת קהל, ניהול מלאי ושירות שוטף (ללא גישה </a:t>
            </a:r>
            <a:r>
              <a:rPr lang="he-IL" dirty="0" smtClean="0">
                <a:solidFill>
                  <a:srgbClr val="334155"/>
                </a:solidFill>
                <a:latin typeface="Arial" panose="020B0604020202020204" pitchFamily="34" charset="0"/>
              </a:rPr>
              <a:t>מלאה לעריכת </a:t>
            </a:r>
            <a:r>
              <a:rPr lang="he-IL" dirty="0">
                <a:solidFill>
                  <a:srgbClr val="334155"/>
                </a:solidFill>
                <a:latin typeface="Arial" panose="020B0604020202020204" pitchFamily="34" charset="0"/>
              </a:rPr>
              <a:t>רשומות רפואיות).</a:t>
            </a:r>
            <a:endParaRPr lang="he-IL" dirty="0">
              <a:solidFill>
                <a:srgbClr val="334155"/>
              </a:solidFill>
              <a:latin typeface="Arial" panose="020B0604020202020204" pitchFamily="34" charset="0"/>
              <a:cs typeface="Arial" panose="020B0604020202020204" pitchFamily="34" charset="0"/>
            </a:endParaRPr>
          </a:p>
        </p:txBody>
      </p:sp>
      <p:sp>
        <p:nvSpPr>
          <p:cNvPr id="11" name="TextBox 10"/>
          <p:cNvSpPr txBox="1"/>
          <p:nvPr/>
        </p:nvSpPr>
        <p:spPr>
          <a:xfrm>
            <a:off x="11082771" y="4944562"/>
            <a:ext cx="66675" cy="230832"/>
          </a:xfrm>
          <a:prstGeom prst="rect">
            <a:avLst/>
          </a:prstGeom>
          <a:noFill/>
        </p:spPr>
        <p:txBody>
          <a:bodyPr wrap="square" lIns="0" tIns="0" rIns="0" bIns="0" anchor="t">
            <a:spAutoFit/>
          </a:bodyPr>
          <a:lstStyle/>
          <a:p>
            <a:pPr algn="r" rtl="1"/>
            <a:r>
              <a:rPr sz="1500" b="0" i="0" u="none" dirty="0">
                <a:solidFill>
                  <a:srgbClr val="334155"/>
                </a:solidFill>
                <a:latin typeface="Arial" panose="020B0604020202020204" pitchFamily="34" charset="0"/>
                <a:cs typeface="Arial" panose="020B0604020202020204" pitchFamily="34" charset="0"/>
              </a:rPr>
              <a:t>•</a:t>
            </a:r>
          </a:p>
        </p:txBody>
      </p:sp>
      <p:sp>
        <p:nvSpPr>
          <p:cNvPr id="12" name="TextBox 11"/>
          <p:cNvSpPr txBox="1"/>
          <p:nvPr/>
        </p:nvSpPr>
        <p:spPr>
          <a:xfrm>
            <a:off x="4038667" y="4884224"/>
            <a:ext cx="6872654" cy="591124"/>
          </a:xfrm>
          <a:prstGeom prst="rect">
            <a:avLst/>
          </a:prstGeom>
          <a:noFill/>
        </p:spPr>
        <p:txBody>
          <a:bodyPr wrap="square" lIns="66675" tIns="0" rIns="0" bIns="0" anchor="t">
            <a:spAutoFit/>
          </a:bodyPr>
          <a:lstStyle/>
          <a:p>
            <a:pPr algn="r" rtl="1">
              <a:lnSpc>
                <a:spcPts val="2400"/>
              </a:lnSpc>
            </a:pPr>
            <a:r>
              <a:rPr lang="he-IL" b="1" dirty="0">
                <a:solidFill>
                  <a:srgbClr val="334155"/>
                </a:solidFill>
                <a:latin typeface="Arial" panose="020B0604020202020204" pitchFamily="34" charset="0"/>
              </a:rPr>
              <a:t>בעלי החיות (הלקוחות):</a:t>
            </a:r>
            <a:r>
              <a:rPr lang="he-IL" dirty="0">
                <a:solidFill>
                  <a:srgbClr val="334155"/>
                </a:solidFill>
                <a:latin typeface="Arial" panose="020B0604020202020204" pitchFamily="34" charset="0"/>
              </a:rPr>
              <a:t> אזור אישי (פורטל) לצפייה בתורים, קביעת הגעה, צפייה במסמכים רפואיים ששוחררו אליהם ופניות דיגיטליות למרפאה.</a:t>
            </a:r>
          </a:p>
        </p:txBody>
      </p:sp>
      <p:sp>
        <p:nvSpPr>
          <p:cNvPr id="14" name="TextBox 13"/>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chemeClr val="bg1"/>
                </a:solidFill>
                <a:latin typeface="Arial" panose="020B0604020202020204" pitchFamily="34" charset="0"/>
              </a:rPr>
              <a:t>קהל היעד והמשתמשים</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95500" y="1937316"/>
            <a:ext cx="8858250" cy="1333698"/>
          </a:xfrm>
          <a:prstGeom prst="rect">
            <a:avLst/>
          </a:prstGeom>
          <a:noFill/>
        </p:spPr>
        <p:txBody>
          <a:bodyPr wrap="square" lIns="200025" tIns="0" rIns="0" bIns="0" anchor="t">
            <a:spAutoFit/>
          </a:bodyPr>
          <a:lstStyle/>
          <a:p>
            <a:pPr algn="r" rtl="1">
              <a:lnSpc>
                <a:spcPts val="2640"/>
              </a:lnSpc>
            </a:pPr>
            <a:r>
              <a:rPr lang="en-US" sz="1650" b="1" dirty="0" err="1">
                <a:solidFill>
                  <a:schemeClr val="bg1"/>
                </a:solidFill>
                <a:latin typeface="Arial" panose="020B0604020202020204" pitchFamily="34" charset="0"/>
              </a:rPr>
              <a:t>Myvet</a:t>
            </a:r>
            <a:r>
              <a:rPr lang="he-IL" sz="1650" b="1" dirty="0">
                <a:solidFill>
                  <a:srgbClr val="1E40AF"/>
                </a:solidFill>
                <a:latin typeface="Arial" panose="020B0604020202020204" pitchFamily="34" charset="0"/>
              </a:rPr>
              <a:t>:</a:t>
            </a:r>
            <a:r>
              <a:rPr lang="he-IL" sz="1650" dirty="0">
                <a:solidFill>
                  <a:srgbClr val="334155"/>
                </a:solidFill>
                <a:latin typeface="Arial" panose="020B0604020202020204" pitchFamily="34" charset="0"/>
              </a:rPr>
              <a:t> </a:t>
            </a:r>
            <a:r>
              <a:rPr lang="he-IL" sz="1650" dirty="0" err="1">
                <a:solidFill>
                  <a:srgbClr val="334155"/>
                </a:solidFill>
                <a:latin typeface="Arial" panose="020B0604020202020204" pitchFamily="34" charset="0"/>
              </a:rPr>
              <a:t>בוט</a:t>
            </a:r>
            <a:r>
              <a:rPr lang="he-IL" sz="1650" dirty="0">
                <a:solidFill>
                  <a:srgbClr val="334155"/>
                </a:solidFill>
                <a:latin typeface="Arial" panose="020B0604020202020204" pitchFamily="34" charset="0"/>
              </a:rPr>
              <a:t> חכם המשולב בסוכן העובר על המערכת ויודע להפיק תובנות ניהוליות ועסקיות יחדיו. בנוסף , </a:t>
            </a:r>
            <a:r>
              <a:rPr lang="he-IL" sz="1650" dirty="0" err="1">
                <a:solidFill>
                  <a:srgbClr val="334155"/>
                </a:solidFill>
                <a:latin typeface="Arial" panose="020B0604020202020204" pitchFamily="34" charset="0"/>
              </a:rPr>
              <a:t>הבוט</a:t>
            </a:r>
            <a:r>
              <a:rPr lang="he-IL" sz="1650" dirty="0">
                <a:solidFill>
                  <a:srgbClr val="334155"/>
                </a:solidFill>
                <a:latin typeface="Arial" panose="020B0604020202020204" pitchFamily="34" charset="0"/>
              </a:rPr>
              <a:t> יודע להפעיל תכונות מהמערכת באופן אקטיבי כגגון הוספת תורים, ניהול מלאי ועוד. </a:t>
            </a:r>
            <a:r>
              <a:rPr lang="he-IL" sz="1650" dirty="0" err="1">
                <a:solidFill>
                  <a:srgbClr val="334155"/>
                </a:solidFill>
                <a:latin typeface="Arial" panose="020B0604020202020204" pitchFamily="34" charset="0"/>
              </a:rPr>
              <a:t>הבוט</a:t>
            </a:r>
            <a:r>
              <a:rPr lang="he-IL" sz="1650" dirty="0">
                <a:solidFill>
                  <a:srgbClr val="334155"/>
                </a:solidFill>
                <a:latin typeface="Arial" panose="020B0604020202020204" pitchFamily="34" charset="0"/>
              </a:rPr>
              <a:t> מאפשר תמיכה בשימוש המערכת גם ללקוחות וגם לצוות הרפואי. בעתיד </a:t>
            </a:r>
            <a:r>
              <a:rPr lang="he-IL" sz="1650" dirty="0" err="1">
                <a:solidFill>
                  <a:srgbClr val="334155"/>
                </a:solidFill>
                <a:latin typeface="Arial" panose="020B0604020202020204" pitchFamily="34" charset="0"/>
              </a:rPr>
              <a:t>הבוט</a:t>
            </a:r>
            <a:r>
              <a:rPr lang="he-IL" sz="1650" dirty="0">
                <a:solidFill>
                  <a:srgbClr val="334155"/>
                </a:solidFill>
                <a:latin typeface="Arial" panose="020B0604020202020204" pitchFamily="34" charset="0"/>
              </a:rPr>
              <a:t> יידע לסכם ביקור רפואי ולתת תובנות חכמות.</a:t>
            </a:r>
          </a:p>
        </p:txBody>
      </p:sp>
      <p:sp>
        <p:nvSpPr>
          <p:cNvPr id="4" name="TextBox 3"/>
          <p:cNvSpPr txBox="1"/>
          <p:nvPr/>
        </p:nvSpPr>
        <p:spPr>
          <a:xfrm>
            <a:off x="2095500" y="3280738"/>
            <a:ext cx="8858250" cy="631648"/>
          </a:xfrm>
          <a:prstGeom prst="rect">
            <a:avLst/>
          </a:prstGeom>
          <a:noFill/>
        </p:spPr>
        <p:txBody>
          <a:bodyPr wrap="square" lIns="228600" tIns="0" rIns="0" bIns="0" anchor="t">
            <a:spAutoFit/>
          </a:bodyPr>
          <a:lstStyle/>
          <a:p>
            <a:pPr algn="r" rtl="1">
              <a:lnSpc>
                <a:spcPts val="2640"/>
              </a:lnSpc>
            </a:pPr>
            <a:r>
              <a:rPr lang="he-IL" sz="1650" b="1" dirty="0">
                <a:solidFill>
                  <a:schemeClr val="bg1"/>
                </a:solidFill>
                <a:latin typeface="Arial" panose="020B0604020202020204" pitchFamily="34" charset="0"/>
              </a:rPr>
              <a:t>ניידות מידע קליני חכמה</a:t>
            </a:r>
            <a:r>
              <a:rPr lang="he-IL" sz="1650" b="1" dirty="0">
                <a:solidFill>
                  <a:srgbClr val="1E40AF"/>
                </a:solidFill>
                <a:latin typeface="Arial" panose="020B0604020202020204" pitchFamily="34" charset="0"/>
              </a:rPr>
              <a:t>:</a:t>
            </a:r>
            <a:r>
              <a:rPr lang="he-IL" sz="1650" dirty="0">
                <a:solidFill>
                  <a:srgbClr val="334155"/>
                </a:solidFill>
                <a:latin typeface="Arial" panose="020B0604020202020204" pitchFamily="34" charset="0"/>
              </a:rPr>
              <a:t> מנגנון ייצוא וייבוא מלא של תיק רפואי (היסטוריה, חיסונים, מעבדה) מקובצי </a:t>
            </a:r>
            <a:r>
              <a:rPr lang="en-US" sz="1650" dirty="0">
                <a:solidFill>
                  <a:srgbClr val="334155"/>
                </a:solidFill>
                <a:latin typeface="Arial" panose="020B0604020202020204" pitchFamily="34" charset="0"/>
                <a:cs typeface="Arial" panose="020B0604020202020204" pitchFamily="34" charset="0"/>
              </a:rPr>
              <a:t>Excel  </a:t>
            </a:r>
            <a:r>
              <a:rPr lang="he-IL" sz="1650" dirty="0">
                <a:solidFill>
                  <a:srgbClr val="334155"/>
                </a:solidFill>
                <a:latin typeface="Arial" panose="020B0604020202020204" pitchFamily="34" charset="0"/>
              </a:rPr>
              <a:t> עם מערכת</a:t>
            </a:r>
            <a:r>
              <a:rPr lang="en-US" sz="1650" dirty="0">
                <a:solidFill>
                  <a:srgbClr val="334155"/>
                </a:solidFill>
                <a:latin typeface="Arial" panose="020B0604020202020204" pitchFamily="34" charset="0"/>
              </a:rPr>
              <a:t> </a:t>
            </a:r>
            <a:r>
              <a:rPr lang="en-US" sz="1650" dirty="0">
                <a:solidFill>
                  <a:srgbClr val="334155"/>
                </a:solidFill>
                <a:latin typeface="Arial" panose="020B0604020202020204" pitchFamily="34" charset="0"/>
                <a:cs typeface="Arial" panose="020B0604020202020204" pitchFamily="34" charset="0"/>
              </a:rPr>
              <a:t>Rollback </a:t>
            </a:r>
            <a:r>
              <a:rPr lang="he-IL" sz="1650" dirty="0">
                <a:solidFill>
                  <a:srgbClr val="334155"/>
                </a:solidFill>
                <a:latin typeface="Arial" panose="020B0604020202020204" pitchFamily="34" charset="0"/>
              </a:rPr>
              <a:t>למניעת קליטת נתונים חלקית במקרה של שגיאה.</a:t>
            </a:r>
          </a:p>
        </p:txBody>
      </p:sp>
      <p:sp>
        <p:nvSpPr>
          <p:cNvPr id="5" name="TextBox 4"/>
          <p:cNvSpPr txBox="1"/>
          <p:nvPr/>
        </p:nvSpPr>
        <p:spPr>
          <a:xfrm>
            <a:off x="2095500" y="4065360"/>
            <a:ext cx="8858250" cy="631648"/>
          </a:xfrm>
          <a:prstGeom prst="rect">
            <a:avLst/>
          </a:prstGeom>
          <a:noFill/>
        </p:spPr>
        <p:txBody>
          <a:bodyPr wrap="square" lIns="257175" tIns="0" rIns="0" bIns="0" anchor="t">
            <a:spAutoFit/>
          </a:bodyPr>
          <a:lstStyle/>
          <a:p>
            <a:pPr algn="r" rtl="1">
              <a:lnSpc>
                <a:spcPts val="2640"/>
              </a:lnSpc>
            </a:pPr>
            <a:r>
              <a:rPr lang="he-IL" sz="1650" b="1" dirty="0">
                <a:solidFill>
                  <a:schemeClr val="bg1"/>
                </a:solidFill>
                <a:latin typeface="Arial" panose="020B0604020202020204" pitchFamily="34" charset="0"/>
              </a:rPr>
              <a:t>המרפאה הדיגיטלית (</a:t>
            </a:r>
            <a:r>
              <a:rPr lang="en-US" sz="1650" b="1" dirty="0" err="1">
                <a:solidFill>
                  <a:schemeClr val="bg1"/>
                </a:solidFill>
                <a:latin typeface="Arial" panose="020B0604020202020204" pitchFamily="34" charset="0"/>
                <a:cs typeface="Arial" panose="020B0604020202020204" pitchFamily="34" charset="0"/>
              </a:rPr>
              <a:t>DigitalCare</a:t>
            </a:r>
            <a:r>
              <a:rPr lang="he-IL" sz="1650" b="1" dirty="0">
                <a:solidFill>
                  <a:schemeClr val="bg1"/>
                </a:solidFill>
                <a:latin typeface="Arial" panose="020B0604020202020204" pitchFamily="34" charset="0"/>
              </a:rPr>
              <a:t>): </a:t>
            </a:r>
            <a:r>
              <a:rPr lang="he-IL" sz="1650" dirty="0">
                <a:solidFill>
                  <a:srgbClr val="334155"/>
                </a:solidFill>
                <a:latin typeface="Arial" panose="020B0604020202020204" pitchFamily="34" charset="0"/>
              </a:rPr>
              <a:t>ממשק פניות מתקדם הכולל אינטגרציה ישירה לשיחות וידאו דרך</a:t>
            </a:r>
            <a:r>
              <a:rPr lang="en-US" sz="1650" dirty="0">
                <a:solidFill>
                  <a:srgbClr val="334155"/>
                </a:solidFill>
                <a:latin typeface="Arial" panose="020B0604020202020204" pitchFamily="34" charset="0"/>
                <a:cs typeface="Arial" panose="020B0604020202020204" pitchFamily="34" charset="0"/>
              </a:rPr>
              <a:t> Google Meet</a:t>
            </a:r>
            <a:r>
              <a:rPr lang="he-IL" sz="1650" dirty="0">
                <a:solidFill>
                  <a:srgbClr val="334155"/>
                </a:solidFill>
                <a:latin typeface="Arial" panose="020B0604020202020204" pitchFamily="34" charset="0"/>
                <a:cs typeface="Arial" panose="020B0604020202020204" pitchFamily="34" charset="0"/>
              </a:rPr>
              <a:t>, </a:t>
            </a:r>
            <a:r>
              <a:rPr lang="he-IL" sz="1650" dirty="0">
                <a:solidFill>
                  <a:srgbClr val="334155"/>
                </a:solidFill>
                <a:latin typeface="Arial" panose="020B0604020202020204" pitchFamily="34" charset="0"/>
              </a:rPr>
              <a:t>ניהול סטטוסים אוטומטי וארכיון חכם.</a:t>
            </a:r>
          </a:p>
        </p:txBody>
      </p:sp>
      <p:sp>
        <p:nvSpPr>
          <p:cNvPr id="6" name="TextBox 5"/>
          <p:cNvSpPr txBox="1"/>
          <p:nvPr/>
        </p:nvSpPr>
        <p:spPr>
          <a:xfrm>
            <a:off x="2095500" y="4849981"/>
            <a:ext cx="8858250" cy="1333698"/>
          </a:xfrm>
          <a:prstGeom prst="rect">
            <a:avLst/>
          </a:prstGeom>
          <a:noFill/>
        </p:spPr>
        <p:txBody>
          <a:bodyPr wrap="square" lIns="228600" tIns="0" rIns="0" bIns="0" anchor="t">
            <a:spAutoFit/>
          </a:bodyPr>
          <a:lstStyle/>
          <a:p>
            <a:pPr algn="r" rtl="1">
              <a:lnSpc>
                <a:spcPts val="2640"/>
              </a:lnSpc>
            </a:pPr>
            <a:r>
              <a:rPr lang="he-IL" sz="1650" b="1" dirty="0">
                <a:solidFill>
                  <a:schemeClr val="bg1"/>
                </a:solidFill>
                <a:latin typeface="Arial" panose="020B0604020202020204" pitchFamily="34" charset="0"/>
              </a:rPr>
              <a:t>פורטל לקוחות: </a:t>
            </a:r>
            <a:r>
              <a:rPr lang="he-IL" sz="1650" dirty="0">
                <a:solidFill>
                  <a:srgbClr val="334155"/>
                </a:solidFill>
                <a:latin typeface="Arial" panose="020B0604020202020204" pitchFamily="34" charset="0"/>
              </a:rPr>
              <a:t>המערכת מאפשרת לכל לקוח של המרפאה\ בית החולים אפליקציה ייחודית. באפליקציה ניתן לקבוע תור, לצפות בתיק רפואי ולהורידו למכשיר, לקבוע תור דיגיטלי ולהתכתב עם המרפאה, לצפות בסיכום ביקורים ועוד.</a:t>
            </a:r>
          </a:p>
          <a:p>
            <a:pPr algn="r" rtl="1">
              <a:lnSpc>
                <a:spcPts val="2640"/>
              </a:lnSpc>
            </a:pPr>
            <a:endParaRPr sz="1650" b="0" i="0" u="none" dirty="0">
              <a:solidFill>
                <a:srgbClr val="334155"/>
              </a:solidFill>
              <a:latin typeface="Arial" panose="020B0604020202020204" pitchFamily="34" charset="0"/>
              <a:cs typeface="Arial" panose="020B0604020202020204" pitchFamily="34" charset="0"/>
            </a:endParaRPr>
          </a:p>
        </p:txBody>
      </p:sp>
      <p:pic>
        <p:nvPicPr>
          <p:cNvPr id="7" name="Picture 6" descr="image.png"/>
          <p:cNvPicPr>
            <a:picLocks noChangeAspect="1"/>
          </p:cNvPicPr>
          <p:nvPr/>
        </p:nvPicPr>
        <p:blipFill>
          <a:blip r:embed="rId2"/>
          <a:stretch>
            <a:fillRect/>
          </a:stretch>
        </p:blipFill>
        <p:spPr>
          <a:xfrm>
            <a:off x="11182350" y="1965891"/>
            <a:ext cx="200025" cy="247650"/>
          </a:xfrm>
          <a:prstGeom prst="rect">
            <a:avLst/>
          </a:prstGeom>
        </p:spPr>
      </p:pic>
      <p:pic>
        <p:nvPicPr>
          <p:cNvPr id="8" name="Picture 7" descr="image.png"/>
          <p:cNvPicPr>
            <a:picLocks noChangeAspect="1"/>
          </p:cNvPicPr>
          <p:nvPr/>
        </p:nvPicPr>
        <p:blipFill>
          <a:blip r:embed="rId3"/>
          <a:stretch>
            <a:fillRect/>
          </a:stretch>
        </p:blipFill>
        <p:spPr>
          <a:xfrm>
            <a:off x="11153775" y="3309313"/>
            <a:ext cx="228600" cy="247650"/>
          </a:xfrm>
          <a:prstGeom prst="rect">
            <a:avLst/>
          </a:prstGeom>
        </p:spPr>
      </p:pic>
      <p:pic>
        <p:nvPicPr>
          <p:cNvPr id="9" name="Picture 8" descr="image.png"/>
          <p:cNvPicPr>
            <a:picLocks noChangeAspect="1"/>
          </p:cNvPicPr>
          <p:nvPr/>
        </p:nvPicPr>
        <p:blipFill>
          <a:blip r:embed="rId4"/>
          <a:stretch>
            <a:fillRect/>
          </a:stretch>
        </p:blipFill>
        <p:spPr>
          <a:xfrm>
            <a:off x="11125200" y="4093935"/>
            <a:ext cx="257175" cy="247650"/>
          </a:xfrm>
          <a:prstGeom prst="rect">
            <a:avLst/>
          </a:prstGeom>
        </p:spPr>
      </p:pic>
      <p:pic>
        <p:nvPicPr>
          <p:cNvPr id="10" name="Picture 9" descr="image.png"/>
          <p:cNvPicPr>
            <a:picLocks noChangeAspect="1"/>
          </p:cNvPicPr>
          <p:nvPr/>
        </p:nvPicPr>
        <p:blipFill>
          <a:blip r:embed="rId5"/>
          <a:stretch>
            <a:fillRect/>
          </a:stretch>
        </p:blipFill>
        <p:spPr>
          <a:xfrm>
            <a:off x="11153775" y="4878556"/>
            <a:ext cx="228600" cy="247650"/>
          </a:xfrm>
          <a:prstGeom prst="rect">
            <a:avLst/>
          </a:prstGeom>
        </p:spPr>
      </p:pic>
      <p:sp>
        <p:nvSpPr>
          <p:cNvPr id="11" name="TextBox 10"/>
          <p:cNvSpPr txBox="1"/>
          <p:nvPr/>
        </p:nvSpPr>
        <p:spPr>
          <a:xfrm>
            <a:off x="2153392" y="511876"/>
            <a:ext cx="7885215" cy="600164"/>
          </a:xfrm>
          <a:prstGeom prst="rect">
            <a:avLst/>
          </a:prstGeom>
          <a:noFill/>
        </p:spPr>
        <p:txBody>
          <a:bodyPr wrap="square" lIns="0" tIns="0" rIns="0" bIns="0" anchor="t">
            <a:spAutoFit/>
          </a:bodyPr>
          <a:lstStyle/>
          <a:p>
            <a:pPr algn="ctr" rtl="1"/>
            <a:r>
              <a:rPr lang="he-IL" sz="3900" b="1" dirty="0">
                <a:solidFill>
                  <a:schemeClr val="bg1"/>
                </a:solidFill>
                <a:latin typeface="Arial" panose="020B0604020202020204" pitchFamily="34" charset="0"/>
              </a:rPr>
              <a:t>פיצ'רים טכנולוגיים מעל ומעבר לשוק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524500" y="2572642"/>
            <a:ext cx="11430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1"/>
            <a:endParaRPr/>
          </a:p>
        </p:txBody>
      </p:sp>
      <p:sp>
        <p:nvSpPr>
          <p:cNvPr id="4" name="TextBox 3"/>
          <p:cNvSpPr txBox="1"/>
          <p:nvPr/>
        </p:nvSpPr>
        <p:spPr>
          <a:xfrm>
            <a:off x="2795587" y="2915542"/>
            <a:ext cx="6600825" cy="738664"/>
          </a:xfrm>
          <a:prstGeom prst="rect">
            <a:avLst/>
          </a:prstGeom>
          <a:noFill/>
        </p:spPr>
        <p:txBody>
          <a:bodyPr wrap="square" lIns="0" tIns="0" rIns="0" bIns="0" anchor="t">
            <a:spAutoFit/>
          </a:bodyPr>
          <a:lstStyle/>
          <a:p>
            <a:pPr algn="ctr" rtl="1"/>
            <a:r>
              <a:rPr lang="he-IL" sz="4800" dirty="0">
                <a:solidFill>
                  <a:srgbClr val="1E40AF"/>
                </a:solidFill>
                <a:latin typeface="Heebo ExtraBold"/>
              </a:rPr>
              <a:t>טכנולוגיה וארכיטקטורה</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69806" y="1576475"/>
            <a:ext cx="5550693" cy="323165"/>
          </a:xfrm>
          <a:prstGeom prst="rect">
            <a:avLst/>
          </a:prstGeom>
          <a:noFill/>
        </p:spPr>
        <p:txBody>
          <a:bodyPr wrap="square" lIns="0" tIns="0" rIns="0" bIns="0" anchor="t">
            <a:spAutoFit/>
          </a:bodyPr>
          <a:lstStyle/>
          <a:p>
            <a:pPr algn="r" rtl="1"/>
            <a:r>
              <a:rPr lang="he-IL" sz="2100" dirty="0">
                <a:solidFill>
                  <a:schemeClr val="bg1"/>
                </a:solidFill>
                <a:latin typeface="Arial" panose="020B0604020202020204" pitchFamily="34" charset="0"/>
              </a:rPr>
              <a:t>צד לקוח </a:t>
            </a:r>
            <a:r>
              <a:rPr lang="en-US" sz="2100" dirty="0">
                <a:solidFill>
                  <a:schemeClr val="bg1"/>
                </a:solidFill>
                <a:latin typeface="Arial" panose="020B0604020202020204" pitchFamily="34" charset="0"/>
                <a:cs typeface="Arial" panose="020B0604020202020204" pitchFamily="34" charset="0"/>
              </a:rPr>
              <a:t>Frontend</a:t>
            </a:r>
            <a:r>
              <a:rPr lang="he-IL" sz="2100" dirty="0">
                <a:solidFill>
                  <a:schemeClr val="bg1"/>
                </a:solidFill>
                <a:latin typeface="Arial" panose="020B0604020202020204" pitchFamily="34" charset="0"/>
                <a:cs typeface="Arial" panose="020B0604020202020204" pitchFamily="34" charset="0"/>
              </a:rPr>
              <a:t> -</a:t>
            </a:r>
            <a:r>
              <a:rPr lang="he-IL" sz="2100" dirty="0">
                <a:solidFill>
                  <a:schemeClr val="bg1"/>
                </a:solidFill>
                <a:latin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React &amp; TypeScript</a:t>
            </a:r>
          </a:p>
        </p:txBody>
      </p:sp>
      <p:sp>
        <p:nvSpPr>
          <p:cNvPr id="5" name="TextBox 4"/>
          <p:cNvSpPr txBox="1"/>
          <p:nvPr/>
        </p:nvSpPr>
        <p:spPr>
          <a:xfrm>
            <a:off x="6334125" y="1995487"/>
            <a:ext cx="5286375" cy="923330"/>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בחרנו ב-</a:t>
            </a:r>
            <a:r>
              <a:rPr lang="en-US" sz="1500" b="1" dirty="0">
                <a:solidFill>
                  <a:srgbClr val="334155"/>
                </a:solidFill>
                <a:latin typeface="Arial" panose="020B0604020202020204" pitchFamily="34" charset="0"/>
                <a:cs typeface="Arial" panose="020B0604020202020204" pitchFamily="34" charset="0"/>
              </a:rPr>
              <a:t>React </a:t>
            </a:r>
            <a:r>
              <a:rPr lang="he-IL" sz="1500" b="1"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יחד עם</a:t>
            </a:r>
            <a:r>
              <a:rPr lang="en-US" sz="1500" dirty="0">
                <a:solidFill>
                  <a:srgbClr val="334155"/>
                </a:solidFill>
                <a:latin typeface="Arial" panose="020B0604020202020204" pitchFamily="34" charset="0"/>
              </a:rPr>
              <a:t> </a:t>
            </a:r>
            <a:r>
              <a:rPr lang="en-US" sz="1500" b="1" dirty="0" err="1">
                <a:solidFill>
                  <a:srgbClr val="334155"/>
                </a:solidFill>
                <a:latin typeface="Arial" panose="020B0604020202020204" pitchFamily="34" charset="0"/>
                <a:cs typeface="Arial" panose="020B0604020202020204" pitchFamily="34" charset="0"/>
              </a:rPr>
              <a:t>TypeScript</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בגלל הצורך לבנות ממשק משתמש דינמי, יציב ובטוח. </a:t>
            </a:r>
            <a:r>
              <a:rPr lang="en-US" sz="1500" dirty="0">
                <a:solidFill>
                  <a:srgbClr val="334155"/>
                </a:solidFill>
                <a:latin typeface="Arial" panose="020B0604020202020204" pitchFamily="34" charset="0"/>
              </a:rPr>
              <a:t> </a:t>
            </a:r>
            <a:r>
              <a:rPr lang="en-US" sz="1500" dirty="0" err="1">
                <a:solidFill>
                  <a:srgbClr val="334155"/>
                </a:solidFill>
                <a:latin typeface="Arial" panose="020B0604020202020204" pitchFamily="34" charset="0"/>
                <a:cs typeface="Arial" panose="020B0604020202020204" pitchFamily="34" charset="0"/>
              </a:rPr>
              <a:t>TypeScript</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מבטיחה שכל מידע רפואי (כמו מודל של "חיסון" או "ביקור") יהיה מוגדר היטב וימנע שגיאות ריצה.</a:t>
            </a:r>
          </a:p>
        </p:txBody>
      </p:sp>
      <p:sp>
        <p:nvSpPr>
          <p:cNvPr id="6" name="TextBox 5"/>
          <p:cNvSpPr txBox="1"/>
          <p:nvPr/>
        </p:nvSpPr>
        <p:spPr>
          <a:xfrm>
            <a:off x="6334125" y="3357562"/>
            <a:ext cx="5286375" cy="890115"/>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העיצוב (</a:t>
            </a:r>
            <a:r>
              <a:rPr lang="en-US" sz="1500" dirty="0">
                <a:solidFill>
                  <a:srgbClr val="334155"/>
                </a:solidFill>
                <a:latin typeface="Arial" panose="020B0604020202020204" pitchFamily="34" charset="0"/>
              </a:rPr>
              <a:t>UI</a:t>
            </a:r>
            <a:r>
              <a:rPr lang="he-IL" sz="1500" dirty="0">
                <a:solidFill>
                  <a:srgbClr val="334155"/>
                </a:solidFill>
                <a:latin typeface="Arial" panose="020B0604020202020204" pitchFamily="34" charset="0"/>
              </a:rPr>
              <a:t>) פותח בעזרת </a:t>
            </a:r>
            <a:r>
              <a:rPr lang="en-US" sz="1500" b="1" dirty="0">
                <a:solidFill>
                  <a:srgbClr val="334155"/>
                </a:solidFill>
                <a:latin typeface="Arial" panose="020B0604020202020204" pitchFamily="34" charset="0"/>
                <a:cs typeface="Arial" panose="020B0604020202020204" pitchFamily="34" charset="0"/>
              </a:rPr>
              <a:t>Tailwind CSS 4</a:t>
            </a:r>
            <a:r>
              <a:rPr lang="he-IL" sz="1500" b="1"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מה שאפשר לנו לבנות עיצוב </a:t>
            </a:r>
            <a:r>
              <a:rPr lang="he-IL" sz="1500" dirty="0" err="1">
                <a:solidFill>
                  <a:srgbClr val="334155"/>
                </a:solidFill>
                <a:latin typeface="Arial" panose="020B0604020202020204" pitchFamily="34" charset="0"/>
              </a:rPr>
              <a:t>רספונסיבי</a:t>
            </a:r>
            <a:r>
              <a:rPr lang="he-IL" sz="1500" dirty="0">
                <a:solidFill>
                  <a:srgbClr val="334155"/>
                </a:solidFill>
                <a:latin typeface="Arial" panose="020B0604020202020204" pitchFamily="34" charset="0"/>
              </a:rPr>
              <a:t> מותאם לנייד (עבור הפורטל) ולמסכים רחבים (לצוות המרפאה) עם תמיכה מושלמת בעברית.</a:t>
            </a:r>
            <a:endParaRPr sz="1500" b="0" i="0" u="none" dirty="0">
              <a:solidFill>
                <a:srgbClr val="334155"/>
              </a:solidFill>
              <a:latin typeface="Arial" panose="020B0604020202020204" pitchFamily="34" charset="0"/>
              <a:cs typeface="Arial" panose="020B0604020202020204" pitchFamily="34" charset="0"/>
            </a:endParaRPr>
          </a:p>
        </p:txBody>
      </p:sp>
      <p:sp>
        <p:nvSpPr>
          <p:cNvPr id="7" name="TextBox 6"/>
          <p:cNvSpPr txBox="1"/>
          <p:nvPr/>
        </p:nvSpPr>
        <p:spPr>
          <a:xfrm>
            <a:off x="-164738" y="3924512"/>
            <a:ext cx="5550693" cy="323165"/>
          </a:xfrm>
          <a:prstGeom prst="rect">
            <a:avLst/>
          </a:prstGeom>
          <a:noFill/>
        </p:spPr>
        <p:txBody>
          <a:bodyPr wrap="square" lIns="0" tIns="0" rIns="0" bIns="0" anchor="t">
            <a:spAutoFit/>
          </a:bodyPr>
          <a:lstStyle/>
          <a:p>
            <a:pPr algn="r" rtl="1"/>
            <a:r>
              <a:rPr lang="he-IL" sz="2100" dirty="0">
                <a:solidFill>
                  <a:schemeClr val="bg1"/>
                </a:solidFill>
                <a:latin typeface="Arial" panose="020B0604020202020204" pitchFamily="34" charset="0"/>
              </a:rPr>
              <a:t>סביבה וניהול גרסאות</a:t>
            </a:r>
          </a:p>
        </p:txBody>
      </p:sp>
      <p:sp>
        <p:nvSpPr>
          <p:cNvPr id="9" name="TextBox 8"/>
          <p:cNvSpPr txBox="1"/>
          <p:nvPr/>
        </p:nvSpPr>
        <p:spPr>
          <a:xfrm>
            <a:off x="99580" y="4368002"/>
            <a:ext cx="5286375" cy="1846659"/>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ניהול הקוד והגרסאות מתבצע באמצעות </a:t>
            </a:r>
            <a:r>
              <a:rPr lang="en-US" sz="1500" b="1" dirty="0">
                <a:solidFill>
                  <a:srgbClr val="334155"/>
                </a:solidFill>
                <a:latin typeface="Arial" panose="020B0604020202020204" pitchFamily="34" charset="0"/>
                <a:cs typeface="Arial" panose="020B0604020202020204" pitchFamily="34" charset="0"/>
              </a:rPr>
              <a:t>Git</a:t>
            </a:r>
            <a:r>
              <a:rPr lang="he-IL" sz="1500" dirty="0">
                <a:solidFill>
                  <a:srgbClr val="334155"/>
                </a:solidFill>
                <a:latin typeface="Arial" panose="020B0604020202020204" pitchFamily="34" charset="0"/>
              </a:rPr>
              <a:t> </a:t>
            </a:r>
            <a:r>
              <a:rPr lang="he-IL" sz="1500" b="1" dirty="0">
                <a:solidFill>
                  <a:srgbClr val="334155"/>
                </a:solidFill>
                <a:latin typeface="Arial" panose="020B0604020202020204" pitchFamily="34" charset="0"/>
              </a:rPr>
              <a:t>ו-</a:t>
            </a:r>
            <a:r>
              <a:rPr lang="en-US" sz="1500" b="1" dirty="0">
                <a:solidFill>
                  <a:srgbClr val="334155"/>
                </a:solidFill>
                <a:latin typeface="Arial" panose="020B0604020202020204" pitchFamily="34" charset="0"/>
                <a:cs typeface="Arial" panose="020B0604020202020204" pitchFamily="34" charset="0"/>
              </a:rPr>
              <a:t> GitHub</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cs typeface="Arial" panose="020B0604020202020204" pitchFamily="34" charset="0"/>
              </a:rPr>
              <a:t>ה</a:t>
            </a:r>
            <a:r>
              <a:rPr lang="he-IL" sz="1500" dirty="0">
                <a:solidFill>
                  <a:srgbClr val="334155"/>
                </a:solidFill>
                <a:latin typeface="Arial" panose="020B0604020202020204" pitchFamily="34" charset="0"/>
              </a:rPr>
              <a:t>מאפשר עבודת צוות מתואמת, עבודה עם ענפים,  שמירת היסטוריית שינויים, ופריסה רציפה</a:t>
            </a:r>
          </a:p>
          <a:p>
            <a:pPr algn="r" rtl="1">
              <a:lnSpc>
                <a:spcPts val="2400"/>
              </a:lnSpc>
            </a:pPr>
            <a:r>
              <a:rPr lang="he-IL" sz="1500" dirty="0">
                <a:solidFill>
                  <a:srgbClr val="334155"/>
                </a:solidFill>
                <a:latin typeface="Arial" panose="020B0604020202020204" pitchFamily="34" charset="0"/>
              </a:rPr>
              <a:t> (</a:t>
            </a:r>
            <a:r>
              <a:rPr lang="en-US" sz="1500" dirty="0">
                <a:solidFill>
                  <a:srgbClr val="334155"/>
                </a:solidFill>
                <a:latin typeface="Arial" panose="020B0604020202020204" pitchFamily="34" charset="0"/>
                <a:cs typeface="Arial" panose="020B0604020202020204" pitchFamily="34" charset="0"/>
              </a:rPr>
              <a:t>CI/CD</a:t>
            </a:r>
            <a:r>
              <a:rPr lang="he-IL" sz="1500" dirty="0">
                <a:solidFill>
                  <a:srgbClr val="334155"/>
                </a:solidFill>
                <a:latin typeface="Arial" panose="020B0604020202020204" pitchFamily="34" charset="0"/>
              </a:rPr>
              <a:t>) לשרתי </a:t>
            </a:r>
            <a:r>
              <a:rPr lang="en-US" sz="1500" b="1" dirty="0" err="1">
                <a:solidFill>
                  <a:srgbClr val="334155"/>
                </a:solidFill>
                <a:latin typeface="Arial" panose="020B0604020202020204" pitchFamily="34" charset="0"/>
                <a:cs typeface="Arial" panose="020B0604020202020204" pitchFamily="34" charset="0"/>
              </a:rPr>
              <a:t>Vercel</a:t>
            </a:r>
            <a:r>
              <a:rPr lang="he-IL" sz="1500" dirty="0">
                <a:solidFill>
                  <a:srgbClr val="334155"/>
                </a:solidFill>
                <a:latin typeface="Arial" panose="020B0604020202020204" pitchFamily="34" charset="0"/>
              </a:rPr>
              <a:t> המשמשים כ-</a:t>
            </a:r>
            <a:r>
              <a:rPr lang="en-US" sz="1500" dirty="0">
                <a:solidFill>
                  <a:srgbClr val="334155"/>
                </a:solidFill>
                <a:latin typeface="Arial" panose="020B0604020202020204" pitchFamily="34" charset="0"/>
                <a:cs typeface="Arial" panose="020B0604020202020204" pitchFamily="34" charset="0"/>
              </a:rPr>
              <a:t>Hosting</a:t>
            </a:r>
            <a:r>
              <a:rPr lang="he-IL" sz="1500" dirty="0">
                <a:solidFill>
                  <a:srgbClr val="334155"/>
                </a:solidFill>
                <a:latin typeface="Arial" panose="020B0604020202020204" pitchFamily="34" charset="0"/>
                <a:cs typeface="Arial" panose="020B0604020202020204" pitchFamily="34" charset="0"/>
              </a:rPr>
              <a:t> </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לצד הלקוח. כמו כן בדיקות, בנית קוד ואפיון המערכת בוצעו בעזרת </a:t>
            </a:r>
            <a:r>
              <a:rPr lang="en-US" sz="1500" dirty="0">
                <a:solidFill>
                  <a:srgbClr val="334155"/>
                </a:solidFill>
                <a:latin typeface="Arial" panose="020B0604020202020204" pitchFamily="34" charset="0"/>
              </a:rPr>
              <a:t>Codex</a:t>
            </a:r>
            <a:r>
              <a:rPr lang="he-IL" sz="1500" dirty="0">
                <a:solidFill>
                  <a:srgbClr val="334155"/>
                </a:solidFill>
                <a:latin typeface="Arial" panose="020B0604020202020204" pitchFamily="34" charset="0"/>
              </a:rPr>
              <a:t>.</a:t>
            </a:r>
          </a:p>
          <a:p>
            <a:pPr algn="r" rtl="1">
              <a:lnSpc>
                <a:spcPts val="2400"/>
              </a:lnSpc>
            </a:pPr>
            <a:endParaRPr sz="1500" b="0" i="0" u="none" dirty="0">
              <a:solidFill>
                <a:srgbClr val="334155"/>
              </a:solidFill>
              <a:latin typeface="Arial" panose="020B0604020202020204" pitchFamily="34" charset="0"/>
              <a:cs typeface="Arial" panose="020B0604020202020204" pitchFamily="34" charset="0"/>
            </a:endParaRPr>
          </a:p>
        </p:txBody>
      </p:sp>
      <p:sp>
        <p:nvSpPr>
          <p:cNvPr id="11" name="TextBox 10"/>
          <p:cNvSpPr txBox="1"/>
          <p:nvPr/>
        </p:nvSpPr>
        <p:spPr>
          <a:xfrm>
            <a:off x="19050" y="261937"/>
            <a:ext cx="11601450" cy="600164"/>
          </a:xfrm>
          <a:prstGeom prst="rect">
            <a:avLst/>
          </a:prstGeom>
          <a:noFill/>
        </p:spPr>
        <p:txBody>
          <a:bodyPr wrap="square" lIns="0" tIns="0" rIns="0" bIns="0" anchor="t">
            <a:spAutoFit/>
          </a:bodyPr>
          <a:lstStyle/>
          <a:p>
            <a:pPr algn="ctr" rtl="1"/>
            <a:r>
              <a:rPr lang="he-IL" sz="3900" b="1" dirty="0">
                <a:solidFill>
                  <a:schemeClr val="bg1"/>
                </a:solidFill>
                <a:latin typeface="Arial" panose="020B0604020202020204" pitchFamily="34" charset="0"/>
              </a:rPr>
              <a:t>סביבת הפיתוח:</a:t>
            </a:r>
            <a:r>
              <a:rPr lang="en-US" sz="3900" b="1" dirty="0">
                <a:solidFill>
                  <a:schemeClr val="bg1"/>
                </a:solidFill>
                <a:latin typeface="Arial" panose="020B0604020202020204" pitchFamily="34" charset="0"/>
                <a:cs typeface="Arial" panose="020B0604020202020204" pitchFamily="34" charset="0"/>
              </a:rPr>
              <a:t>Frontend </a:t>
            </a:r>
            <a:r>
              <a:rPr lang="he-IL" sz="3900" b="1" dirty="0">
                <a:solidFill>
                  <a:schemeClr val="bg1"/>
                </a:solidFill>
                <a:latin typeface="Arial" panose="020B0604020202020204" pitchFamily="34" charset="0"/>
              </a:rPr>
              <a:t> וניהול גרסאות</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duotone>
              <a:prstClr val="black"/>
              <a:schemeClr val="tx2">
                <a:tint val="45000"/>
                <a:satMod val="400000"/>
              </a:schemeClr>
            </a:duotone>
          </a:blip>
          <a:stretch>
            <a:fillRect/>
          </a:stretch>
        </p:blipFill>
        <p:spPr>
          <a:xfrm>
            <a:off x="8127950" y="1928812"/>
            <a:ext cx="3492549" cy="4200525"/>
          </a:xfrm>
          <a:prstGeom prst="rect">
            <a:avLst/>
          </a:prstGeom>
          <a:noFill/>
        </p:spPr>
      </p:pic>
      <p:pic>
        <p:nvPicPr>
          <p:cNvPr id="4" name="Picture 3" descr="image.png"/>
          <p:cNvPicPr>
            <a:picLocks noChangeAspect="1"/>
          </p:cNvPicPr>
          <p:nvPr/>
        </p:nvPicPr>
        <p:blipFill>
          <a:blip r:embed="rId3">
            <a:duotone>
              <a:prstClr val="black"/>
              <a:schemeClr val="tx2">
                <a:tint val="45000"/>
                <a:satMod val="400000"/>
              </a:schemeClr>
            </a:duotone>
          </a:blip>
          <a:stretch>
            <a:fillRect/>
          </a:stretch>
        </p:blipFill>
        <p:spPr>
          <a:xfrm>
            <a:off x="4349650" y="1928812"/>
            <a:ext cx="3492549" cy="4200525"/>
          </a:xfrm>
          <a:prstGeom prst="rect">
            <a:avLst/>
          </a:prstGeom>
          <a:noFill/>
        </p:spPr>
      </p:pic>
      <p:pic>
        <p:nvPicPr>
          <p:cNvPr id="5" name="Picture 4" descr="image.png"/>
          <p:cNvPicPr>
            <a:picLocks noChangeAspect="1"/>
          </p:cNvPicPr>
          <p:nvPr/>
        </p:nvPicPr>
        <p:blipFill>
          <a:blip r:embed="rId4">
            <a:duotone>
              <a:prstClr val="black"/>
              <a:schemeClr val="tx2">
                <a:tint val="45000"/>
                <a:satMod val="400000"/>
              </a:schemeClr>
            </a:duotone>
          </a:blip>
          <a:stretch>
            <a:fillRect/>
          </a:stretch>
        </p:blipFill>
        <p:spPr>
          <a:xfrm>
            <a:off x="571351" y="1928812"/>
            <a:ext cx="3492549" cy="4200525"/>
          </a:xfrm>
          <a:prstGeom prst="rect">
            <a:avLst/>
          </a:prstGeom>
          <a:noFill/>
        </p:spPr>
      </p:pic>
      <p:pic>
        <p:nvPicPr>
          <p:cNvPr id="6" name="Picture 5" descr="image.png"/>
          <p:cNvPicPr>
            <a:picLocks noChangeAspect="1"/>
          </p:cNvPicPr>
          <p:nvPr/>
        </p:nvPicPr>
        <p:blipFill>
          <a:blip r:embed="rId5"/>
          <a:stretch>
            <a:fillRect/>
          </a:stretch>
        </p:blipFill>
        <p:spPr>
          <a:xfrm>
            <a:off x="9445674" y="2271712"/>
            <a:ext cx="857250" cy="857250"/>
          </a:xfrm>
          <a:prstGeom prst="rect">
            <a:avLst/>
          </a:prstGeom>
        </p:spPr>
      </p:pic>
      <p:sp>
        <p:nvSpPr>
          <p:cNvPr id="7" name="TextBox 6"/>
          <p:cNvSpPr txBox="1"/>
          <p:nvPr/>
        </p:nvSpPr>
        <p:spPr>
          <a:xfrm>
            <a:off x="8629143" y="3367087"/>
            <a:ext cx="2490311" cy="253916"/>
          </a:xfrm>
          <a:prstGeom prst="rect">
            <a:avLst/>
          </a:prstGeom>
          <a:noFill/>
        </p:spPr>
        <p:txBody>
          <a:bodyPr wrap="square" lIns="0" tIns="0" rIns="0" bIns="0" anchor="t">
            <a:spAutoFit/>
          </a:bodyPr>
          <a:lstStyle/>
          <a:p>
            <a:pPr algn="r" rtl="1"/>
            <a:r>
              <a:rPr lang="he-IL" sz="1650" dirty="0">
                <a:solidFill>
                  <a:srgbClr val="2563EB"/>
                </a:solidFill>
                <a:latin typeface="Arial" panose="020B0604020202020204" pitchFamily="34" charset="0"/>
              </a:rPr>
              <a:t>מסד נתונים</a:t>
            </a:r>
            <a:r>
              <a:rPr lang="he-IL" sz="1650" dirty="0">
                <a:solidFill>
                  <a:srgbClr val="2563EB"/>
                </a:solidFill>
                <a:latin typeface="Arial" panose="020B0604020202020204" pitchFamily="34" charset="0"/>
                <a:cs typeface="Arial" panose="020B0604020202020204" pitchFamily="34" charset="0"/>
              </a:rPr>
              <a:t> (</a:t>
            </a:r>
            <a:r>
              <a:rPr lang="en-US" sz="1650" dirty="0">
                <a:solidFill>
                  <a:srgbClr val="2563EB"/>
                </a:solidFill>
                <a:latin typeface="Arial" panose="020B0604020202020204" pitchFamily="34" charset="0"/>
                <a:cs typeface="Arial" panose="020B0604020202020204" pitchFamily="34" charset="0"/>
              </a:rPr>
              <a:t>PostgreSQL</a:t>
            </a:r>
            <a:r>
              <a:rPr lang="he-IL" sz="1650" dirty="0">
                <a:solidFill>
                  <a:srgbClr val="2563EB"/>
                </a:solidFill>
                <a:latin typeface="Arial" panose="020B0604020202020204" pitchFamily="34" charset="0"/>
                <a:cs typeface="Arial" panose="020B0604020202020204" pitchFamily="34" charset="0"/>
              </a:rPr>
              <a:t>)</a:t>
            </a:r>
            <a:endParaRPr lang="en-US" sz="1650" dirty="0">
              <a:solidFill>
                <a:srgbClr val="2563EB"/>
              </a:solidFill>
              <a:latin typeface="Arial" panose="020B0604020202020204" pitchFamily="34" charset="0"/>
              <a:cs typeface="Arial" panose="020B0604020202020204" pitchFamily="34" charset="0"/>
            </a:endParaRPr>
          </a:p>
        </p:txBody>
      </p:sp>
      <p:sp>
        <p:nvSpPr>
          <p:cNvPr id="8" name="TextBox 7"/>
          <p:cNvSpPr txBox="1"/>
          <p:nvPr/>
        </p:nvSpPr>
        <p:spPr>
          <a:xfrm>
            <a:off x="8375600" y="3814762"/>
            <a:ext cx="2997249" cy="1538883"/>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במקום לבנות שרת מסורתי, השתמשנו ב-</a:t>
            </a:r>
            <a:r>
              <a:rPr lang="en-US" sz="1500" b="1" dirty="0" err="1">
                <a:solidFill>
                  <a:srgbClr val="334155"/>
                </a:solidFill>
                <a:latin typeface="Arial" panose="020B0604020202020204" pitchFamily="34" charset="0"/>
                <a:cs typeface="Arial" panose="020B0604020202020204" pitchFamily="34" charset="0"/>
              </a:rPr>
              <a:t>Supabase</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 שמספק לנו בסיס נתונים </a:t>
            </a:r>
            <a:r>
              <a:rPr lang="he-IL" sz="1500" dirty="0" err="1">
                <a:solidFill>
                  <a:srgbClr val="334155"/>
                </a:solidFill>
                <a:latin typeface="Arial" panose="020B0604020202020204" pitchFamily="34" charset="0"/>
              </a:rPr>
              <a:t>רלוציוני</a:t>
            </a:r>
            <a:r>
              <a:rPr lang="he-IL" sz="1500" dirty="0">
                <a:solidFill>
                  <a:srgbClr val="334155"/>
                </a:solidFill>
                <a:latin typeface="Arial" panose="020B0604020202020204" pitchFamily="34" charset="0"/>
              </a:rPr>
              <a:t> עוצמתי. הוא </a:t>
            </a:r>
            <a:r>
              <a:rPr lang="he-IL" sz="1500" dirty="0" smtClean="0">
                <a:solidFill>
                  <a:srgbClr val="334155"/>
                </a:solidFill>
                <a:latin typeface="Arial" panose="020B0604020202020204" pitchFamily="34" charset="0"/>
              </a:rPr>
              <a:t>מאפשר </a:t>
            </a:r>
            <a:r>
              <a:rPr lang="he-IL" sz="1500" dirty="0">
                <a:solidFill>
                  <a:srgbClr val="334155"/>
                </a:solidFill>
                <a:latin typeface="Arial" panose="020B0604020202020204" pitchFamily="34" charset="0"/>
              </a:rPr>
              <a:t>סנכרון </a:t>
            </a:r>
            <a:r>
              <a:rPr lang="en-US" sz="1500" b="1" dirty="0">
                <a:solidFill>
                  <a:srgbClr val="334155"/>
                </a:solidFill>
                <a:latin typeface="Arial" panose="020B0604020202020204" pitchFamily="34" charset="0"/>
                <a:cs typeface="Arial" panose="020B0604020202020204" pitchFamily="34" charset="0"/>
              </a:rPr>
              <a:t>Realtime</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 כך שהצוות רואה תורים מתעדכנים </a:t>
            </a:r>
            <a:r>
              <a:rPr lang="he-IL" sz="1500" dirty="0" err="1">
                <a:solidFill>
                  <a:srgbClr val="334155"/>
                </a:solidFill>
                <a:latin typeface="Arial" panose="020B0604020202020204" pitchFamily="34" charset="0"/>
              </a:rPr>
              <a:t>מיידית</a:t>
            </a:r>
            <a:r>
              <a:rPr lang="he-IL" sz="1500" dirty="0">
                <a:solidFill>
                  <a:srgbClr val="334155"/>
                </a:solidFill>
                <a:latin typeface="Arial" panose="020B0604020202020204" pitchFamily="34" charset="0"/>
              </a:rPr>
              <a:t>.</a:t>
            </a:r>
            <a:endParaRPr sz="1500" b="0" i="0" u="none" dirty="0">
              <a:solidFill>
                <a:srgbClr val="334155"/>
              </a:solidFill>
              <a:latin typeface="Arial" panose="020B0604020202020204" pitchFamily="34" charset="0"/>
              <a:cs typeface="Arial" panose="020B0604020202020204" pitchFamily="34" charset="0"/>
            </a:endParaRPr>
          </a:p>
        </p:txBody>
      </p:sp>
      <p:pic>
        <p:nvPicPr>
          <p:cNvPr id="9" name="Picture 8" descr="image.png"/>
          <p:cNvPicPr>
            <a:picLocks noChangeAspect="1"/>
          </p:cNvPicPr>
          <p:nvPr/>
        </p:nvPicPr>
        <p:blipFill>
          <a:blip r:embed="rId6"/>
          <a:stretch>
            <a:fillRect/>
          </a:stretch>
        </p:blipFill>
        <p:spPr>
          <a:xfrm>
            <a:off x="5667375" y="2271712"/>
            <a:ext cx="857250" cy="857250"/>
          </a:xfrm>
          <a:prstGeom prst="rect">
            <a:avLst/>
          </a:prstGeom>
        </p:spPr>
      </p:pic>
      <p:sp>
        <p:nvSpPr>
          <p:cNvPr id="10" name="TextBox 9"/>
          <p:cNvSpPr txBox="1"/>
          <p:nvPr/>
        </p:nvSpPr>
        <p:spPr>
          <a:xfrm>
            <a:off x="5160883" y="3367087"/>
            <a:ext cx="1870233" cy="253916"/>
          </a:xfrm>
          <a:prstGeom prst="rect">
            <a:avLst/>
          </a:prstGeom>
          <a:noFill/>
        </p:spPr>
        <p:txBody>
          <a:bodyPr wrap="square" lIns="0" tIns="0" rIns="0" bIns="0" anchor="t">
            <a:spAutoFit/>
          </a:bodyPr>
          <a:lstStyle/>
          <a:p>
            <a:pPr algn="r" rtl="1"/>
            <a:r>
              <a:rPr lang="he-IL" sz="1650" dirty="0">
                <a:solidFill>
                  <a:srgbClr val="2563EB"/>
                </a:solidFill>
                <a:latin typeface="Arial" panose="020B0604020202020204" pitchFamily="34" charset="0"/>
              </a:rPr>
              <a:t>אבטחה ו-</a:t>
            </a:r>
            <a:r>
              <a:rPr lang="en-US" sz="1650" dirty="0">
                <a:solidFill>
                  <a:srgbClr val="2563EB"/>
                </a:solidFill>
                <a:latin typeface="Arial" panose="020B0604020202020204" pitchFamily="34" charset="0"/>
                <a:cs typeface="Arial" panose="020B0604020202020204" pitchFamily="34" charset="0"/>
              </a:rPr>
              <a:t>API (RLS)</a:t>
            </a:r>
            <a:r>
              <a:rPr lang="he-IL" sz="1650" dirty="0">
                <a:solidFill>
                  <a:srgbClr val="2563EB"/>
                </a:solidFill>
                <a:latin typeface="Arial" panose="020B0604020202020204" pitchFamily="34" charset="0"/>
                <a:cs typeface="Arial" panose="020B0604020202020204" pitchFamily="34" charset="0"/>
              </a:rPr>
              <a:t> </a:t>
            </a:r>
            <a:endParaRPr lang="en-US" sz="1650" dirty="0">
              <a:solidFill>
                <a:srgbClr val="2563EB"/>
              </a:solidFill>
              <a:latin typeface="Arial" panose="020B0604020202020204" pitchFamily="34" charset="0"/>
              <a:cs typeface="Arial" panose="020B0604020202020204" pitchFamily="34" charset="0"/>
            </a:endParaRPr>
          </a:p>
        </p:txBody>
      </p:sp>
      <p:sp>
        <p:nvSpPr>
          <p:cNvPr id="11" name="TextBox 10"/>
          <p:cNvSpPr txBox="1"/>
          <p:nvPr/>
        </p:nvSpPr>
        <p:spPr>
          <a:xfrm>
            <a:off x="4597300" y="3814762"/>
            <a:ext cx="2997249" cy="2154436"/>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האבטחה לא מסתמכת רק על ה- </a:t>
            </a:r>
            <a:r>
              <a:rPr lang="en-US" sz="1500" dirty="0">
                <a:solidFill>
                  <a:srgbClr val="334155"/>
                </a:solidFill>
                <a:latin typeface="Arial" panose="020B0604020202020204" pitchFamily="34" charset="0"/>
                <a:cs typeface="Arial" panose="020B0604020202020204" pitchFamily="34" charset="0"/>
              </a:rPr>
              <a:t>UI</a:t>
            </a:r>
            <a:r>
              <a:rPr lang="he-IL" sz="1500" dirty="0">
                <a:solidFill>
                  <a:srgbClr val="334155"/>
                </a:solidFill>
                <a:latin typeface="Arial" panose="020B0604020202020204" pitchFamily="34" charset="0"/>
                <a:cs typeface="Arial" panose="020B0604020202020204" pitchFamily="34" charset="0"/>
              </a:rPr>
              <a:t>.</a:t>
            </a:r>
            <a:r>
              <a:rPr lang="en-US" sz="1500" dirty="0">
                <a:solidFill>
                  <a:srgbClr val="334155"/>
                </a:solidFill>
                <a:latin typeface="Arial" panose="020B0604020202020204" pitchFamily="34" charset="0"/>
                <a:cs typeface="Arial" panose="020B0604020202020204" pitchFamily="34" charset="0"/>
              </a:rPr>
              <a:t> </a:t>
            </a:r>
            <a:r>
              <a:rPr lang="en-US" sz="1500" dirty="0" err="1">
                <a:solidFill>
                  <a:srgbClr val="334155"/>
                </a:solidFill>
                <a:latin typeface="Arial" panose="020B0604020202020204" pitchFamily="34" charset="0"/>
                <a:cs typeface="Arial" panose="020B0604020202020204" pitchFamily="34" charset="0"/>
              </a:rPr>
              <a:t>Supabase</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 מספק</a:t>
            </a:r>
            <a:r>
              <a:rPr lang="en-US" sz="1500" b="1" dirty="0">
                <a:solidFill>
                  <a:srgbClr val="334155"/>
                </a:solidFill>
                <a:latin typeface="Arial" panose="020B0604020202020204" pitchFamily="34" charset="0"/>
                <a:cs typeface="Arial" panose="020B0604020202020204" pitchFamily="34" charset="0"/>
              </a:rPr>
              <a:t>Row Level </a:t>
            </a:r>
            <a:r>
              <a:rPr lang="he-IL" sz="1500" b="1" dirty="0">
                <a:solidFill>
                  <a:srgbClr val="334155"/>
                </a:solidFill>
                <a:latin typeface="Arial" panose="020B0604020202020204" pitchFamily="34" charset="0"/>
                <a:cs typeface="Arial" panose="020B0604020202020204" pitchFamily="34" charset="0"/>
              </a:rPr>
              <a:t> </a:t>
            </a:r>
            <a:r>
              <a:rPr lang="en-US" sz="1500" b="1" dirty="0">
                <a:solidFill>
                  <a:srgbClr val="334155"/>
                </a:solidFill>
                <a:latin typeface="Arial" panose="020B0604020202020204" pitchFamily="34" charset="0"/>
                <a:cs typeface="Arial" panose="020B0604020202020204" pitchFamily="34" charset="0"/>
              </a:rPr>
              <a:t>Security</a:t>
            </a:r>
            <a:r>
              <a:rPr lang="he-IL" sz="1500" b="1" dirty="0">
                <a:solidFill>
                  <a:srgbClr val="334155"/>
                </a:solidFill>
                <a:latin typeface="Arial" panose="020B0604020202020204" pitchFamily="34" charset="0"/>
                <a:cs typeface="Arial" panose="020B0604020202020204" pitchFamily="34" charset="0"/>
              </a:rPr>
              <a:t> (</a:t>
            </a:r>
            <a:r>
              <a:rPr lang="en-US" sz="1500" b="1" dirty="0">
                <a:solidFill>
                  <a:srgbClr val="334155"/>
                </a:solidFill>
                <a:latin typeface="Arial" panose="020B0604020202020204" pitchFamily="34" charset="0"/>
                <a:cs typeface="Arial" panose="020B0604020202020204" pitchFamily="34" charset="0"/>
              </a:rPr>
              <a:t>RLS</a:t>
            </a:r>
            <a:r>
              <a:rPr lang="he-IL" sz="1500" b="1"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פוליסות ברמת מסד הנתונים שמוודאות שלקוח שניגש ל-</a:t>
            </a:r>
            <a:r>
              <a:rPr lang="en-US" sz="1500" dirty="0">
                <a:solidFill>
                  <a:srgbClr val="334155"/>
                </a:solidFill>
                <a:latin typeface="Arial" panose="020B0604020202020204" pitchFamily="34" charset="0"/>
                <a:cs typeface="Arial" panose="020B0604020202020204" pitchFamily="34" charset="0"/>
              </a:rPr>
              <a:t>API </a:t>
            </a:r>
            <a:r>
              <a:rPr lang="he-IL" sz="1500" dirty="0">
                <a:solidFill>
                  <a:srgbClr val="334155"/>
                </a:solidFill>
                <a:latin typeface="Arial" panose="020B0604020202020204" pitchFamily="34" charset="0"/>
              </a:rPr>
              <a:t>יוכל למשוך אך ורק את נתוני חיות המחמד שלו, לעולם לא של אחרים</a:t>
            </a:r>
            <a:r>
              <a:rPr lang="he-IL" sz="1500" dirty="0" smtClean="0">
                <a:solidFill>
                  <a:srgbClr val="334155"/>
                </a:solidFill>
                <a:latin typeface="Arial" panose="020B0604020202020204" pitchFamily="34" charset="0"/>
              </a:rPr>
              <a:t>.</a:t>
            </a:r>
            <a:endParaRPr lang="he-IL" sz="1500" dirty="0">
              <a:solidFill>
                <a:srgbClr val="334155"/>
              </a:solidFill>
              <a:latin typeface="Arial" panose="020B0604020202020204" pitchFamily="34" charset="0"/>
            </a:endParaRPr>
          </a:p>
          <a:p>
            <a:pPr algn="r" rtl="1">
              <a:lnSpc>
                <a:spcPts val="2400"/>
              </a:lnSpc>
            </a:pPr>
            <a:endParaRPr sz="1500" b="0" i="0" u="none" dirty="0">
              <a:solidFill>
                <a:srgbClr val="334155"/>
              </a:solidFill>
              <a:latin typeface="Arial" panose="020B0604020202020204" pitchFamily="34" charset="0"/>
              <a:cs typeface="Arial" panose="020B0604020202020204" pitchFamily="34" charset="0"/>
            </a:endParaRPr>
          </a:p>
        </p:txBody>
      </p:sp>
      <p:pic>
        <p:nvPicPr>
          <p:cNvPr id="12" name="Picture 11" descr="image.png"/>
          <p:cNvPicPr>
            <a:picLocks noChangeAspect="1"/>
          </p:cNvPicPr>
          <p:nvPr/>
        </p:nvPicPr>
        <p:blipFill>
          <a:blip r:embed="rId7"/>
          <a:stretch>
            <a:fillRect/>
          </a:stretch>
        </p:blipFill>
        <p:spPr>
          <a:xfrm>
            <a:off x="1889075" y="2266950"/>
            <a:ext cx="857250" cy="857250"/>
          </a:xfrm>
          <a:prstGeom prst="rect">
            <a:avLst/>
          </a:prstGeom>
        </p:spPr>
      </p:pic>
      <p:sp>
        <p:nvSpPr>
          <p:cNvPr id="13" name="TextBox 12"/>
          <p:cNvSpPr txBox="1"/>
          <p:nvPr/>
        </p:nvSpPr>
        <p:spPr>
          <a:xfrm>
            <a:off x="1460016" y="3315519"/>
            <a:ext cx="1606877" cy="253916"/>
          </a:xfrm>
          <a:prstGeom prst="rect">
            <a:avLst/>
          </a:prstGeom>
          <a:noFill/>
        </p:spPr>
        <p:txBody>
          <a:bodyPr wrap="square" lIns="0" tIns="0" rIns="0" bIns="0" anchor="t">
            <a:spAutoFit/>
          </a:bodyPr>
          <a:lstStyle/>
          <a:p>
            <a:pPr algn="r" rtl="1"/>
            <a:r>
              <a:rPr sz="1650" b="0" i="0" u="none" dirty="0">
                <a:solidFill>
                  <a:srgbClr val="2563EB"/>
                </a:solidFill>
                <a:latin typeface="Arial" panose="020B0604020202020204" pitchFamily="34" charset="0"/>
                <a:cs typeface="Arial" panose="020B0604020202020204" pitchFamily="34" charset="0"/>
              </a:rPr>
              <a:t>Edge Functions</a:t>
            </a:r>
          </a:p>
        </p:txBody>
      </p:sp>
      <p:sp>
        <p:nvSpPr>
          <p:cNvPr id="14" name="TextBox 13"/>
          <p:cNvSpPr txBox="1"/>
          <p:nvPr/>
        </p:nvSpPr>
        <p:spPr>
          <a:xfrm>
            <a:off x="819001" y="3814762"/>
            <a:ext cx="2997249" cy="2121222"/>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לפעולות מורכבות ומאובטחות השתמשנו בפונקציות קצה. הן מריצות לוגיקה מאובטחת, מתקשרות עם מודלי ה-</a:t>
            </a:r>
            <a:r>
              <a:rPr lang="en-US" sz="1500" dirty="0">
                <a:solidFill>
                  <a:srgbClr val="334155"/>
                </a:solidFill>
                <a:latin typeface="Arial" panose="020B0604020202020204" pitchFamily="34" charset="0"/>
                <a:cs typeface="Arial" panose="020B0604020202020204" pitchFamily="34" charset="0"/>
              </a:rPr>
              <a:t>AI </a:t>
            </a:r>
            <a:r>
              <a:rPr lang="he-IL" sz="1500" dirty="0">
                <a:solidFill>
                  <a:srgbClr val="334155"/>
                </a:solidFill>
                <a:latin typeface="Arial" panose="020B0604020202020204" pitchFamily="34" charset="0"/>
              </a:rPr>
              <a:t>ושומרות את מפתחות הסוד בשרת</a:t>
            </a:r>
          </a:p>
          <a:p>
            <a:pPr algn="r" rtl="1">
              <a:lnSpc>
                <a:spcPts val="2400"/>
              </a:lnSpc>
            </a:pPr>
            <a:r>
              <a:rPr lang="he-IL" sz="1500" dirty="0">
                <a:solidFill>
                  <a:srgbClr val="334155"/>
                </a:solidFill>
                <a:latin typeface="Arial" panose="020B0604020202020204" pitchFamily="34" charset="0"/>
              </a:rPr>
              <a:t>(</a:t>
            </a:r>
            <a:r>
              <a:rPr lang="en-US" sz="1500" dirty="0">
                <a:solidFill>
                  <a:srgbClr val="334155"/>
                </a:solidFill>
                <a:latin typeface="Arial" panose="020B0604020202020204" pitchFamily="34" charset="0"/>
                <a:cs typeface="Arial" panose="020B0604020202020204" pitchFamily="34" charset="0"/>
              </a:rPr>
              <a:t>API Gateway</a:t>
            </a:r>
            <a:r>
              <a:rPr lang="he-IL" sz="1500" dirty="0">
                <a:solidFill>
                  <a:srgbClr val="334155"/>
                </a:solidFill>
                <a:latin typeface="Arial" panose="020B0604020202020204" pitchFamily="34" charset="0"/>
              </a:rPr>
              <a:t>) הרחק מעיני המשתמש בדפדפן.</a:t>
            </a:r>
          </a:p>
          <a:p>
            <a:pPr algn="r" rtl="1">
              <a:lnSpc>
                <a:spcPts val="2400"/>
              </a:lnSpc>
            </a:pPr>
            <a:endParaRPr sz="1500" b="0" i="0" u="none" dirty="0">
              <a:solidFill>
                <a:srgbClr val="334155"/>
              </a:solidFill>
              <a:latin typeface="Arial" panose="020B0604020202020204" pitchFamily="34" charset="0"/>
              <a:cs typeface="Arial" panose="020B0604020202020204" pitchFamily="34" charset="0"/>
            </a:endParaRPr>
          </a:p>
        </p:txBody>
      </p:sp>
      <p:pic>
        <p:nvPicPr>
          <p:cNvPr id="15" name="Picture 14" descr="image.png"/>
          <p:cNvPicPr>
            <a:picLocks noChangeAspect="1"/>
          </p:cNvPicPr>
          <p:nvPr/>
        </p:nvPicPr>
        <p:blipFill>
          <a:blip r:embed="rId8"/>
          <a:stretch>
            <a:fillRect/>
          </a:stretch>
        </p:blipFill>
        <p:spPr>
          <a:xfrm>
            <a:off x="9688562" y="2486025"/>
            <a:ext cx="371475" cy="428625"/>
          </a:xfrm>
          <a:prstGeom prst="rect">
            <a:avLst/>
          </a:prstGeom>
        </p:spPr>
      </p:pic>
      <p:pic>
        <p:nvPicPr>
          <p:cNvPr id="16" name="Picture 15" descr="image.png"/>
          <p:cNvPicPr>
            <a:picLocks noChangeAspect="1"/>
          </p:cNvPicPr>
          <p:nvPr/>
        </p:nvPicPr>
        <p:blipFill>
          <a:blip r:embed="rId9"/>
          <a:stretch>
            <a:fillRect/>
          </a:stretch>
        </p:blipFill>
        <p:spPr>
          <a:xfrm>
            <a:off x="5829300" y="2486025"/>
            <a:ext cx="533400" cy="428625"/>
          </a:xfrm>
          <a:prstGeom prst="rect">
            <a:avLst/>
          </a:prstGeom>
        </p:spPr>
      </p:pic>
      <p:pic>
        <p:nvPicPr>
          <p:cNvPr id="17" name="Picture 16" descr="image.png"/>
          <p:cNvPicPr>
            <a:picLocks noChangeAspect="1"/>
          </p:cNvPicPr>
          <p:nvPr/>
        </p:nvPicPr>
        <p:blipFill>
          <a:blip r:embed="rId10"/>
          <a:stretch>
            <a:fillRect/>
          </a:stretch>
        </p:blipFill>
        <p:spPr>
          <a:xfrm>
            <a:off x="2103387" y="2486025"/>
            <a:ext cx="428625" cy="428625"/>
          </a:xfrm>
          <a:prstGeom prst="rect">
            <a:avLst/>
          </a:prstGeom>
        </p:spPr>
      </p:pic>
      <p:sp>
        <p:nvSpPr>
          <p:cNvPr id="18" name="TextBox 17"/>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rgbClr val="1E40AF"/>
                </a:solidFill>
                <a:latin typeface="Arial" panose="020B0604020202020204" pitchFamily="34" charset="0"/>
              </a:rPr>
              <a:t>צד השרת (</a:t>
            </a:r>
            <a:r>
              <a:rPr lang="en-US" sz="3900" b="1" dirty="0">
                <a:solidFill>
                  <a:srgbClr val="1E40AF"/>
                </a:solidFill>
                <a:latin typeface="Arial" panose="020B0604020202020204" pitchFamily="34" charset="0"/>
                <a:cs typeface="Arial" panose="020B0604020202020204" pitchFamily="34" charset="0"/>
              </a:rPr>
              <a:t>Backend</a:t>
            </a:r>
            <a:r>
              <a:rPr lang="he-IL" sz="3900" b="1" dirty="0">
                <a:solidFill>
                  <a:srgbClr val="1E40AF"/>
                </a:solidFill>
                <a:latin typeface="Arial" panose="020B0604020202020204" pitchFamily="34" charset="0"/>
              </a:rPr>
              <a:t>) - </a:t>
            </a:r>
            <a:r>
              <a:rPr lang="en-US" sz="3900" b="1" dirty="0" err="1">
                <a:solidFill>
                  <a:srgbClr val="1E40AF"/>
                </a:solidFill>
                <a:latin typeface="Arial" panose="020B0604020202020204" pitchFamily="34" charset="0"/>
                <a:cs typeface="Arial" panose="020B0604020202020204" pitchFamily="34" charset="0"/>
              </a:rPr>
              <a:t>Supabase</a:t>
            </a:r>
            <a:endParaRPr lang="en-US" sz="3900" b="1" dirty="0">
              <a:solidFill>
                <a:srgbClr val="1E40AF"/>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1614055"/>
            <a:ext cx="3333750" cy="3333750"/>
          </a:xfrm>
          <a:prstGeom prst="rect">
            <a:avLst/>
          </a:prstGeom>
          <a:noFill/>
          <a:effectLst>
            <a:outerShdw blurRad="50800" dist="50800" dir="5400000" algn="ctr" rotWithShape="0">
              <a:srgbClr val="000000">
                <a:alpha val="82000"/>
              </a:srgbClr>
            </a:outerShdw>
          </a:effectLst>
        </p:spPr>
      </p:pic>
      <p:sp>
        <p:nvSpPr>
          <p:cNvPr id="4" name="TextBox 3"/>
          <p:cNvSpPr txBox="1"/>
          <p:nvPr/>
        </p:nvSpPr>
        <p:spPr>
          <a:xfrm>
            <a:off x="6069806" y="2214860"/>
            <a:ext cx="5550693" cy="323165"/>
          </a:xfrm>
          <a:prstGeom prst="rect">
            <a:avLst/>
          </a:prstGeom>
          <a:noFill/>
        </p:spPr>
        <p:txBody>
          <a:bodyPr wrap="square" lIns="0" tIns="0" rIns="0" bIns="0" anchor="t">
            <a:spAutoFit/>
          </a:bodyPr>
          <a:lstStyle/>
          <a:p>
            <a:pPr algn="r" rtl="1"/>
            <a:r>
              <a:rPr lang="he-IL" sz="2100" dirty="0">
                <a:solidFill>
                  <a:schemeClr val="bg1"/>
                </a:solidFill>
                <a:latin typeface="Arial" panose="020B0604020202020204" pitchFamily="34" charset="0"/>
              </a:rPr>
              <a:t>מנוע </a:t>
            </a:r>
            <a:r>
              <a:rPr lang="en-US" sz="2100" dirty="0">
                <a:solidFill>
                  <a:schemeClr val="bg1"/>
                </a:solidFill>
                <a:latin typeface="Arial" panose="020B0604020202020204" pitchFamily="34" charset="0"/>
                <a:cs typeface="Arial" panose="020B0604020202020204" pitchFamily="34" charset="0"/>
              </a:rPr>
              <a:t>AI</a:t>
            </a:r>
            <a:r>
              <a:rPr lang="he-IL" sz="2100" dirty="0">
                <a:solidFill>
                  <a:schemeClr val="bg1"/>
                </a:solidFill>
                <a:latin typeface="Arial" panose="020B0604020202020204" pitchFamily="34" charset="0"/>
                <a:cs typeface="Arial" panose="020B0604020202020204" pitchFamily="34" charset="0"/>
              </a:rPr>
              <a:t> </a:t>
            </a:r>
            <a:r>
              <a:rPr lang="he-IL" sz="2100" dirty="0">
                <a:solidFill>
                  <a:schemeClr val="bg1"/>
                </a:solidFill>
                <a:latin typeface="Arial" panose="020B0604020202020204" pitchFamily="34" charset="0"/>
              </a:rPr>
              <a:t>מבוסס </a:t>
            </a:r>
            <a:r>
              <a:rPr lang="en-US" sz="2100" dirty="0">
                <a:solidFill>
                  <a:schemeClr val="bg1"/>
                </a:solidFill>
                <a:latin typeface="Arial" panose="020B0604020202020204" pitchFamily="34" charset="0"/>
                <a:cs typeface="Arial" panose="020B0604020202020204" pitchFamily="34" charset="0"/>
              </a:rPr>
              <a:t>Gemini</a:t>
            </a:r>
            <a:r>
              <a:rPr lang="he-IL" sz="2100" dirty="0">
                <a:solidFill>
                  <a:schemeClr val="bg1"/>
                </a:solidFill>
                <a:latin typeface="Arial" panose="020B0604020202020204" pitchFamily="34" charset="0"/>
                <a:cs typeface="Arial" panose="020B0604020202020204" pitchFamily="34" charset="0"/>
              </a:rPr>
              <a:t> 3.5 </a:t>
            </a:r>
            <a:endParaRPr lang="en-US" sz="2100" dirty="0">
              <a:solidFill>
                <a:schemeClr val="bg1"/>
              </a:solidFill>
              <a:latin typeface="Arial" panose="020B0604020202020204" pitchFamily="34" charset="0"/>
              <a:cs typeface="Arial" panose="020B0604020202020204" pitchFamily="34" charset="0"/>
            </a:endParaRPr>
          </a:p>
        </p:txBody>
      </p:sp>
      <p:sp>
        <p:nvSpPr>
          <p:cNvPr id="5" name="TextBox 4"/>
          <p:cNvSpPr txBox="1"/>
          <p:nvPr/>
        </p:nvSpPr>
        <p:spPr>
          <a:xfrm>
            <a:off x="6334125" y="2619375"/>
            <a:ext cx="5286375" cy="1231106"/>
          </a:xfrm>
          <a:prstGeom prst="rect">
            <a:avLst/>
          </a:prstGeom>
          <a:noFill/>
        </p:spPr>
        <p:txBody>
          <a:bodyPr wrap="square" lIns="0" tIns="0" rIns="0" bIns="0" anchor="t">
            <a:spAutoFit/>
          </a:bodyPr>
          <a:lstStyle/>
          <a:p>
            <a:pPr algn="r" rtl="1">
              <a:lnSpc>
                <a:spcPts val="2400"/>
              </a:lnSpc>
            </a:pPr>
            <a:r>
              <a:rPr lang="en-US" sz="1500" dirty="0" err="1">
                <a:solidFill>
                  <a:srgbClr val="334155"/>
                </a:solidFill>
                <a:latin typeface="Arial" panose="020B0604020202020204" pitchFamily="34" charset="0"/>
                <a:cs typeface="Arial" panose="020B0604020202020204" pitchFamily="34" charset="0"/>
              </a:rPr>
              <a:t>VetBot</a:t>
            </a:r>
            <a:r>
              <a:rPr lang="en-US"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cs typeface="Arial" panose="020B0604020202020204" pitchFamily="34" charset="0"/>
              </a:rPr>
              <a:t> </a:t>
            </a:r>
            <a:r>
              <a:rPr lang="he-IL" sz="1500" dirty="0">
                <a:solidFill>
                  <a:srgbClr val="334155"/>
                </a:solidFill>
                <a:latin typeface="Arial" panose="020B0604020202020204" pitchFamily="34" charset="0"/>
              </a:rPr>
              <a:t>אינו צ'אט כללי, אלא עוזר חכם </a:t>
            </a:r>
            <a:r>
              <a:rPr lang="he-IL" sz="1500" dirty="0" smtClean="0">
                <a:solidFill>
                  <a:srgbClr val="334155"/>
                </a:solidFill>
                <a:latin typeface="Arial" panose="020B0604020202020204" pitchFamily="34" charset="0"/>
              </a:rPr>
              <a:t>תלוי-הקשר המכיר </a:t>
            </a:r>
            <a:r>
              <a:rPr lang="he-IL" sz="1500" dirty="0">
                <a:solidFill>
                  <a:srgbClr val="334155"/>
                </a:solidFill>
                <a:latin typeface="Arial" panose="020B0604020202020204" pitchFamily="34" charset="0"/>
              </a:rPr>
              <a:t>את המסך בו הצוות נמצא. מודל ה-</a:t>
            </a:r>
            <a:r>
              <a:rPr lang="en-US" sz="1500" dirty="0">
                <a:solidFill>
                  <a:srgbClr val="334155"/>
                </a:solidFill>
                <a:latin typeface="Arial" panose="020B0604020202020204" pitchFamily="34" charset="0"/>
              </a:rPr>
              <a:t> </a:t>
            </a:r>
            <a:r>
              <a:rPr lang="en-US" sz="1500" dirty="0">
                <a:solidFill>
                  <a:srgbClr val="334155"/>
                </a:solidFill>
                <a:latin typeface="Arial" panose="020B0604020202020204" pitchFamily="34" charset="0"/>
                <a:cs typeface="Arial" panose="020B0604020202020204" pitchFamily="34" charset="0"/>
              </a:rPr>
              <a:t>AI </a:t>
            </a:r>
            <a:r>
              <a:rPr lang="he-IL" sz="1500" dirty="0">
                <a:solidFill>
                  <a:srgbClr val="334155"/>
                </a:solidFill>
                <a:latin typeface="Arial" panose="020B0604020202020204" pitchFamily="34" charset="0"/>
              </a:rPr>
              <a:t>מנתח בקשות בשפה טבעית בעברית ומתרגם אותן לפעולות </a:t>
            </a:r>
            <a:r>
              <a:rPr lang="en-US" sz="1500" dirty="0">
                <a:solidFill>
                  <a:srgbClr val="334155"/>
                </a:solidFill>
                <a:latin typeface="Arial" panose="020B0604020202020204" pitchFamily="34" charset="0"/>
              </a:rPr>
              <a:t> </a:t>
            </a:r>
            <a:r>
              <a:rPr lang="en-US" sz="1500" dirty="0">
                <a:solidFill>
                  <a:srgbClr val="334155"/>
                </a:solidFill>
                <a:latin typeface="Arial" panose="020B0604020202020204" pitchFamily="34" charset="0"/>
                <a:cs typeface="Arial" panose="020B0604020202020204" pitchFamily="34" charset="0"/>
              </a:rPr>
              <a:t>API </a:t>
            </a:r>
            <a:r>
              <a:rPr lang="he-IL" sz="1500" dirty="0">
                <a:solidFill>
                  <a:srgbClr val="334155"/>
                </a:solidFill>
                <a:latin typeface="Arial" panose="020B0604020202020204" pitchFamily="34" charset="0"/>
              </a:rPr>
              <a:t>מובנות מול ה- </a:t>
            </a:r>
            <a:r>
              <a:rPr lang="en-US" sz="1500" dirty="0">
                <a:solidFill>
                  <a:srgbClr val="334155"/>
                </a:solidFill>
                <a:latin typeface="Arial" panose="020B0604020202020204" pitchFamily="34" charset="0"/>
                <a:cs typeface="Arial" panose="020B0604020202020204" pitchFamily="34" charset="0"/>
              </a:rPr>
              <a:t>Backend</a:t>
            </a:r>
            <a:r>
              <a:rPr lang="he-IL" sz="1500" dirty="0">
                <a:solidFill>
                  <a:srgbClr val="334155"/>
                </a:solidFill>
                <a:latin typeface="Arial" panose="020B0604020202020204" pitchFamily="34" charset="0"/>
                <a:cs typeface="Arial" panose="020B0604020202020204" pitchFamily="34" charset="0"/>
              </a:rPr>
              <a:t>.  במידה </a:t>
            </a:r>
            <a:r>
              <a:rPr lang="he-IL" sz="1500" dirty="0" err="1">
                <a:solidFill>
                  <a:srgbClr val="334155"/>
                </a:solidFill>
                <a:latin typeface="Arial" panose="020B0604020202020204" pitchFamily="34" charset="0"/>
                <a:cs typeface="Arial" panose="020B0604020202020204" pitchFamily="34" charset="0"/>
              </a:rPr>
              <a:t>והבוט</a:t>
            </a:r>
            <a:r>
              <a:rPr lang="he-IL" sz="1500" dirty="0">
                <a:solidFill>
                  <a:srgbClr val="334155"/>
                </a:solidFill>
                <a:latin typeface="Arial" panose="020B0604020202020204" pitchFamily="34" charset="0"/>
                <a:cs typeface="Arial" panose="020B0604020202020204" pitchFamily="34" charset="0"/>
              </a:rPr>
              <a:t> נופל או שיש בעיית תקשורת המערכת עוברת למודל ה2.5 של גוגל.</a:t>
            </a:r>
            <a:endParaRPr lang="en-US" sz="1500" dirty="0">
              <a:solidFill>
                <a:srgbClr val="334155"/>
              </a:solidFill>
              <a:latin typeface="Arial" panose="020B0604020202020204" pitchFamily="34" charset="0"/>
              <a:cs typeface="Arial" panose="020B0604020202020204" pitchFamily="34" charset="0"/>
            </a:endParaRPr>
          </a:p>
        </p:txBody>
      </p:sp>
      <p:sp>
        <p:nvSpPr>
          <p:cNvPr id="6" name="TextBox 5"/>
          <p:cNvSpPr txBox="1"/>
          <p:nvPr/>
        </p:nvSpPr>
        <p:spPr>
          <a:xfrm>
            <a:off x="6069807" y="4350042"/>
            <a:ext cx="5550693" cy="323165"/>
          </a:xfrm>
          <a:prstGeom prst="rect">
            <a:avLst/>
          </a:prstGeom>
          <a:noFill/>
        </p:spPr>
        <p:txBody>
          <a:bodyPr wrap="square" lIns="0" tIns="0" rIns="0" bIns="0" anchor="t">
            <a:spAutoFit/>
          </a:bodyPr>
          <a:lstStyle/>
          <a:p>
            <a:pPr algn="r" rtl="1"/>
            <a:r>
              <a:rPr lang="he-IL" sz="2100" dirty="0">
                <a:solidFill>
                  <a:schemeClr val="bg1"/>
                </a:solidFill>
                <a:latin typeface="Arial" panose="020B0604020202020204" pitchFamily="34" charset="0"/>
              </a:rPr>
              <a:t>בטיחות: </a:t>
            </a:r>
            <a:r>
              <a:rPr lang="en-US" sz="2100" dirty="0">
                <a:solidFill>
                  <a:schemeClr val="bg1"/>
                </a:solidFill>
                <a:latin typeface="Arial" panose="020B0604020202020204" pitchFamily="34" charset="0"/>
                <a:cs typeface="Arial" panose="020B0604020202020204" pitchFamily="34" charset="0"/>
              </a:rPr>
              <a:t>Human-in-the-Loop</a:t>
            </a:r>
          </a:p>
        </p:txBody>
      </p:sp>
      <p:sp>
        <p:nvSpPr>
          <p:cNvPr id="7" name="TextBox 6"/>
          <p:cNvSpPr txBox="1"/>
          <p:nvPr/>
        </p:nvSpPr>
        <p:spPr>
          <a:xfrm>
            <a:off x="6334125" y="4721860"/>
            <a:ext cx="5286375" cy="1538883"/>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לפני כל שינוי בבסיס הנתונים (כמו קביעת תור, ניפוק תרופה מהמלאי, או סיכום ביקור רפואי), ה-</a:t>
            </a:r>
            <a:r>
              <a:rPr lang="en-US" sz="1500" dirty="0">
                <a:solidFill>
                  <a:srgbClr val="334155"/>
                </a:solidFill>
                <a:latin typeface="Arial" panose="020B0604020202020204" pitchFamily="34" charset="0"/>
                <a:cs typeface="Arial" panose="020B0604020202020204" pitchFamily="34" charset="0"/>
              </a:rPr>
              <a:t>AI </a:t>
            </a:r>
            <a:r>
              <a:rPr lang="he-IL" sz="1500" dirty="0">
                <a:solidFill>
                  <a:srgbClr val="334155"/>
                </a:solidFill>
                <a:latin typeface="Arial" panose="020B0604020202020204" pitchFamily="34" charset="0"/>
              </a:rPr>
              <a:t> מחויב לייצר </a:t>
            </a:r>
            <a:r>
              <a:rPr lang="he-IL" sz="1500" b="1" dirty="0" smtClean="0">
                <a:solidFill>
                  <a:srgbClr val="334155"/>
                </a:solidFill>
                <a:latin typeface="Arial" panose="020B0604020202020204" pitchFamily="34" charset="0"/>
              </a:rPr>
              <a:t>טיוטה</a:t>
            </a:r>
            <a:r>
              <a:rPr lang="he-IL" sz="1500" dirty="0" smtClean="0">
                <a:solidFill>
                  <a:srgbClr val="334155"/>
                </a:solidFill>
                <a:latin typeface="Arial" panose="020B0604020202020204" pitchFamily="34" charset="0"/>
              </a:rPr>
              <a:t>. הפעולה </a:t>
            </a:r>
            <a:r>
              <a:rPr lang="he-IL" sz="1500" dirty="0">
                <a:solidFill>
                  <a:srgbClr val="334155"/>
                </a:solidFill>
                <a:latin typeface="Arial" panose="020B0604020202020204" pitchFamily="34" charset="0"/>
              </a:rPr>
              <a:t>תצא לפועל רק לאחר אישור אנושי מפורש של הווטרינר. המודל לעולם לא פועל באוטונומיות מלאה. </a:t>
            </a:r>
            <a:endParaRPr lang="he-IL" sz="2800" dirty="0">
              <a:solidFill>
                <a:srgbClr val="FF0000"/>
              </a:solidFill>
              <a:highlight>
                <a:srgbClr val="FFFF00"/>
              </a:highlight>
              <a:latin typeface="Arial" panose="020B0604020202020204" pitchFamily="34" charset="0"/>
            </a:endParaRPr>
          </a:p>
          <a:p>
            <a:pPr algn="r" rtl="1">
              <a:lnSpc>
                <a:spcPts val="2400"/>
              </a:lnSpc>
            </a:pPr>
            <a:endParaRPr sz="1500" b="0" i="0" u="none" dirty="0">
              <a:solidFill>
                <a:srgbClr val="334155"/>
              </a:solidFill>
              <a:latin typeface="Arial" panose="020B0604020202020204" pitchFamily="34" charset="0"/>
              <a:cs typeface="Arial" panose="020B0604020202020204" pitchFamily="34" charset="0"/>
            </a:endParaRPr>
          </a:p>
        </p:txBody>
      </p:sp>
      <p:sp>
        <p:nvSpPr>
          <p:cNvPr id="9" name="TextBox 8"/>
          <p:cNvSpPr txBox="1"/>
          <p:nvPr/>
        </p:nvSpPr>
        <p:spPr>
          <a:xfrm>
            <a:off x="19050" y="476250"/>
            <a:ext cx="11601450" cy="600164"/>
          </a:xfrm>
          <a:prstGeom prst="rect">
            <a:avLst/>
          </a:prstGeom>
          <a:noFill/>
        </p:spPr>
        <p:txBody>
          <a:bodyPr wrap="square" lIns="0" tIns="0" rIns="0" bIns="0" anchor="t">
            <a:spAutoFit/>
          </a:bodyPr>
          <a:lstStyle/>
          <a:p>
            <a:pPr algn="ctr" rtl="1"/>
            <a:r>
              <a:rPr lang="he-IL" sz="3900" b="1" dirty="0">
                <a:solidFill>
                  <a:srgbClr val="1E40AF"/>
                </a:solidFill>
                <a:latin typeface="Arial" panose="020B0604020202020204" pitchFamily="34" charset="0"/>
              </a:rPr>
              <a:t>מודל ה-</a:t>
            </a:r>
            <a:r>
              <a:rPr lang="en-US" sz="3900" b="1" dirty="0">
                <a:solidFill>
                  <a:srgbClr val="1E40AF"/>
                </a:solidFill>
                <a:latin typeface="Arial" panose="020B0604020202020204" pitchFamily="34" charset="0"/>
                <a:cs typeface="Arial" panose="020B0604020202020204" pitchFamily="34" charset="0"/>
              </a:rPr>
              <a:t>AI </a:t>
            </a:r>
            <a:r>
              <a:rPr lang="he-IL" sz="3900" b="1" dirty="0">
                <a:solidFill>
                  <a:srgbClr val="1E40AF"/>
                </a:solidFill>
                <a:latin typeface="Arial" panose="020B0604020202020204" pitchFamily="34" charset="0"/>
                <a:cs typeface="Arial" panose="020B0604020202020204" pitchFamily="34" charset="0"/>
              </a:rPr>
              <a:t>:</a:t>
            </a:r>
            <a:r>
              <a:rPr lang="he-IL" sz="3900" b="1" dirty="0">
                <a:solidFill>
                  <a:srgbClr val="1E40AF"/>
                </a:solidFill>
                <a:latin typeface="Arial" panose="020B0604020202020204" pitchFamily="34" charset="0"/>
              </a:rPr>
              <a:t> </a:t>
            </a:r>
            <a:r>
              <a:rPr lang="en-US" sz="3900" b="1" dirty="0">
                <a:solidFill>
                  <a:srgbClr val="1E40AF"/>
                </a:solidFill>
                <a:latin typeface="Arial" panose="020B0604020202020204" pitchFamily="34" charset="0"/>
                <a:cs typeface="Arial" panose="020B0604020202020204" pitchFamily="34" charset="0"/>
              </a:rPr>
              <a:t>VetBot</a:t>
            </a:r>
          </a:p>
        </p:txBody>
      </p:sp>
      <p:pic>
        <p:nvPicPr>
          <p:cNvPr id="2" name="תמונה 1"/>
          <p:cNvPicPr>
            <a:picLocks noChangeAspect="1"/>
          </p:cNvPicPr>
          <p:nvPr/>
        </p:nvPicPr>
        <p:blipFill>
          <a:blip r:embed="rId3"/>
          <a:stretch>
            <a:fillRect/>
          </a:stretch>
        </p:blipFill>
        <p:spPr>
          <a:xfrm>
            <a:off x="1314321" y="2337823"/>
            <a:ext cx="1848108" cy="1886213"/>
          </a:xfrm>
          <a:prstGeom prst="rect">
            <a:avLst/>
          </a:prstGeom>
          <a:effectLst>
            <a:softEdge rad="3429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39035" y="537044"/>
            <a:ext cx="6745941" cy="600164"/>
          </a:xfrm>
          <a:prstGeom prst="rect">
            <a:avLst/>
          </a:prstGeom>
          <a:noFill/>
        </p:spPr>
        <p:txBody>
          <a:bodyPr wrap="square" lIns="0" tIns="0" rIns="0" bIns="0" anchor="t">
            <a:spAutoFit/>
          </a:bodyPr>
          <a:lstStyle/>
          <a:p>
            <a:pPr algn="ctr" rtl="1"/>
            <a:r>
              <a:rPr lang="he-IL" sz="3900" b="1" dirty="0">
                <a:solidFill>
                  <a:srgbClr val="1E40AF"/>
                </a:solidFill>
                <a:latin typeface="Arial" panose="020B0604020202020204" pitchFamily="34" charset="0"/>
              </a:rPr>
              <a:t>איכות פיתוח וסטטוס המערכת</a:t>
            </a:r>
          </a:p>
        </p:txBody>
      </p:sp>
      <p:sp>
        <p:nvSpPr>
          <p:cNvPr id="6" name="TextBox 5"/>
          <p:cNvSpPr txBox="1"/>
          <p:nvPr/>
        </p:nvSpPr>
        <p:spPr>
          <a:xfrm>
            <a:off x="6656093" y="1654974"/>
            <a:ext cx="4856899" cy="2154436"/>
          </a:xfrm>
          <a:prstGeom prst="rect">
            <a:avLst/>
          </a:prstGeom>
          <a:noFill/>
        </p:spPr>
        <p:txBody>
          <a:bodyPr wrap="square" lIns="0" tIns="0" rIns="0" bIns="0" anchor="t">
            <a:spAutoFit/>
          </a:bodyPr>
          <a:lstStyle/>
          <a:p>
            <a:pPr algn="r" rtl="1">
              <a:lnSpc>
                <a:spcPts val="2400"/>
              </a:lnSpc>
            </a:pPr>
            <a:r>
              <a:rPr lang="he-IL" b="1" dirty="0" smtClean="0">
                <a:solidFill>
                  <a:schemeClr val="tx1">
                    <a:lumMod val="95000"/>
                    <a:lumOff val="5000"/>
                  </a:schemeClr>
                </a:solidFill>
                <a:latin typeface="Arial" panose="020B0604020202020204" pitchFamily="34" charset="0"/>
              </a:rPr>
              <a:t>בדיקות תוכנה מקיפות- </a:t>
            </a:r>
            <a:r>
              <a:rPr lang="he-IL" dirty="0" smtClean="0">
                <a:solidFill>
                  <a:schemeClr val="tx1">
                    <a:lumMod val="95000"/>
                    <a:lumOff val="5000"/>
                  </a:schemeClr>
                </a:solidFill>
                <a:latin typeface="Arial" panose="020B0604020202020204" pitchFamily="34" charset="0"/>
              </a:rPr>
              <a:t>פיתוח </a:t>
            </a:r>
            <a:r>
              <a:rPr lang="he-IL" dirty="0">
                <a:solidFill>
                  <a:schemeClr val="tx1">
                    <a:lumMod val="95000"/>
                    <a:lumOff val="5000"/>
                  </a:schemeClr>
                </a:solidFill>
                <a:latin typeface="Arial" panose="020B0604020202020204" pitchFamily="34" charset="0"/>
              </a:rPr>
              <a:t>המערכת לווה בכתיבת קוד איכותי הניתן לבדיקה. המערכת מגובה במערך של </a:t>
            </a:r>
            <a:r>
              <a:rPr lang="he-IL" b="1" dirty="0">
                <a:solidFill>
                  <a:schemeClr val="tx1">
                    <a:lumMod val="95000"/>
                    <a:lumOff val="5000"/>
                  </a:schemeClr>
                </a:solidFill>
                <a:latin typeface="Arial" panose="020B0604020202020204" pitchFamily="34" charset="0"/>
              </a:rPr>
              <a:t>מעל 165 בדיקות יחידה ורגרסיה</a:t>
            </a:r>
            <a:r>
              <a:rPr lang="he-IL" dirty="0">
                <a:solidFill>
                  <a:schemeClr val="tx1">
                    <a:lumMod val="95000"/>
                    <a:lumOff val="5000"/>
                  </a:schemeClr>
                </a:solidFill>
                <a:latin typeface="Arial" panose="020B0604020202020204" pitchFamily="34" charset="0"/>
              </a:rPr>
              <a:t> העוברות בהצלחה מלאה. הבדיקות מכסות זרימות עבודה, חסימות ביומן, השחרת נתונים</a:t>
            </a:r>
          </a:p>
          <a:p>
            <a:pPr algn="r" rtl="1">
              <a:lnSpc>
                <a:spcPts val="2400"/>
              </a:lnSpc>
            </a:pPr>
            <a:r>
              <a:rPr lang="he-IL" dirty="0">
                <a:solidFill>
                  <a:schemeClr val="tx1">
                    <a:lumMod val="95000"/>
                    <a:lumOff val="5000"/>
                  </a:schemeClr>
                </a:solidFill>
                <a:latin typeface="Arial" panose="020B0604020202020204" pitchFamily="34" charset="0"/>
              </a:rPr>
              <a:t> (</a:t>
            </a:r>
            <a:r>
              <a:rPr lang="en-US" dirty="0">
                <a:solidFill>
                  <a:schemeClr val="tx1">
                    <a:lumMod val="95000"/>
                    <a:lumOff val="5000"/>
                  </a:schemeClr>
                </a:solidFill>
                <a:latin typeface="Arial" panose="020B0604020202020204" pitchFamily="34" charset="0"/>
                <a:cs typeface="Arial" panose="020B0604020202020204" pitchFamily="34" charset="0"/>
              </a:rPr>
              <a:t>Data Redaction</a:t>
            </a:r>
            <a:r>
              <a:rPr lang="he-IL" dirty="0">
                <a:solidFill>
                  <a:schemeClr val="tx1">
                    <a:lumMod val="95000"/>
                    <a:lumOff val="5000"/>
                  </a:schemeClr>
                </a:solidFill>
                <a:latin typeface="Arial" panose="020B0604020202020204" pitchFamily="34" charset="0"/>
                <a:cs typeface="Arial" panose="020B0604020202020204" pitchFamily="34" charset="0"/>
              </a:rPr>
              <a:t>) </a:t>
            </a:r>
            <a:r>
              <a:rPr lang="he-IL" dirty="0">
                <a:solidFill>
                  <a:schemeClr val="tx1">
                    <a:lumMod val="95000"/>
                    <a:lumOff val="5000"/>
                  </a:schemeClr>
                </a:solidFill>
                <a:latin typeface="Arial" panose="020B0604020202020204" pitchFamily="34" charset="0"/>
              </a:rPr>
              <a:t>לפני שליחה ל-</a:t>
            </a:r>
            <a:r>
              <a:rPr lang="en-US" dirty="0">
                <a:solidFill>
                  <a:schemeClr val="tx1">
                    <a:lumMod val="95000"/>
                    <a:lumOff val="5000"/>
                  </a:schemeClr>
                </a:solidFill>
                <a:latin typeface="Arial" panose="020B0604020202020204" pitchFamily="34" charset="0"/>
                <a:cs typeface="Arial" panose="020B0604020202020204" pitchFamily="34" charset="0"/>
              </a:rPr>
              <a:t>AI</a:t>
            </a:r>
            <a:r>
              <a:rPr lang="he-IL" dirty="0">
                <a:solidFill>
                  <a:schemeClr val="tx1">
                    <a:lumMod val="95000"/>
                    <a:lumOff val="5000"/>
                  </a:schemeClr>
                </a:solidFill>
                <a:latin typeface="Arial" panose="020B0604020202020204" pitchFamily="34" charset="0"/>
                <a:cs typeface="Arial" panose="020B0604020202020204" pitchFamily="34" charset="0"/>
              </a:rPr>
              <a:t> </a:t>
            </a:r>
            <a:r>
              <a:rPr lang="he-IL" dirty="0">
                <a:solidFill>
                  <a:schemeClr val="tx1">
                    <a:lumMod val="95000"/>
                    <a:lumOff val="5000"/>
                  </a:schemeClr>
                </a:solidFill>
                <a:latin typeface="Arial" panose="020B0604020202020204" pitchFamily="34" charset="0"/>
              </a:rPr>
              <a:t> ואכיפת הרשאות.</a:t>
            </a:r>
            <a:endParaRPr b="0" i="0" u="none" dirty="0">
              <a:solidFill>
                <a:schemeClr val="tx1">
                  <a:lumMod val="95000"/>
                  <a:lumOff val="5000"/>
                </a:schemeClr>
              </a:solidFill>
              <a:latin typeface="Arial" panose="020B0604020202020204" pitchFamily="34" charset="0"/>
              <a:cs typeface="Arial" panose="020B0604020202020204" pitchFamily="34" charset="0"/>
            </a:endParaRPr>
          </a:p>
        </p:txBody>
      </p:sp>
      <p:sp>
        <p:nvSpPr>
          <p:cNvPr id="8" name="TextBox 7"/>
          <p:cNvSpPr txBox="1"/>
          <p:nvPr/>
        </p:nvSpPr>
        <p:spPr>
          <a:xfrm>
            <a:off x="0" y="3237721"/>
            <a:ext cx="4762500" cy="898900"/>
          </a:xfrm>
          <a:prstGeom prst="rect">
            <a:avLst/>
          </a:prstGeom>
          <a:noFill/>
        </p:spPr>
        <p:txBody>
          <a:bodyPr wrap="square" lIns="0" tIns="0" rIns="0" bIns="0" anchor="t">
            <a:spAutoFit/>
          </a:bodyPr>
          <a:lstStyle/>
          <a:p>
            <a:pPr algn="r" rtl="1">
              <a:lnSpc>
                <a:spcPts val="2400"/>
              </a:lnSpc>
            </a:pPr>
            <a:r>
              <a:rPr lang="he-IL" b="1" dirty="0">
                <a:solidFill>
                  <a:schemeClr val="tx1">
                    <a:lumMod val="95000"/>
                    <a:lumOff val="5000"/>
                  </a:schemeClr>
                </a:solidFill>
                <a:latin typeface="Arial" panose="020B0604020202020204" pitchFamily="34" charset="0"/>
              </a:rPr>
              <a:t>ליבת </a:t>
            </a:r>
            <a:r>
              <a:rPr lang="he-IL" b="1" dirty="0" smtClean="0">
                <a:solidFill>
                  <a:schemeClr val="tx1">
                    <a:lumMod val="95000"/>
                    <a:lumOff val="5000"/>
                  </a:schemeClr>
                </a:solidFill>
                <a:latin typeface="Arial" panose="020B0604020202020204" pitchFamily="34" charset="0"/>
              </a:rPr>
              <a:t>המוצר-</a:t>
            </a:r>
            <a:r>
              <a:rPr lang="he-IL" dirty="0" smtClean="0">
                <a:solidFill>
                  <a:schemeClr val="tx1">
                    <a:lumMod val="95000"/>
                    <a:lumOff val="5000"/>
                  </a:schemeClr>
                </a:solidFill>
                <a:latin typeface="Arial" panose="020B0604020202020204" pitchFamily="34" charset="0"/>
              </a:rPr>
              <a:t> </a:t>
            </a:r>
            <a:r>
              <a:rPr lang="he-IL" dirty="0">
                <a:solidFill>
                  <a:schemeClr val="tx1">
                    <a:lumMod val="95000"/>
                    <a:lumOff val="5000"/>
                  </a:schemeClr>
                </a:solidFill>
                <a:latin typeface="Arial" panose="020B0604020202020204" pitchFamily="34" charset="0"/>
              </a:rPr>
              <a:t>(הפורטל, התיק הרפואי וניהול המרפאה) עובדים בצורה מלאה, יציבה ומוכנים להדגמה (</a:t>
            </a:r>
            <a:r>
              <a:rPr lang="en-US" dirty="0">
                <a:solidFill>
                  <a:schemeClr val="tx1">
                    <a:lumMod val="95000"/>
                    <a:lumOff val="5000"/>
                  </a:schemeClr>
                </a:solidFill>
                <a:latin typeface="Arial" panose="020B0604020202020204" pitchFamily="34" charset="0"/>
                <a:cs typeface="Arial" panose="020B0604020202020204" pitchFamily="34" charset="0"/>
              </a:rPr>
              <a:t>Demo</a:t>
            </a:r>
            <a:r>
              <a:rPr lang="he-IL" dirty="0">
                <a:solidFill>
                  <a:schemeClr val="tx1">
                    <a:lumMod val="95000"/>
                    <a:lumOff val="5000"/>
                  </a:schemeClr>
                </a:solidFill>
                <a:latin typeface="Arial" panose="020B0604020202020204" pitchFamily="34" charset="0"/>
              </a:rPr>
              <a:t>).</a:t>
            </a:r>
            <a:endParaRPr lang="en-US" dirty="0">
              <a:solidFill>
                <a:schemeClr val="tx1">
                  <a:lumMod val="95000"/>
                  <a:lumOff val="5000"/>
                </a:schemeClr>
              </a:solidFill>
              <a:latin typeface="Arial" panose="020B0604020202020204" pitchFamily="34" charset="0"/>
              <a:cs typeface="Arial" panose="020B0604020202020204" pitchFamily="34" charset="0"/>
            </a:endParaRPr>
          </a:p>
        </p:txBody>
      </p:sp>
      <p:sp>
        <p:nvSpPr>
          <p:cNvPr id="9" name="TextBox 8"/>
          <p:cNvSpPr txBox="1"/>
          <p:nvPr/>
        </p:nvSpPr>
        <p:spPr>
          <a:xfrm>
            <a:off x="4762500" y="4894281"/>
            <a:ext cx="4762500" cy="1538883"/>
          </a:xfrm>
          <a:prstGeom prst="rect">
            <a:avLst/>
          </a:prstGeom>
          <a:noFill/>
        </p:spPr>
        <p:txBody>
          <a:bodyPr wrap="square" lIns="0" tIns="0" rIns="0" bIns="0" anchor="t">
            <a:spAutoFit/>
          </a:bodyPr>
          <a:lstStyle/>
          <a:p>
            <a:pPr algn="r" rtl="1">
              <a:lnSpc>
                <a:spcPts val="2400"/>
              </a:lnSpc>
            </a:pPr>
            <a:r>
              <a:rPr lang="he-IL" b="1" dirty="0">
                <a:solidFill>
                  <a:schemeClr val="tx1">
                    <a:lumMod val="95000"/>
                    <a:lumOff val="5000"/>
                  </a:schemeClr>
                </a:solidFill>
                <a:latin typeface="Arial" panose="020B0604020202020204" pitchFamily="34" charset="0"/>
              </a:rPr>
              <a:t>יכולות </a:t>
            </a:r>
            <a:r>
              <a:rPr lang="en-US" b="1" dirty="0">
                <a:solidFill>
                  <a:schemeClr val="tx1">
                    <a:lumMod val="95000"/>
                    <a:lumOff val="5000"/>
                  </a:schemeClr>
                </a:solidFill>
                <a:latin typeface="Arial" panose="020B0604020202020204" pitchFamily="34" charset="0"/>
                <a:cs typeface="Arial" panose="020B0604020202020204" pitchFamily="34" charset="0"/>
              </a:rPr>
              <a:t>AI</a:t>
            </a:r>
            <a:r>
              <a:rPr lang="he-IL" b="1" dirty="0">
                <a:solidFill>
                  <a:schemeClr val="tx1">
                    <a:lumMod val="95000"/>
                    <a:lumOff val="5000"/>
                  </a:schemeClr>
                </a:solidFill>
                <a:latin typeface="Arial" panose="020B0604020202020204" pitchFamily="34" charset="0"/>
                <a:cs typeface="Arial" panose="020B0604020202020204" pitchFamily="34" charset="0"/>
              </a:rPr>
              <a:t> </a:t>
            </a:r>
            <a:r>
              <a:rPr lang="he-IL" b="1" dirty="0">
                <a:solidFill>
                  <a:schemeClr val="tx1">
                    <a:lumMod val="95000"/>
                    <a:lumOff val="5000"/>
                  </a:schemeClr>
                </a:solidFill>
                <a:latin typeface="Arial" panose="020B0604020202020204" pitchFamily="34" charset="0"/>
              </a:rPr>
              <a:t>רפואיות </a:t>
            </a:r>
            <a:r>
              <a:rPr lang="he-IL" b="1" dirty="0" smtClean="0">
                <a:solidFill>
                  <a:schemeClr val="tx1">
                    <a:lumMod val="95000"/>
                    <a:lumOff val="5000"/>
                  </a:schemeClr>
                </a:solidFill>
                <a:latin typeface="Arial" panose="020B0604020202020204" pitchFamily="34" charset="0"/>
              </a:rPr>
              <a:t>מתקדמות-</a:t>
            </a:r>
            <a:r>
              <a:rPr lang="he-IL" dirty="0" smtClean="0">
                <a:solidFill>
                  <a:schemeClr val="tx1">
                    <a:lumMod val="95000"/>
                    <a:lumOff val="5000"/>
                  </a:schemeClr>
                </a:solidFill>
                <a:latin typeface="Arial" panose="020B0604020202020204" pitchFamily="34" charset="0"/>
              </a:rPr>
              <a:t> </a:t>
            </a:r>
            <a:r>
              <a:rPr lang="he-IL" dirty="0">
                <a:solidFill>
                  <a:schemeClr val="tx1">
                    <a:lumMod val="95000"/>
                    <a:lumOff val="5000"/>
                  </a:schemeClr>
                </a:solidFill>
                <a:latin typeface="Arial" panose="020B0604020202020204" pitchFamily="34" charset="0"/>
              </a:rPr>
              <a:t>מומשו ברמת הקוד ונבדקו מקומית להוכחת היתכנות טכנולוגית, אך אינן מוצגות עדיין כמערכת</a:t>
            </a:r>
            <a:r>
              <a:rPr lang="en-US" dirty="0">
                <a:solidFill>
                  <a:schemeClr val="tx1">
                    <a:lumMod val="95000"/>
                    <a:lumOff val="5000"/>
                  </a:schemeClr>
                </a:solidFill>
                <a:latin typeface="Arial" panose="020B0604020202020204" pitchFamily="34" charset="0"/>
                <a:cs typeface="Arial" panose="020B0604020202020204" pitchFamily="34" charset="0"/>
              </a:rPr>
              <a:t>Production </a:t>
            </a:r>
            <a:r>
              <a:rPr lang="he-IL" dirty="0">
                <a:solidFill>
                  <a:schemeClr val="tx1">
                    <a:lumMod val="95000"/>
                    <a:lumOff val="5000"/>
                  </a:schemeClr>
                </a:solidFill>
                <a:latin typeface="Arial" panose="020B0604020202020204" pitchFamily="34" charset="0"/>
              </a:rPr>
              <a:t> רפואית המאומתת לייב.</a:t>
            </a:r>
          </a:p>
          <a:p>
            <a:pPr algn="r" rtl="1">
              <a:lnSpc>
                <a:spcPts val="2400"/>
              </a:lnSpc>
            </a:pPr>
            <a:endParaRPr b="0" i="0" u="none" dirty="0">
              <a:solidFill>
                <a:schemeClr val="tx1">
                  <a:lumMod val="95000"/>
                  <a:lumOff val="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39035" y="537044"/>
            <a:ext cx="6745941" cy="600164"/>
          </a:xfrm>
          <a:prstGeom prst="rect">
            <a:avLst/>
          </a:prstGeom>
          <a:noFill/>
        </p:spPr>
        <p:txBody>
          <a:bodyPr wrap="square" lIns="0" tIns="0" rIns="0" bIns="0" anchor="t">
            <a:spAutoFit/>
          </a:bodyPr>
          <a:lstStyle/>
          <a:p>
            <a:pPr algn="ctr" rtl="1"/>
            <a:r>
              <a:rPr lang="he-IL" sz="3900" b="1" dirty="0">
                <a:solidFill>
                  <a:srgbClr val="1E40AF"/>
                </a:solidFill>
                <a:latin typeface="Arial" panose="020B0604020202020204" pitchFamily="34" charset="0"/>
              </a:rPr>
              <a:t>המודל העסקי(</a:t>
            </a:r>
            <a:r>
              <a:rPr lang="en-US" sz="3900" b="1" dirty="0">
                <a:solidFill>
                  <a:srgbClr val="1E40AF"/>
                </a:solidFill>
                <a:latin typeface="Arial" panose="020B0604020202020204" pitchFamily="34" charset="0"/>
              </a:rPr>
              <a:t>(B2B SaaS</a:t>
            </a:r>
            <a:endParaRPr lang="he-IL" sz="3900" b="1" dirty="0">
              <a:solidFill>
                <a:srgbClr val="1E40AF"/>
              </a:solidFill>
              <a:latin typeface="Arial" panose="020B0604020202020204" pitchFamily="34" charset="0"/>
            </a:endParaRPr>
          </a:p>
        </p:txBody>
      </p:sp>
      <p:pic>
        <p:nvPicPr>
          <p:cNvPr id="10" name="Picture 2" descr="image.png"/>
          <p:cNvPicPr>
            <a:picLocks noChangeAspect="1"/>
          </p:cNvPicPr>
          <p:nvPr/>
        </p:nvPicPr>
        <p:blipFill>
          <a:blip r:embed="rId2">
            <a:duotone>
              <a:prstClr val="black"/>
              <a:schemeClr val="tx2">
                <a:tint val="45000"/>
                <a:satMod val="400000"/>
              </a:schemeClr>
            </a:duotone>
          </a:blip>
          <a:stretch>
            <a:fillRect/>
          </a:stretch>
        </p:blipFill>
        <p:spPr>
          <a:xfrm>
            <a:off x="8371790" y="2081212"/>
            <a:ext cx="3492549" cy="4200525"/>
          </a:xfrm>
          <a:prstGeom prst="rect">
            <a:avLst/>
          </a:prstGeom>
          <a:noFill/>
        </p:spPr>
      </p:pic>
      <p:pic>
        <p:nvPicPr>
          <p:cNvPr id="11" name="Picture 2" descr="image.png"/>
          <p:cNvPicPr>
            <a:picLocks noChangeAspect="1"/>
          </p:cNvPicPr>
          <p:nvPr/>
        </p:nvPicPr>
        <p:blipFill>
          <a:blip r:embed="rId2">
            <a:duotone>
              <a:prstClr val="black"/>
              <a:schemeClr val="tx2">
                <a:tint val="45000"/>
                <a:satMod val="400000"/>
              </a:schemeClr>
            </a:duotone>
          </a:blip>
          <a:stretch>
            <a:fillRect/>
          </a:stretch>
        </p:blipFill>
        <p:spPr>
          <a:xfrm>
            <a:off x="4434790" y="2081211"/>
            <a:ext cx="3492549" cy="4200525"/>
          </a:xfrm>
          <a:prstGeom prst="rect">
            <a:avLst/>
          </a:prstGeom>
          <a:noFill/>
        </p:spPr>
      </p:pic>
      <p:pic>
        <p:nvPicPr>
          <p:cNvPr id="12" name="Picture 2" descr="image.png"/>
          <p:cNvPicPr>
            <a:picLocks noChangeAspect="1"/>
          </p:cNvPicPr>
          <p:nvPr/>
        </p:nvPicPr>
        <p:blipFill>
          <a:blip r:embed="rId2">
            <a:duotone>
              <a:prstClr val="black"/>
              <a:schemeClr val="tx2">
                <a:tint val="45000"/>
                <a:satMod val="400000"/>
              </a:schemeClr>
            </a:duotone>
          </a:blip>
          <a:stretch>
            <a:fillRect/>
          </a:stretch>
        </p:blipFill>
        <p:spPr>
          <a:xfrm>
            <a:off x="497790" y="2081212"/>
            <a:ext cx="3492549" cy="4200525"/>
          </a:xfrm>
          <a:prstGeom prst="rect">
            <a:avLst/>
          </a:prstGeom>
          <a:noFill/>
        </p:spPr>
      </p:pic>
      <p:sp>
        <p:nvSpPr>
          <p:cNvPr id="14" name="TextBox 13"/>
          <p:cNvSpPr txBox="1"/>
          <p:nvPr/>
        </p:nvSpPr>
        <p:spPr>
          <a:xfrm>
            <a:off x="9221777" y="2741218"/>
            <a:ext cx="1792574" cy="253915"/>
          </a:xfrm>
          <a:prstGeom prst="rect">
            <a:avLst/>
          </a:prstGeom>
          <a:noFill/>
        </p:spPr>
        <p:txBody>
          <a:bodyPr wrap="square" lIns="0" tIns="0" rIns="0" bIns="0" anchor="t">
            <a:spAutoFit/>
          </a:bodyPr>
          <a:lstStyle/>
          <a:p>
            <a:pPr algn="r" rtl="1"/>
            <a:r>
              <a:rPr lang="he-IL" sz="1650" b="1" dirty="0">
                <a:solidFill>
                  <a:schemeClr val="bg1"/>
                </a:solidFill>
                <a:latin typeface="Arial" panose="020B0604020202020204" pitchFamily="34" charset="0"/>
              </a:rPr>
              <a:t>תוכנה כשירות </a:t>
            </a:r>
            <a:r>
              <a:rPr lang="en-US" sz="1650" b="1" dirty="0">
                <a:solidFill>
                  <a:schemeClr val="bg1"/>
                </a:solidFill>
                <a:latin typeface="Arial" panose="020B0604020202020204" pitchFamily="34" charset="0"/>
              </a:rPr>
              <a:t>SaaS</a:t>
            </a:r>
            <a:endParaRPr lang="en-US" sz="1650" b="1" dirty="0">
              <a:solidFill>
                <a:schemeClr val="bg1"/>
              </a:solidFill>
              <a:latin typeface="Arial" panose="020B0604020202020204" pitchFamily="34" charset="0"/>
              <a:cs typeface="Arial" panose="020B0604020202020204" pitchFamily="34" charset="0"/>
            </a:endParaRPr>
          </a:p>
        </p:txBody>
      </p:sp>
      <p:sp>
        <p:nvSpPr>
          <p:cNvPr id="15" name="TextBox 14"/>
          <p:cNvSpPr txBox="1"/>
          <p:nvPr/>
        </p:nvSpPr>
        <p:spPr>
          <a:xfrm>
            <a:off x="8456953" y="3258143"/>
            <a:ext cx="2997249" cy="1538883"/>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המודל העסקי מתבסס על שירות חודשי\שנתי. המרפאה\בית החולים ירכוש חבילת בסיס או חבילת </a:t>
            </a:r>
            <a:r>
              <a:rPr lang="he-IL" sz="1500" dirty="0" err="1">
                <a:solidFill>
                  <a:srgbClr val="334155"/>
                </a:solidFill>
                <a:latin typeface="Arial" panose="020B0604020202020204" pitchFamily="34" charset="0"/>
              </a:rPr>
              <a:t>פריומיום</a:t>
            </a:r>
            <a:r>
              <a:rPr lang="he-IL" sz="1500" dirty="0">
                <a:solidFill>
                  <a:srgbClr val="334155"/>
                </a:solidFill>
                <a:latin typeface="Arial" panose="020B0604020202020204" pitchFamily="34" charset="0"/>
              </a:rPr>
              <a:t> מורחבת(מרפאה דיגיטלית, </a:t>
            </a:r>
            <a:r>
              <a:rPr lang="he-IL" sz="1500" dirty="0" err="1">
                <a:solidFill>
                  <a:srgbClr val="334155"/>
                </a:solidFill>
                <a:latin typeface="Arial" panose="020B0604020202020204" pitchFamily="34" charset="0"/>
              </a:rPr>
              <a:t>צט</a:t>
            </a:r>
            <a:r>
              <a:rPr lang="he-IL" sz="1500" dirty="0">
                <a:solidFill>
                  <a:srgbClr val="334155"/>
                </a:solidFill>
                <a:latin typeface="Arial" panose="020B0604020202020204" pitchFamily="34" charset="0"/>
              </a:rPr>
              <a:t> </a:t>
            </a:r>
            <a:r>
              <a:rPr lang="he-IL" sz="1500" dirty="0" err="1">
                <a:solidFill>
                  <a:srgbClr val="334155"/>
                </a:solidFill>
                <a:latin typeface="Arial" panose="020B0604020202020204" pitchFamily="34" charset="0"/>
              </a:rPr>
              <a:t>בוט</a:t>
            </a:r>
            <a:r>
              <a:rPr lang="he-IL" sz="1500" dirty="0">
                <a:solidFill>
                  <a:srgbClr val="334155"/>
                </a:solidFill>
                <a:latin typeface="Arial" panose="020B0604020202020204" pitchFamily="34" charset="0"/>
              </a:rPr>
              <a:t> חכם, </a:t>
            </a:r>
            <a:r>
              <a:rPr lang="en-US" sz="1500" dirty="0">
                <a:solidFill>
                  <a:srgbClr val="334155"/>
                </a:solidFill>
                <a:latin typeface="Arial" panose="020B0604020202020204" pitchFamily="34" charset="0"/>
              </a:rPr>
              <a:t>AI </a:t>
            </a:r>
            <a:r>
              <a:rPr lang="he-IL" sz="1500" dirty="0">
                <a:solidFill>
                  <a:srgbClr val="334155"/>
                </a:solidFill>
                <a:latin typeface="Arial" panose="020B0604020202020204" pitchFamily="34" charset="0"/>
              </a:rPr>
              <a:t> ,דוחות חכמים ועוד) </a:t>
            </a:r>
            <a:endParaRPr sz="1500" b="0" i="0" u="none" dirty="0">
              <a:solidFill>
                <a:srgbClr val="334155"/>
              </a:solidFill>
              <a:latin typeface="Arial" panose="020B0604020202020204" pitchFamily="34" charset="0"/>
              <a:cs typeface="Arial" panose="020B0604020202020204" pitchFamily="34" charset="0"/>
            </a:endParaRPr>
          </a:p>
        </p:txBody>
      </p:sp>
      <p:sp>
        <p:nvSpPr>
          <p:cNvPr id="16" name="TextBox 15"/>
          <p:cNvSpPr txBox="1"/>
          <p:nvPr/>
        </p:nvSpPr>
        <p:spPr>
          <a:xfrm>
            <a:off x="654000" y="3258143"/>
            <a:ext cx="2997249" cy="1846659"/>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העלויות המשמעותיות של המערכת הן שירות ענן (</a:t>
            </a:r>
            <a:r>
              <a:rPr lang="en-US" sz="1500" dirty="0" err="1">
                <a:solidFill>
                  <a:srgbClr val="334155"/>
                </a:solidFill>
                <a:latin typeface="Arial" panose="020B0604020202020204" pitchFamily="34" charset="0"/>
              </a:rPr>
              <a:t>Supabase</a:t>
            </a:r>
            <a:r>
              <a:rPr lang="he-IL" sz="1500" dirty="0">
                <a:solidFill>
                  <a:srgbClr val="334155"/>
                </a:solidFill>
                <a:latin typeface="Arial" panose="020B0604020202020204" pitchFamily="34" charset="0"/>
              </a:rPr>
              <a:t>), משכורות לעובדים ושירותי סוכנים ו</a:t>
            </a:r>
            <a:r>
              <a:rPr lang="en-US" sz="1500" dirty="0">
                <a:solidFill>
                  <a:srgbClr val="334155"/>
                </a:solidFill>
                <a:latin typeface="Arial" panose="020B0604020202020204" pitchFamily="34" charset="0"/>
              </a:rPr>
              <a:t>AI</a:t>
            </a:r>
            <a:r>
              <a:rPr lang="he-IL" sz="1500" dirty="0">
                <a:solidFill>
                  <a:srgbClr val="334155"/>
                </a:solidFill>
                <a:latin typeface="Arial" panose="020B0604020202020204" pitchFamily="34" charset="0"/>
              </a:rPr>
              <a:t>. אנו צופים שהחזר העלויות והפיכה המודל לעסקי וריווחי יהיו כבר בצעדים הראשונים עם כמות בודדת של לקוחות.</a:t>
            </a:r>
            <a:endParaRPr sz="1500" b="0" i="0" u="none" dirty="0">
              <a:solidFill>
                <a:srgbClr val="334155"/>
              </a:solidFill>
              <a:latin typeface="Arial" panose="020B0604020202020204" pitchFamily="34" charset="0"/>
              <a:cs typeface="Arial" panose="020B0604020202020204" pitchFamily="34" charset="0"/>
            </a:endParaRPr>
          </a:p>
        </p:txBody>
      </p:sp>
      <p:sp>
        <p:nvSpPr>
          <p:cNvPr id="17" name="TextBox 16"/>
          <p:cNvSpPr txBox="1"/>
          <p:nvPr/>
        </p:nvSpPr>
        <p:spPr>
          <a:xfrm>
            <a:off x="4648514" y="3258143"/>
            <a:ext cx="2997249" cy="1846659"/>
          </a:xfrm>
          <a:prstGeom prst="rect">
            <a:avLst/>
          </a:prstGeom>
          <a:noFill/>
        </p:spPr>
        <p:txBody>
          <a:bodyPr wrap="square" lIns="0" tIns="0" rIns="0" bIns="0" anchor="t">
            <a:spAutoFit/>
          </a:bodyPr>
          <a:lstStyle/>
          <a:p>
            <a:pPr algn="r" rtl="1">
              <a:lnSpc>
                <a:spcPts val="2400"/>
              </a:lnSpc>
            </a:pPr>
            <a:r>
              <a:rPr lang="he-IL" sz="1500" dirty="0">
                <a:solidFill>
                  <a:srgbClr val="334155"/>
                </a:solidFill>
                <a:latin typeface="Arial" panose="020B0604020202020204" pitchFamily="34" charset="0"/>
              </a:rPr>
              <a:t>כל לקוח המגיע למרפאה או לבית החולים יישלם מנוי למרפאה\לבית החולים באופן חודשי. המנוי יכלול ביטוח רפואי וגישה לאפליקציה. מטרתנו היא לגבות גם מלקוחות אלו דרך המרפאה\בית החולים  10\5 אחוז מהעסקה החודשית. </a:t>
            </a:r>
            <a:endParaRPr sz="1500" b="0" i="0" u="none" dirty="0">
              <a:solidFill>
                <a:srgbClr val="334155"/>
              </a:solidFill>
              <a:latin typeface="Arial" panose="020B0604020202020204" pitchFamily="34" charset="0"/>
              <a:cs typeface="Arial" panose="020B0604020202020204" pitchFamily="34" charset="0"/>
            </a:endParaRPr>
          </a:p>
        </p:txBody>
      </p:sp>
      <p:sp>
        <p:nvSpPr>
          <p:cNvPr id="18" name="TextBox 17"/>
          <p:cNvSpPr txBox="1"/>
          <p:nvPr/>
        </p:nvSpPr>
        <p:spPr>
          <a:xfrm>
            <a:off x="1556359" y="2729207"/>
            <a:ext cx="1375409" cy="253916"/>
          </a:xfrm>
          <a:prstGeom prst="rect">
            <a:avLst/>
          </a:prstGeom>
          <a:noFill/>
        </p:spPr>
        <p:txBody>
          <a:bodyPr wrap="square" lIns="0" tIns="0" rIns="0" bIns="0" anchor="t">
            <a:spAutoFit/>
          </a:bodyPr>
          <a:lstStyle/>
          <a:p>
            <a:pPr algn="r" rtl="1"/>
            <a:r>
              <a:rPr lang="he-IL" sz="1650" b="1" dirty="0">
                <a:solidFill>
                  <a:schemeClr val="bg1"/>
                </a:solidFill>
                <a:latin typeface="Arial" panose="020B0604020202020204" pitchFamily="34" charset="0"/>
              </a:rPr>
              <a:t>החזר ההשקעה</a:t>
            </a:r>
            <a:endParaRPr lang="en-US" sz="1650" b="1" dirty="0">
              <a:solidFill>
                <a:schemeClr val="bg1"/>
              </a:solidFill>
              <a:latin typeface="Arial" panose="020B0604020202020204" pitchFamily="34" charset="0"/>
              <a:cs typeface="Arial" panose="020B0604020202020204" pitchFamily="34" charset="0"/>
            </a:endParaRPr>
          </a:p>
        </p:txBody>
      </p:sp>
      <p:sp>
        <p:nvSpPr>
          <p:cNvPr id="19" name="TextBox 18"/>
          <p:cNvSpPr txBox="1"/>
          <p:nvPr/>
        </p:nvSpPr>
        <p:spPr>
          <a:xfrm>
            <a:off x="4901982" y="2730595"/>
            <a:ext cx="2490311" cy="253916"/>
          </a:xfrm>
          <a:prstGeom prst="rect">
            <a:avLst/>
          </a:prstGeom>
          <a:noFill/>
        </p:spPr>
        <p:txBody>
          <a:bodyPr wrap="square" lIns="0" tIns="0" rIns="0" bIns="0" anchor="t">
            <a:spAutoFit/>
          </a:bodyPr>
          <a:lstStyle/>
          <a:p>
            <a:pPr algn="r" rtl="1"/>
            <a:r>
              <a:rPr lang="he-IL" sz="1650" b="1" dirty="0">
                <a:solidFill>
                  <a:schemeClr val="bg1"/>
                </a:solidFill>
                <a:latin typeface="Arial" panose="020B0604020202020204" pitchFamily="34" charset="0"/>
              </a:rPr>
              <a:t>מנוי ממשתמשי האפליקציה</a:t>
            </a:r>
            <a:endParaRPr lang="en-US" sz="165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941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056507"/>
            <a:ext cx="12192000" cy="1038746"/>
          </a:xfrm>
          <a:prstGeom prst="rect">
            <a:avLst/>
          </a:prstGeom>
          <a:noFill/>
        </p:spPr>
        <p:txBody>
          <a:bodyPr wrap="square" lIns="0" tIns="0" rIns="0" bIns="0" anchor="t">
            <a:spAutoFit/>
          </a:bodyPr>
          <a:lstStyle/>
          <a:p>
            <a:pPr algn="ctr" rtl="1"/>
            <a:r>
              <a:rPr lang="he-IL" sz="6750" dirty="0">
                <a:solidFill>
                  <a:srgbClr val="1E40AF"/>
                </a:solidFill>
                <a:latin typeface="Heebo ExtraBold"/>
              </a:rPr>
              <a:t>שאלות?</a:t>
            </a:r>
          </a:p>
        </p:txBody>
      </p:sp>
      <p:sp>
        <p:nvSpPr>
          <p:cNvPr id="4" name="TextBox 3"/>
          <p:cNvSpPr txBox="1"/>
          <p:nvPr/>
        </p:nvSpPr>
        <p:spPr>
          <a:xfrm>
            <a:off x="0" y="3518968"/>
            <a:ext cx="12192000" cy="435632"/>
          </a:xfrm>
          <a:prstGeom prst="rect">
            <a:avLst/>
          </a:prstGeom>
          <a:noFill/>
        </p:spPr>
        <p:txBody>
          <a:bodyPr wrap="square" lIns="0" tIns="0" rIns="0" bIns="0" anchor="t">
            <a:spAutoFit/>
          </a:bodyPr>
          <a:lstStyle/>
          <a:p>
            <a:pPr algn="ctr" rtl="1">
              <a:lnSpc>
                <a:spcPts val="3840"/>
              </a:lnSpc>
            </a:pPr>
            <a:r>
              <a:rPr lang="he-IL" sz="2400" dirty="0">
                <a:solidFill>
                  <a:srgbClr val="334155"/>
                </a:solidFill>
                <a:latin typeface="Heebo"/>
              </a:rPr>
              <a:t>תודה רבה על ההקשבה </a:t>
            </a:r>
            <a:r>
              <a:rPr lang="he-IL" sz="2400" dirty="0">
                <a:solidFill>
                  <a:srgbClr val="334155"/>
                </a:solidFill>
                <a:latin typeface="Heebo"/>
                <a:sym typeface="Wingdings" pitchFamily="2" charset="2"/>
              </a:rPr>
              <a:t></a:t>
            </a:r>
            <a:endParaRPr lang="he-IL" sz="2400" dirty="0">
              <a:solidFill>
                <a:srgbClr val="334155"/>
              </a:solidFill>
              <a:latin typeface="Heebo"/>
            </a:endParaRPr>
          </a:p>
        </p:txBody>
      </p:sp>
      <p:sp>
        <p:nvSpPr>
          <p:cNvPr id="5" name="TextBox 4"/>
          <p:cNvSpPr txBox="1"/>
          <p:nvPr/>
        </p:nvSpPr>
        <p:spPr>
          <a:xfrm>
            <a:off x="0" y="4468117"/>
            <a:ext cx="12192000" cy="276999"/>
          </a:xfrm>
          <a:prstGeom prst="rect">
            <a:avLst/>
          </a:prstGeom>
          <a:noFill/>
        </p:spPr>
        <p:txBody>
          <a:bodyPr wrap="square" lIns="0" tIns="0" rIns="0" bIns="0" anchor="t">
            <a:spAutoFit/>
          </a:bodyPr>
          <a:lstStyle/>
          <a:p>
            <a:pPr marL="0" algn="ctr" defTabSz="457200" rtl="1" eaLnBrk="1" latinLnBrk="0" hangingPunct="1"/>
            <a:endParaRPr sz="1800" b="0" i="0" u="none">
              <a:solidFill>
                <a:srgbClr val="2563EB"/>
              </a:solidFill>
              <a:latin typeface="Heebo Mediu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237</TotalTime>
  <Words>1225</Words>
  <Application>Microsoft Office PowerPoint</Application>
  <PresentationFormat>מסך רחב</PresentationFormat>
  <Paragraphs>82</Paragraphs>
  <Slides>14</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14</vt:i4>
      </vt:variant>
    </vt:vector>
  </HeadingPairs>
  <TitlesOfParts>
    <vt:vector size="21" baseType="lpstr">
      <vt:lpstr>Arial</vt:lpstr>
      <vt:lpstr>Calibri</vt:lpstr>
      <vt:lpstr>Heebo</vt:lpstr>
      <vt:lpstr>Heebo ExtraBold</vt:lpstr>
      <vt:lpstr>Heebo Medium</vt:lpstr>
      <vt:lpstr>Wingdings</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subject/>
  <dc:creator/>
  <cp:keywords/>
  <dc:description>generated using python-pptx</dc:description>
  <cp:lastModifiedBy>חשבון Microsoft</cp:lastModifiedBy>
  <cp:revision>33</cp:revision>
  <dcterms:created xsi:type="dcterms:W3CDTF">2013-01-27T09:14:16Z</dcterms:created>
  <dcterms:modified xsi:type="dcterms:W3CDTF">2026-07-19T18:05:36Z</dcterms:modified>
  <cp:category/>
</cp:coreProperties>
</file>